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f03a196-8c4f-d71a-b368-3006a71157ae}">
          <p14:sldIdLst>
            <p14:sldId id="256"/>
          </p14:sldIdLst>
        </p14:section>
        <p14:section name="A linguagem" id="{60822bac-3e0d-3501-8c72-fdd5216d1838}">
          <p14:sldIdLst>
            <p14:sldId id="257"/>
            <p14:sldId id="258"/>
          </p14:sldIdLst>
        </p14:section>
        <p14:section name="O transpilador" id="{53b12ad4-f950-0484-112c-12f0946987ec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Demonstração" id="{100afc54-b52b-8354-47bd-5b48c31b3399}">
          <p14:sldIdLst>
            <p14:sldId id="265"/>
            <p14:sldId id="266"/>
          </p14:sldIdLst>
        </p14:section>
        <p14:section name="Fechamento" id="{1dc19514-d84b-2459-4871-385319a57d6c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 MemeScript é nossa proposta de linguagem baseada em memes. Ela possui tipos explícitos e um transpilador para Python. Vamos mostrar a especificação, as etapas de análise e a execução de exemplos válidos e inválidos.”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“Escolhemos comandos que sugerem sua função. RECEBA atribui um valor. AMOSTRADINHO mostra um resultado. E_VERDADE_ESSE_BILETE verifica uma condição. BORA_BILL repete e DESCANSAR_NE interrompe o laço. O prefixo SABOR adapta o meme à declaração de tipos. Usamos sublinhados e grafia fixa para reconhecer cada palavra reservada como um identificador completo.”
Referências temáticas: https://museudememes.com.br/collection/e-verdade-esse-bilete ; https://www.cnnbrasil.com.br/pop/veja-os-memes-que-bombaram-nas-redes-sociais-em-2022/ ; https://exame.com/pop/sabor-energetico-entenda-o-meme-de-toguro-que-conquistou-ate-a-cimed/ . As associações a comandos são decisões próprias.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 linguagem declara inteiro, real e texto. Exigimos inicialização e um único escopo global, com todas as declarações antes dos comandos. Um inteiro pode virar real, mas um real não vira inteiro implicitamente. A divisão sempre produz real. Comparações produzem o tipo lógico interno usado nas condições.”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 lexer reconhece palavras e símbolos. O parser valida a estrutura e produz a AST. A análise semântica consulta a tabela de símbolos e verifica tipos. O gerador só recebe a árvore depois da validação. A interface salva o Python apenas quando todas as fases passam.”
Arquivos correspondentes: lexer.py, parser.py, semantic.py e codegen.py. compiler.py coordena as fases.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 lexer usa expressões regulares. Em RECEBA energia = 2 + 3 * 4, reconhecemos a reservada, o identificador, os operadores e os números. Cada token guarda lexema, valor, linha e coluna. Espaços e comentários são descartados. Maior casamento permite reconhecer &gt;= e == como tokens completos.”
O exemplo também contém =, *, 3, 4 e ;. A tabela destaca algumas categorias. Sigma: valores escalares Unicode em UTF-8. Identificadores usam ASCII.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 gramática completa está no relatório e em gramatica.ebnf. O símbolo inicial é program. A primeira parte reconhece declarações, e a seguinte reconhece comandos. Cada ATA fecha a estrutura mais interna. SO_QUE_NAO e os dois ramos pertencem ao mesmo condicional, fechado por um único ATA. Não dependemos de indentação no fonte.”
Recorte da EBNF. A gramática completa contém 17 não terminais e está em docs/gramatica.ebnf. S = program. A exigência de EOF rejeita conteúdo após ACABOU.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“Na expressão 2 + 3 * 4, a multiplicação é o filho direito da soma. A estrutura faz a multiplicação ocorrer primeiro. Em (2 + 3) * 4, a soma passa a ser um filho da multiplicação. O parser constrói essas árvores antes de gerar código, e os resultados são 14 e 20.”
Os trechos mostram um esquema resumido da AST, com literais abreviados e campos omitidos. A JSON completa tem node, value, type_name, line e column. Mostrar --ast no terminal.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“Um programa pode ter forma gramatical correta e mesmo assim usar um nome inexistente. A tabela de símbolos rejeita esse caso, redeclarações e tipos incompatíveis. O nome só entra na tabela depois de validar seu inicializador. Mantemos uma profundidade de laço para impedir DESCANSAR_NE fora de BORA_BILL.”
Exemplo de estrutura válida e incompatibilidade detectada depois do parsing. A tabela real de símbolos é um dicionário Python. O tipo lógico é interno, não declarável.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“Percorremos os nós da AST para emitir Python. Preservamos o agrupamento com parênteses e geramos a indentação conforme o aninhamento. O prefixo ms_var_ evita colisões com palavras e funções do Python. Uma variável chamada print pode existir sem sobrescrever a função print.”
Trechos de fonte e destino. O gerador visita nós e não substitui palavras. Variáveis reais recebem float na atribuição. Literais de texto usam repr.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 programa pede o limite de cafés. Cada café aumenta a energia em 2 + 3 * 4, ou seja, 14. Com limite 10, a energia chega a 70 no quinto café e o break encerra o laço. O gasto é 22.5. Também exibimos uma expressão com parênteses, que produz 20.”
Fonte: exemplos/02_valido_completo.meme. Entrada 10. Preço por café 4.50. Saída conferida por teste de integração com o arquivo .out.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Abram o terminal na pasta do projeto. Mostrem o exemplo básico com tokens, AST e símbolos. Depois transpilem o completo, abram o Python e executem com entrada 10. Usem os comandos do checklist abaixo. O arquivo demo.py é uma alternativa reproduzível para mostrar todos os casos rapidamente.
Executar na pasta do projeto. Linux: python3. Windows: python ou py -3. Acrescentar --tokens e --symbols à inspeção quando útil. O comando python demo.py demonstra todos os exemplos.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 exemplo com @ falha no lexer. Uma declaração sem expressão falha no parser. Usar uma variável não declarada ou atribuir texto a um inteiro falha na semântica. As mensagens indicam linha e coluna. Como a geração fica depois dessas fases, um programa inválido não produz um novo arquivo Python.”
Mostrar os arquivos 03, 04 e 05 com --check. Mostrar também 07 para incompatibilidade de tipos. Um arquivo Python antigo permanece intacto, conforme teste de CLI.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 entrega inclui dez arquivos de exemplo e 32 métodos de teste automatizado, alguns com múltiplos casos. Verificamos o comportamento do destino, a AST, as mensagens e a interface. A validação registrada foi feita em Linux com Python 3.12.14. A suíte pode ser executada pelo professor.”
Resultado desta versão: 32 métodos, alguns com subcasos, passaram em Linux com Python 3.12.14. Não representa benchmark. Registro: docs/resultados_validacao.txt.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“As principais decisões são o vocabulário, os tipos com escopo global e o fechamento explícito de blocos com geração por AST. Python simplifica a execução do destino, enquanto a MemeScript mantém suas próprias regras estáticas. A versão não possui funções ou vetores. Divisão por zero e entrada inadequada são erros de execução, e não de forma ou de tipos.”
Se perguntarem sobre IA: “Esta versão recebeu assistência de IA na elaboração do material, código e testes. A equipe precisa revisar, adaptar e estudar a solução, conforme a autorização e as regras do professor.” Não afirmem ter obtido autorização sem confirmar isso.
A equipe deve informar e justificar Python ao professor no primeiro marco e verificar as regras de autorização de IA. Completar a identificação dos demais integrantes antes da entrega.
Fonte dos requisitos: Trabalho_Pratico_1_Linguagem_Tematica_v6.md, documento fornecido pelo aluno. Implementação: MemeScript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MemeScript  ·  Linguagens Formais e Compiladores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MemeScript  ·  Linguagens Formais e Compiladores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lo versão"/>
          <p:cNvSpPr/>
          <p:nvPr/>
        </p:nvSpPr>
        <p:spPr>
          <a:xfrm rot="-180000">
            <a:off x="640080" y="822960"/>
            <a:ext cx="210312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4" name="Texto selo"/>
          <p:cNvSpPr txBox="1"/>
          <p:nvPr/>
        </p:nvSpPr>
        <p:spPr>
          <a:xfrm rot="-180000">
            <a:off x="640080" y="822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MemeScript 1.0</a:t>
            </a:r>
            <a:endParaRPr lang="en-US" sz="1800" dirty="0"/>
          </a:p>
        </p:txBody>
      </p:sp>
      <p:sp>
        <p:nvSpPr>
          <p:cNvPr id="5" name="Título"/>
          <p:cNvSpPr txBox="1"/>
          <p:nvPr/>
        </p:nvSpPr>
        <p:spPr>
          <a:xfrm>
            <a:off x="640080" y="1600200"/>
            <a:ext cx="6766560" cy="1554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MemeScript</a:t>
            </a:r>
            <a:endParaRPr lang="en-US" sz="8800" dirty="0"/>
          </a:p>
        </p:txBody>
      </p:sp>
      <p:sp>
        <p:nvSpPr>
          <p:cNvPr id="6" name="Subtítulo"/>
          <p:cNvSpPr txBox="1"/>
          <p:nvPr/>
        </p:nvSpPr>
        <p:spPr>
          <a:xfrm>
            <a:off x="640080" y="33375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Uma linguagem de memes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com transpilação para </a:t>
            </a:r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Python</a:t>
            </a:r>
            <a:endParaRPr lang="en-US" sz="2800" dirty="0"/>
          </a:p>
        </p:txBody>
      </p:sp>
      <p:sp>
        <p:nvSpPr>
          <p:cNvPr id="7" name="Disciplina e grupo"/>
          <p:cNvSpPr txBox="1"/>
          <p:nvPr/>
        </p:nvSpPr>
        <p:spPr>
          <a:xfrm>
            <a:off x="640080" y="5394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Linguagens Formais e Compiladores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Grupo de Pedro Rockenbach Frosi</a:t>
            </a:r>
            <a:endParaRPr lang="en-US" sz="1600" dirty="0"/>
          </a:p>
        </p:txBody>
      </p:sp>
      <p:sp>
        <p:nvSpPr>
          <p:cNvPr id="8" name="Terminal"/>
          <p:cNvSpPr/>
          <p:nvPr/>
        </p:nvSpPr>
        <p:spPr>
          <a:xfrm>
            <a:off x="7498080" y="1554480"/>
            <a:ext cx="411480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9" name="Ponto janela 1"/>
          <p:cNvSpPr/>
          <p:nvPr/>
        </p:nvSpPr>
        <p:spPr>
          <a:xfrm>
            <a:off x="7772400" y="1810512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onto janela 2"/>
          <p:cNvSpPr/>
          <p:nvPr/>
        </p:nvSpPr>
        <p:spPr>
          <a:xfrm>
            <a:off x="8046720" y="18105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Ponto janela 3"/>
          <p:cNvSpPr/>
          <p:nvPr/>
        </p:nvSpPr>
        <p:spPr>
          <a:xfrm>
            <a:off x="8321040" y="1810512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Código MemeScript"/>
          <p:cNvSpPr txBox="1"/>
          <p:nvPr/>
        </p:nvSpPr>
        <p:spPr>
          <a:xfrm>
            <a:off x="777240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RECEBA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energia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</p:txBody>
      </p:sp>
      <p:sp>
        <p:nvSpPr>
          <p:cNvPr id="13" name="Seta transpila"/>
          <p:cNvSpPr/>
          <p:nvPr/>
        </p:nvSpPr>
        <p:spPr>
          <a:xfrm>
            <a:off x="9372600" y="3017520"/>
            <a:ext cx="365760" cy="50292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14" name="Código Python"/>
          <p:cNvSpPr txBox="1"/>
          <p:nvPr/>
        </p:nvSpPr>
        <p:spPr>
          <a:xfrm>
            <a:off x="777240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ms_var_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energia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endParaRPr lang="en-US" sz="1800" dirty="0"/>
          </a:p>
        </p:txBody>
      </p:sp>
      <p:sp>
        <p:nvSpPr>
          <p:cNvPr id="15" name="Legenda terminal"/>
          <p:cNvSpPr txBox="1"/>
          <p:nvPr/>
        </p:nvSpPr>
        <p:spPr>
          <a:xfrm>
            <a:off x="77724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transpilação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Vocabulário da linguagem</a:t>
            </a:r>
            <a:endParaRPr lang="en-US" sz="4000" dirty="0"/>
          </a:p>
        </p:txBody>
      </p:sp>
      <p:sp>
        <p:nvSpPr>
          <p:cNvPr id="4" name="Cartão RECEBA"/>
          <p:cNvSpPr/>
          <p:nvPr/>
        </p:nvSpPr>
        <p:spPr>
          <a:xfrm>
            <a:off x="548640" y="1508760"/>
            <a:ext cx="544068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5" name="Chip RECEBA"/>
          <p:cNvSpPr/>
          <p:nvPr/>
        </p:nvSpPr>
        <p:spPr>
          <a:xfrm>
            <a:off x="731520" y="1709928"/>
            <a:ext cx="2788920" cy="585216"/>
          </a:xfrm>
          <a:prstGeom prst="roundRect">
            <a:avLst>
              <a:gd name="adj" fmla="val 15625"/>
            </a:avLst>
          </a:prstGeom>
          <a:solidFill>
            <a:schemeClr val="tx1"/>
          </a:solidFill>
          <a:ln/>
        </p:spPr>
      </p:sp>
      <p:sp>
        <p:nvSpPr>
          <p:cNvPr id="6" name="Comando RECEBA"/>
          <p:cNvSpPr txBox="1"/>
          <p:nvPr/>
        </p:nvSpPr>
        <p:spPr>
          <a:xfrm>
            <a:off x="731520" y="170992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RECEBA</a:t>
            </a:r>
            <a:endParaRPr lang="en-US" sz="1500" dirty="0"/>
          </a:p>
        </p:txBody>
      </p:sp>
      <p:sp>
        <p:nvSpPr>
          <p:cNvPr id="7" name="Função RECEBA"/>
          <p:cNvSpPr txBox="1"/>
          <p:nvPr/>
        </p:nvSpPr>
        <p:spPr>
          <a:xfrm>
            <a:off x="3703320" y="1618488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Atribuir um valor</a:t>
            </a:r>
            <a:endParaRPr lang="en-US" sz="1600" dirty="0"/>
          </a:p>
        </p:txBody>
      </p:sp>
      <p:sp>
        <p:nvSpPr>
          <p:cNvPr id="8" name="Cartão AMOSTRADINHO"/>
          <p:cNvSpPr/>
          <p:nvPr/>
        </p:nvSpPr>
        <p:spPr>
          <a:xfrm>
            <a:off x="6199632" y="1508760"/>
            <a:ext cx="544068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9" name="Chip AMOSTRADINHO"/>
          <p:cNvSpPr/>
          <p:nvPr/>
        </p:nvSpPr>
        <p:spPr>
          <a:xfrm>
            <a:off x="6382512" y="1709928"/>
            <a:ext cx="2788920" cy="585216"/>
          </a:xfrm>
          <a:prstGeom prst="roundRect">
            <a:avLst>
              <a:gd name="adj" fmla="val 15625"/>
            </a:avLst>
          </a:prstGeom>
          <a:solidFill>
            <a:schemeClr val="tx1"/>
          </a:solidFill>
          <a:ln/>
        </p:spPr>
      </p:sp>
      <p:sp>
        <p:nvSpPr>
          <p:cNvPr id="10" name="Comando AMOSTRADINHO"/>
          <p:cNvSpPr txBox="1"/>
          <p:nvPr/>
        </p:nvSpPr>
        <p:spPr>
          <a:xfrm>
            <a:off x="6382512" y="170992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AMOSTRADINHO</a:t>
            </a:r>
            <a:endParaRPr lang="en-US" sz="1500" dirty="0"/>
          </a:p>
        </p:txBody>
      </p:sp>
      <p:sp>
        <p:nvSpPr>
          <p:cNvPr id="11" name="Função AMOSTRADINHO"/>
          <p:cNvSpPr txBox="1"/>
          <p:nvPr/>
        </p:nvSpPr>
        <p:spPr>
          <a:xfrm>
            <a:off x="9354312" y="1618488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Mostrar valores</a:t>
            </a:r>
            <a:endParaRPr lang="en-US" sz="1600" dirty="0"/>
          </a:p>
        </p:txBody>
      </p:sp>
      <p:sp>
        <p:nvSpPr>
          <p:cNvPr id="12" name="Cartão QUERO_CAFE"/>
          <p:cNvSpPr/>
          <p:nvPr/>
        </p:nvSpPr>
        <p:spPr>
          <a:xfrm>
            <a:off x="548640" y="2679192"/>
            <a:ext cx="544068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3" name="Chip QUERO_CAFE"/>
          <p:cNvSpPr/>
          <p:nvPr/>
        </p:nvSpPr>
        <p:spPr>
          <a:xfrm>
            <a:off x="731520" y="2880360"/>
            <a:ext cx="2788920" cy="585216"/>
          </a:xfrm>
          <a:prstGeom prst="roundRect">
            <a:avLst>
              <a:gd name="adj" fmla="val 15625"/>
            </a:avLst>
          </a:prstGeom>
          <a:solidFill>
            <a:schemeClr val="tx1"/>
          </a:solidFill>
          <a:ln/>
        </p:spPr>
      </p:sp>
      <p:sp>
        <p:nvSpPr>
          <p:cNvPr id="14" name="Comando QUERO_CAFE"/>
          <p:cNvSpPr txBox="1"/>
          <p:nvPr/>
        </p:nvSpPr>
        <p:spPr>
          <a:xfrm>
            <a:off x="731520" y="288036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QUERO_CAFE</a:t>
            </a:r>
            <a:endParaRPr lang="en-US" sz="1500" dirty="0"/>
          </a:p>
        </p:txBody>
      </p:sp>
      <p:sp>
        <p:nvSpPr>
          <p:cNvPr id="15" name="Função QUERO_CAFE"/>
          <p:cNvSpPr txBox="1"/>
          <p:nvPr/>
        </p:nvSpPr>
        <p:spPr>
          <a:xfrm>
            <a:off x="3703320" y="2788920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Ler uma entrada</a:t>
            </a:r>
            <a:endParaRPr lang="en-US" sz="1600" dirty="0"/>
          </a:p>
        </p:txBody>
      </p:sp>
      <p:sp>
        <p:nvSpPr>
          <p:cNvPr id="16" name="Cartão E_VERDADE_ESSE_BILETE"/>
          <p:cNvSpPr/>
          <p:nvPr/>
        </p:nvSpPr>
        <p:spPr>
          <a:xfrm>
            <a:off x="6199632" y="2679192"/>
            <a:ext cx="544068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7" name="Chip E_VERDADE_ESSE_BILETE"/>
          <p:cNvSpPr/>
          <p:nvPr/>
        </p:nvSpPr>
        <p:spPr>
          <a:xfrm>
            <a:off x="6382512" y="2880360"/>
            <a:ext cx="2788920" cy="585216"/>
          </a:xfrm>
          <a:prstGeom prst="roundRect">
            <a:avLst>
              <a:gd name="adj" fmla="val 15625"/>
            </a:avLst>
          </a:prstGeom>
          <a:solidFill>
            <a:schemeClr val="tx1"/>
          </a:solidFill>
          <a:ln/>
        </p:spPr>
      </p:sp>
      <p:sp>
        <p:nvSpPr>
          <p:cNvPr id="18" name="Comando E_VERDADE_ESSE_BILETE"/>
          <p:cNvSpPr txBox="1"/>
          <p:nvPr/>
        </p:nvSpPr>
        <p:spPr>
          <a:xfrm>
            <a:off x="6382512" y="2880360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E_VERDADE_ESSE_BILETE</a:t>
            </a:r>
            <a:endParaRPr lang="en-US" sz="1500" dirty="0"/>
          </a:p>
        </p:txBody>
      </p:sp>
      <p:sp>
        <p:nvSpPr>
          <p:cNvPr id="19" name="Função E_VERDADE_ESSE_BILETE"/>
          <p:cNvSpPr txBox="1"/>
          <p:nvPr/>
        </p:nvSpPr>
        <p:spPr>
          <a:xfrm>
            <a:off x="9354312" y="2788920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Verificar uma condição</a:t>
            </a:r>
            <a:endParaRPr lang="en-US" sz="1600" dirty="0"/>
          </a:p>
        </p:txBody>
      </p:sp>
      <p:sp>
        <p:nvSpPr>
          <p:cNvPr id="20" name="Cartão SO_QUE_NAO"/>
          <p:cNvSpPr/>
          <p:nvPr/>
        </p:nvSpPr>
        <p:spPr>
          <a:xfrm>
            <a:off x="548640" y="3849624"/>
            <a:ext cx="544068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1" name="Chip SO_QUE_NAO"/>
          <p:cNvSpPr/>
          <p:nvPr/>
        </p:nvSpPr>
        <p:spPr>
          <a:xfrm>
            <a:off x="731520" y="4050792"/>
            <a:ext cx="2788920" cy="585216"/>
          </a:xfrm>
          <a:prstGeom prst="roundRect">
            <a:avLst>
              <a:gd name="adj" fmla="val 15625"/>
            </a:avLst>
          </a:prstGeom>
          <a:solidFill>
            <a:schemeClr val="tx1"/>
          </a:solidFill>
          <a:ln/>
        </p:spPr>
      </p:sp>
      <p:sp>
        <p:nvSpPr>
          <p:cNvPr id="22" name="Comando SO_QUE_NAO"/>
          <p:cNvSpPr txBox="1"/>
          <p:nvPr/>
        </p:nvSpPr>
        <p:spPr>
          <a:xfrm>
            <a:off x="731520" y="405079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SO_QUE_NAO</a:t>
            </a:r>
            <a:endParaRPr lang="en-US" sz="1500" dirty="0"/>
          </a:p>
        </p:txBody>
      </p:sp>
      <p:sp>
        <p:nvSpPr>
          <p:cNvPr id="23" name="Função SO_QUE_NAO"/>
          <p:cNvSpPr txBox="1"/>
          <p:nvPr/>
        </p:nvSpPr>
        <p:spPr>
          <a:xfrm>
            <a:off x="3703320" y="3959352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Executar a alternativa</a:t>
            </a:r>
            <a:endParaRPr lang="en-US" sz="1600" dirty="0"/>
          </a:p>
        </p:txBody>
      </p:sp>
      <p:sp>
        <p:nvSpPr>
          <p:cNvPr id="24" name="Cartão BORA_BILL"/>
          <p:cNvSpPr/>
          <p:nvPr/>
        </p:nvSpPr>
        <p:spPr>
          <a:xfrm>
            <a:off x="6199632" y="3849624"/>
            <a:ext cx="544068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5" name="Chip BORA_BILL"/>
          <p:cNvSpPr/>
          <p:nvPr/>
        </p:nvSpPr>
        <p:spPr>
          <a:xfrm>
            <a:off x="6382512" y="4050792"/>
            <a:ext cx="2788920" cy="585216"/>
          </a:xfrm>
          <a:prstGeom prst="roundRect">
            <a:avLst>
              <a:gd name="adj" fmla="val 15625"/>
            </a:avLst>
          </a:prstGeom>
          <a:solidFill>
            <a:schemeClr val="tx1"/>
          </a:solidFill>
          <a:ln/>
        </p:spPr>
      </p:sp>
      <p:sp>
        <p:nvSpPr>
          <p:cNvPr id="26" name="Comando BORA_BILL"/>
          <p:cNvSpPr txBox="1"/>
          <p:nvPr/>
        </p:nvSpPr>
        <p:spPr>
          <a:xfrm>
            <a:off x="6382512" y="405079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BORA_BILL</a:t>
            </a:r>
            <a:endParaRPr lang="en-US" sz="1500" dirty="0"/>
          </a:p>
        </p:txBody>
      </p:sp>
      <p:sp>
        <p:nvSpPr>
          <p:cNvPr id="27" name="Função BORA_BILL"/>
          <p:cNvSpPr txBox="1"/>
          <p:nvPr/>
        </p:nvSpPr>
        <p:spPr>
          <a:xfrm>
            <a:off x="9354312" y="3959352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Repetir enquanto a condição for verdadeira</a:t>
            </a:r>
            <a:endParaRPr lang="en-US" sz="1600" dirty="0"/>
          </a:p>
        </p:txBody>
      </p:sp>
      <p:sp>
        <p:nvSpPr>
          <p:cNvPr id="28" name="Cartão DESCANSAR_NE"/>
          <p:cNvSpPr/>
          <p:nvPr/>
        </p:nvSpPr>
        <p:spPr>
          <a:xfrm>
            <a:off x="548640" y="5020056"/>
            <a:ext cx="5440680" cy="987552"/>
          </a:xfrm>
          <a:prstGeom prst="roundRect">
            <a:avLst>
              <a:gd name="adj" fmla="val 1296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9" name="Chip DESCANSAR_NE"/>
          <p:cNvSpPr/>
          <p:nvPr/>
        </p:nvSpPr>
        <p:spPr>
          <a:xfrm>
            <a:off x="731520" y="5221224"/>
            <a:ext cx="2788920" cy="585216"/>
          </a:xfrm>
          <a:prstGeom prst="roundRect">
            <a:avLst>
              <a:gd name="adj" fmla="val 15625"/>
            </a:avLst>
          </a:prstGeom>
          <a:solidFill>
            <a:schemeClr val="tx1"/>
          </a:solidFill>
          <a:ln/>
        </p:spPr>
      </p:sp>
      <p:sp>
        <p:nvSpPr>
          <p:cNvPr id="30" name="Comando DESCANSAR_NE"/>
          <p:cNvSpPr txBox="1"/>
          <p:nvPr/>
        </p:nvSpPr>
        <p:spPr>
          <a:xfrm>
            <a:off x="731520" y="5221224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DESCANSAR_NE</a:t>
            </a:r>
            <a:endParaRPr lang="en-US" sz="1500" dirty="0"/>
          </a:p>
        </p:txBody>
      </p:sp>
      <p:sp>
        <p:nvSpPr>
          <p:cNvPr id="31" name="Função DESCANSAR_NE"/>
          <p:cNvSpPr txBox="1"/>
          <p:nvPr/>
        </p:nvSpPr>
        <p:spPr>
          <a:xfrm>
            <a:off x="3703320" y="5129784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Interromper o laço mais próximo</a:t>
            </a:r>
            <a:endParaRPr lang="en-US" sz="1600" dirty="0"/>
          </a:p>
        </p:txBody>
      </p:sp>
      <p:sp>
        <p:nvSpPr>
          <p:cNvPr id="32" name="Cartão prefixo SABOR"/>
          <p:cNvSpPr/>
          <p:nvPr/>
        </p:nvSpPr>
        <p:spPr>
          <a:xfrm>
            <a:off x="6199632" y="5020056"/>
            <a:ext cx="5440680" cy="987552"/>
          </a:xfrm>
          <a:prstGeom prst="roundRect">
            <a:avLst>
              <a:gd name="adj" fmla="val 12963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33" name="Prefixo SABOR"/>
          <p:cNvSpPr txBox="1"/>
          <p:nvPr/>
        </p:nvSpPr>
        <p:spPr>
          <a:xfrm>
            <a:off x="6382512" y="5111496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SABOR_</a:t>
            </a:r>
            <a:endParaRPr lang="en-US" sz="2400" dirty="0"/>
          </a:p>
        </p:txBody>
      </p:sp>
      <p:sp>
        <p:nvSpPr>
          <p:cNvPr id="34" name="Função SABOR"/>
          <p:cNvSpPr txBox="1"/>
          <p:nvPr/>
        </p:nvSpPr>
        <p:spPr>
          <a:xfrm>
            <a:off x="9354312" y="5129784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Prefixo que adapta o meme à declaração de tipos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Tipos e escopo</a:t>
            </a:r>
            <a:endParaRPr lang="en-US" sz="4000" dirty="0"/>
          </a:p>
        </p:txBody>
      </p:sp>
      <p:sp>
        <p:nvSpPr>
          <p:cNvPr id="4" name="Cartão tipo inteiro"/>
          <p:cNvSpPr/>
          <p:nvPr/>
        </p:nvSpPr>
        <p:spPr>
          <a:xfrm>
            <a:off x="548640" y="1508760"/>
            <a:ext cx="3566160" cy="2834640"/>
          </a:xfrm>
          <a:prstGeom prst="roundRect">
            <a:avLst>
              <a:gd name="adj" fmla="val 4516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5" name="Declaração inteiro"/>
          <p:cNvSpPr txBox="1"/>
          <p:nvPr/>
        </p:nvSpPr>
        <p:spPr>
          <a:xfrm>
            <a:off x="82296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SABOR_INTEIRO</a:t>
            </a:r>
            <a:endParaRPr lang="en-US" sz="1600" dirty="0"/>
          </a:p>
        </p:txBody>
      </p:sp>
      <p:sp>
        <p:nvSpPr>
          <p:cNvPr id="6" name="Exemplo inteiro"/>
          <p:cNvSpPr txBox="1"/>
          <p:nvPr/>
        </p:nvSpPr>
        <p:spPr>
          <a:xfrm>
            <a:off x="822960" y="2286000"/>
            <a:ext cx="30175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67</a:t>
            </a:r>
            <a:endParaRPr lang="en-US" sz="7200" dirty="0"/>
          </a:p>
        </p:txBody>
      </p:sp>
      <p:sp>
        <p:nvSpPr>
          <p:cNvPr id="7" name="Tipo inteiro"/>
          <p:cNvSpPr txBox="1"/>
          <p:nvPr/>
        </p:nvSpPr>
        <p:spPr>
          <a:xfrm>
            <a:off x="822960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inteiro</a:t>
            </a:r>
            <a:endParaRPr lang="en-US" sz="2200" dirty="0"/>
          </a:p>
        </p:txBody>
      </p:sp>
      <p:sp>
        <p:nvSpPr>
          <p:cNvPr id="8" name="Cartão tipo real"/>
          <p:cNvSpPr/>
          <p:nvPr/>
        </p:nvSpPr>
        <p:spPr>
          <a:xfrm>
            <a:off x="4311396" y="1508760"/>
            <a:ext cx="3566160" cy="2834640"/>
          </a:xfrm>
          <a:prstGeom prst="roundRect">
            <a:avLst>
              <a:gd name="adj" fmla="val 4516"/>
            </a:avLst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9" name="Declaração real"/>
          <p:cNvSpPr txBox="1"/>
          <p:nvPr/>
        </p:nvSpPr>
        <p:spPr>
          <a:xfrm>
            <a:off x="4585716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SABOR_REAL</a:t>
            </a:r>
            <a:endParaRPr lang="en-US" sz="1600" dirty="0"/>
          </a:p>
        </p:txBody>
      </p:sp>
      <p:sp>
        <p:nvSpPr>
          <p:cNvPr id="10" name="Exemplo real"/>
          <p:cNvSpPr txBox="1"/>
          <p:nvPr/>
        </p:nvSpPr>
        <p:spPr>
          <a:xfrm>
            <a:off x="4585716" y="2286000"/>
            <a:ext cx="30175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6.7</a:t>
            </a:r>
            <a:endParaRPr lang="en-US" sz="7200" dirty="0"/>
          </a:p>
        </p:txBody>
      </p:sp>
      <p:sp>
        <p:nvSpPr>
          <p:cNvPr id="11" name="Tipo real"/>
          <p:cNvSpPr txBox="1"/>
          <p:nvPr/>
        </p:nvSpPr>
        <p:spPr>
          <a:xfrm>
            <a:off x="4585716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real</a:t>
            </a:r>
            <a:endParaRPr lang="en-US" sz="2200" dirty="0"/>
          </a:p>
        </p:txBody>
      </p:sp>
      <p:sp>
        <p:nvSpPr>
          <p:cNvPr id="12" name="Cartão tipo texto"/>
          <p:cNvSpPr/>
          <p:nvPr/>
        </p:nvSpPr>
        <p:spPr>
          <a:xfrm>
            <a:off x="8074152" y="1508760"/>
            <a:ext cx="3566160" cy="2834640"/>
          </a:xfrm>
          <a:prstGeom prst="roundRect">
            <a:avLst>
              <a:gd name="adj" fmla="val 4516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3" name="Declaração texto"/>
          <p:cNvSpPr txBox="1"/>
          <p:nvPr/>
        </p:nvSpPr>
        <p:spPr>
          <a:xfrm>
            <a:off x="8348472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SABOR_TEXTO</a:t>
            </a:r>
            <a:endParaRPr lang="en-US" sz="1600" dirty="0"/>
          </a:p>
        </p:txBody>
      </p:sp>
      <p:sp>
        <p:nvSpPr>
          <p:cNvPr id="14" name="Exemplo texto"/>
          <p:cNvSpPr txBox="1"/>
          <p:nvPr/>
        </p:nvSpPr>
        <p:spPr>
          <a:xfrm>
            <a:off x="8348472" y="2286000"/>
            <a:ext cx="30175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"Receba!"</a:t>
            </a:r>
            <a:endParaRPr lang="en-US" sz="4400" dirty="0"/>
          </a:p>
        </p:txBody>
      </p:sp>
      <p:sp>
        <p:nvSpPr>
          <p:cNvPr id="15" name="Tipo texto"/>
          <p:cNvSpPr txBox="1"/>
          <p:nvPr/>
        </p:nvSpPr>
        <p:spPr>
          <a:xfrm>
            <a:off x="8348472" y="3657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texto</a:t>
            </a:r>
            <a:endParaRPr lang="en-US" sz="2200" dirty="0"/>
          </a:p>
        </p:txBody>
      </p:sp>
      <p:sp>
        <p:nvSpPr>
          <p:cNvPr id="16" name="Regra 1"/>
          <p:cNvSpPr/>
          <p:nvPr/>
        </p:nvSpPr>
        <p:spPr>
          <a:xfrm>
            <a:off x="548640" y="4754880"/>
            <a:ext cx="3566160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7" name="Número regra 1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Núm 1"/>
          <p:cNvSpPr txBox="1"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19" name="Texto regra 1"/>
          <p:cNvSpPr txBox="1"/>
          <p:nvPr/>
        </p:nvSpPr>
        <p:spPr>
          <a:xfrm>
            <a:off x="1463040" y="48920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Declarações no início do programa</a:t>
            </a:r>
            <a:endParaRPr lang="en-US" sz="1800" dirty="0"/>
          </a:p>
        </p:txBody>
      </p:sp>
      <p:sp>
        <p:nvSpPr>
          <p:cNvPr id="20" name="Regra 2"/>
          <p:cNvSpPr/>
          <p:nvPr/>
        </p:nvSpPr>
        <p:spPr>
          <a:xfrm>
            <a:off x="4311396" y="4754880"/>
            <a:ext cx="3566160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1" name="Número regra 2"/>
          <p:cNvSpPr/>
          <p:nvPr/>
        </p:nvSpPr>
        <p:spPr>
          <a:xfrm>
            <a:off x="4585716" y="516636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Núm 2"/>
          <p:cNvSpPr txBox="1"/>
          <p:nvPr/>
        </p:nvSpPr>
        <p:spPr>
          <a:xfrm>
            <a:off x="4585716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23" name="Texto regra 2"/>
          <p:cNvSpPr txBox="1"/>
          <p:nvPr/>
        </p:nvSpPr>
        <p:spPr>
          <a:xfrm>
            <a:off x="5225796" y="48920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Um único escopo global</a:t>
            </a:r>
            <a:endParaRPr lang="en-US" sz="1800" dirty="0"/>
          </a:p>
        </p:txBody>
      </p:sp>
      <p:sp>
        <p:nvSpPr>
          <p:cNvPr id="24" name="Regra 3"/>
          <p:cNvSpPr/>
          <p:nvPr/>
        </p:nvSpPr>
        <p:spPr>
          <a:xfrm>
            <a:off x="8074152" y="4754880"/>
            <a:ext cx="3566160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5" name="Número regra 3"/>
          <p:cNvSpPr/>
          <p:nvPr/>
        </p:nvSpPr>
        <p:spPr>
          <a:xfrm>
            <a:off x="8348472" y="516636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Núm 3"/>
          <p:cNvSpPr txBox="1"/>
          <p:nvPr/>
        </p:nvSpPr>
        <p:spPr>
          <a:xfrm>
            <a:off x="8348472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Texto regra 3"/>
          <p:cNvSpPr txBox="1"/>
          <p:nvPr/>
        </p:nvSpPr>
        <p:spPr>
          <a:xfrm>
            <a:off x="8988552" y="48920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Inteiro pode virar real. A divisão sempre produz real.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Etapas do transpilador</a:t>
            </a:r>
            <a:endParaRPr lang="en-US" sz="4000" dirty="0"/>
          </a:p>
        </p:txBody>
      </p:sp>
      <p:sp>
        <p:nvSpPr>
          <p:cNvPr id="4" name="Etapa Léxico"/>
          <p:cNvSpPr/>
          <p:nvPr/>
        </p:nvSpPr>
        <p:spPr>
          <a:xfrm>
            <a:off x="548640" y="1554480"/>
            <a:ext cx="2468880" cy="29260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5" name="Selo 01"/>
          <p:cNvSpPr/>
          <p:nvPr/>
        </p:nvSpPr>
        <p:spPr>
          <a:xfrm>
            <a:off x="822960" y="1828800"/>
            <a:ext cx="868680" cy="86868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Número 01"/>
          <p:cNvSpPr txBox="1"/>
          <p:nvPr/>
        </p:nvSpPr>
        <p:spPr>
          <a:xfrm>
            <a:off x="82296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Nome Léxico"/>
          <p:cNvSpPr txBox="1"/>
          <p:nvPr/>
        </p:nvSpPr>
        <p:spPr>
          <a:xfrm>
            <a:off x="82296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Léxico</a:t>
            </a:r>
            <a:endParaRPr lang="en-US" sz="2600" dirty="0"/>
          </a:p>
        </p:txBody>
      </p:sp>
      <p:sp>
        <p:nvSpPr>
          <p:cNvPr id="8" name="Descrição Léxico"/>
          <p:cNvSpPr txBox="1"/>
          <p:nvPr/>
        </p:nvSpPr>
        <p:spPr>
          <a:xfrm>
            <a:off x="822960" y="3429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Texto reconhecido como tokens</a:t>
            </a:r>
            <a:endParaRPr lang="en-US" sz="1600" dirty="0"/>
          </a:p>
        </p:txBody>
      </p:sp>
      <p:sp>
        <p:nvSpPr>
          <p:cNvPr id="9" name="Chip lexer.py"/>
          <p:cNvSpPr/>
          <p:nvPr/>
        </p:nvSpPr>
        <p:spPr>
          <a:xfrm>
            <a:off x="548640" y="4754880"/>
            <a:ext cx="24688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10" name="Arquivo lexer.py"/>
          <p:cNvSpPr txBox="1"/>
          <p:nvPr/>
        </p:nvSpPr>
        <p:spPr>
          <a:xfrm>
            <a:off x="548640" y="4754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lexer.py</a:t>
            </a:r>
            <a:endParaRPr lang="en-US" sz="1600" dirty="0"/>
          </a:p>
        </p:txBody>
      </p:sp>
      <p:sp>
        <p:nvSpPr>
          <p:cNvPr id="11" name="Seta 1"/>
          <p:cNvSpPr/>
          <p:nvPr/>
        </p:nvSpPr>
        <p:spPr>
          <a:xfrm>
            <a:off x="3072384" y="2743200"/>
            <a:ext cx="295351" cy="38404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2" name="Etapa Parser"/>
          <p:cNvSpPr/>
          <p:nvPr/>
        </p:nvSpPr>
        <p:spPr>
          <a:xfrm>
            <a:off x="3422599" y="1554480"/>
            <a:ext cx="2468880" cy="29260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3" name="Selo 02"/>
          <p:cNvSpPr/>
          <p:nvPr/>
        </p:nvSpPr>
        <p:spPr>
          <a:xfrm>
            <a:off x="3696919" y="1828800"/>
            <a:ext cx="868680" cy="86868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Número 02"/>
          <p:cNvSpPr txBox="1"/>
          <p:nvPr/>
        </p:nvSpPr>
        <p:spPr>
          <a:xfrm>
            <a:off x="3696919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Nome Parser"/>
          <p:cNvSpPr txBox="1"/>
          <p:nvPr/>
        </p:nvSpPr>
        <p:spPr>
          <a:xfrm>
            <a:off x="3696919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Parser</a:t>
            </a:r>
            <a:endParaRPr lang="en-US" sz="2600" dirty="0"/>
          </a:p>
        </p:txBody>
      </p:sp>
      <p:sp>
        <p:nvSpPr>
          <p:cNvPr id="16" name="Descrição Parser"/>
          <p:cNvSpPr txBox="1"/>
          <p:nvPr/>
        </p:nvSpPr>
        <p:spPr>
          <a:xfrm>
            <a:off x="3696919" y="3429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Estrutura validada e AST construída</a:t>
            </a:r>
            <a:endParaRPr lang="en-US" sz="1600" dirty="0"/>
          </a:p>
        </p:txBody>
      </p:sp>
      <p:sp>
        <p:nvSpPr>
          <p:cNvPr id="17" name="Chip parser.py"/>
          <p:cNvSpPr/>
          <p:nvPr/>
        </p:nvSpPr>
        <p:spPr>
          <a:xfrm>
            <a:off x="3422599" y="4754880"/>
            <a:ext cx="24688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18" name="Arquivo parser.py"/>
          <p:cNvSpPr txBox="1"/>
          <p:nvPr/>
        </p:nvSpPr>
        <p:spPr>
          <a:xfrm>
            <a:off x="3422599" y="4754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parser.py</a:t>
            </a:r>
            <a:endParaRPr lang="en-US" sz="1600" dirty="0"/>
          </a:p>
        </p:txBody>
      </p:sp>
      <p:sp>
        <p:nvSpPr>
          <p:cNvPr id="19" name="Seta 2"/>
          <p:cNvSpPr/>
          <p:nvPr/>
        </p:nvSpPr>
        <p:spPr>
          <a:xfrm>
            <a:off x="5946343" y="2743200"/>
            <a:ext cx="295351" cy="38404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20" name="Etapa Semântica"/>
          <p:cNvSpPr/>
          <p:nvPr/>
        </p:nvSpPr>
        <p:spPr>
          <a:xfrm>
            <a:off x="6296558" y="1554480"/>
            <a:ext cx="2468880" cy="29260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1" name="Selo 03"/>
          <p:cNvSpPr/>
          <p:nvPr/>
        </p:nvSpPr>
        <p:spPr>
          <a:xfrm>
            <a:off x="6570878" y="1828800"/>
            <a:ext cx="868680" cy="86868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Número 03"/>
          <p:cNvSpPr txBox="1"/>
          <p:nvPr/>
        </p:nvSpPr>
        <p:spPr>
          <a:xfrm>
            <a:off x="6570878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Nome Semântica"/>
          <p:cNvSpPr txBox="1"/>
          <p:nvPr/>
        </p:nvSpPr>
        <p:spPr>
          <a:xfrm>
            <a:off x="6570878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Semântica</a:t>
            </a:r>
            <a:endParaRPr lang="en-US" sz="2600" dirty="0"/>
          </a:p>
        </p:txBody>
      </p:sp>
      <p:sp>
        <p:nvSpPr>
          <p:cNvPr id="24" name="Descrição Semântica"/>
          <p:cNvSpPr txBox="1"/>
          <p:nvPr/>
        </p:nvSpPr>
        <p:spPr>
          <a:xfrm>
            <a:off x="6570878" y="3429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Nomes e tipos verificados</a:t>
            </a:r>
            <a:endParaRPr lang="en-US" sz="1600" dirty="0"/>
          </a:p>
        </p:txBody>
      </p:sp>
      <p:sp>
        <p:nvSpPr>
          <p:cNvPr id="25" name="Chip semantic.py"/>
          <p:cNvSpPr/>
          <p:nvPr/>
        </p:nvSpPr>
        <p:spPr>
          <a:xfrm>
            <a:off x="6296558" y="4754880"/>
            <a:ext cx="24688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26" name="Arquivo semantic.py"/>
          <p:cNvSpPr txBox="1"/>
          <p:nvPr/>
        </p:nvSpPr>
        <p:spPr>
          <a:xfrm>
            <a:off x="6296558" y="4754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semantic.py</a:t>
            </a:r>
            <a:endParaRPr lang="en-US" sz="1600" dirty="0"/>
          </a:p>
        </p:txBody>
      </p:sp>
      <p:sp>
        <p:nvSpPr>
          <p:cNvPr id="27" name="Seta 3"/>
          <p:cNvSpPr/>
          <p:nvPr/>
        </p:nvSpPr>
        <p:spPr>
          <a:xfrm>
            <a:off x="8820302" y="2743200"/>
            <a:ext cx="295351" cy="38404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28" name="Etapa Geração"/>
          <p:cNvSpPr/>
          <p:nvPr/>
        </p:nvSpPr>
        <p:spPr>
          <a:xfrm>
            <a:off x="9170518" y="1554480"/>
            <a:ext cx="2468880" cy="29260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9" name="Selo 04"/>
          <p:cNvSpPr/>
          <p:nvPr/>
        </p:nvSpPr>
        <p:spPr>
          <a:xfrm>
            <a:off x="9444838" y="1828800"/>
            <a:ext cx="868680" cy="86868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0" name="Número 04"/>
          <p:cNvSpPr txBox="1"/>
          <p:nvPr/>
        </p:nvSpPr>
        <p:spPr>
          <a:xfrm>
            <a:off x="9444838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2800" dirty="0"/>
          </a:p>
        </p:txBody>
      </p:sp>
      <p:sp>
        <p:nvSpPr>
          <p:cNvPr id="31" name="Nome Geração"/>
          <p:cNvSpPr txBox="1"/>
          <p:nvPr/>
        </p:nvSpPr>
        <p:spPr>
          <a:xfrm>
            <a:off x="9444838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Geração</a:t>
            </a:r>
            <a:endParaRPr lang="en-US" sz="2600" dirty="0"/>
          </a:p>
        </p:txBody>
      </p:sp>
      <p:sp>
        <p:nvSpPr>
          <p:cNvPr id="32" name="Descrição Geração"/>
          <p:cNvSpPr txBox="1"/>
          <p:nvPr/>
        </p:nvSpPr>
        <p:spPr>
          <a:xfrm>
            <a:off x="9444838" y="3429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AST traduzida para Python</a:t>
            </a:r>
            <a:endParaRPr lang="en-US" sz="1600" dirty="0"/>
          </a:p>
        </p:txBody>
      </p:sp>
      <p:sp>
        <p:nvSpPr>
          <p:cNvPr id="33" name="Chip codegen.py"/>
          <p:cNvSpPr/>
          <p:nvPr/>
        </p:nvSpPr>
        <p:spPr>
          <a:xfrm>
            <a:off x="9170518" y="4754880"/>
            <a:ext cx="24688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34" name="Arquivo codegen.py"/>
          <p:cNvSpPr txBox="1"/>
          <p:nvPr/>
        </p:nvSpPr>
        <p:spPr>
          <a:xfrm>
            <a:off x="9170518" y="4754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codegen.py</a:t>
            </a:r>
            <a:endParaRPr lang="en-US" sz="1600" dirty="0"/>
          </a:p>
        </p:txBody>
      </p:sp>
      <p:sp>
        <p:nvSpPr>
          <p:cNvPr id="35" name="Faixa compiler"/>
          <p:cNvSpPr/>
          <p:nvPr/>
        </p:nvSpPr>
        <p:spPr>
          <a:xfrm>
            <a:off x="548640" y="5532120"/>
            <a:ext cx="11091672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36" name="Texto compiler"/>
          <p:cNvSpPr txBox="1"/>
          <p:nvPr/>
        </p:nvSpPr>
        <p:spPr>
          <a:xfrm>
            <a:off x="548640" y="55321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compiler.py</a:t>
            </a:r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 coordena as fases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Análise léxica</a:t>
            </a:r>
            <a:endParaRPr lang="en-US" sz="4000" dirty="0"/>
          </a:p>
        </p:txBody>
      </p:sp>
      <p:sp>
        <p:nvSpPr>
          <p:cNvPr id="4" name="Token 1"/>
          <p:cNvSpPr/>
          <p:nvPr/>
        </p:nvSpPr>
        <p:spPr>
          <a:xfrm>
            <a:off x="992124" y="1691640"/>
            <a:ext cx="1773936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5" name="Lexema 1"/>
          <p:cNvSpPr txBox="1"/>
          <p:nvPr/>
        </p:nvSpPr>
        <p:spPr>
          <a:xfrm>
            <a:off x="992124" y="169164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RECEBA</a:t>
            </a:r>
            <a:endParaRPr lang="en-US" sz="2800" dirty="0"/>
          </a:p>
        </p:txBody>
      </p:sp>
      <p:sp>
        <p:nvSpPr>
          <p:cNvPr id="6" name="Token 2"/>
          <p:cNvSpPr/>
          <p:nvPr/>
        </p:nvSpPr>
        <p:spPr>
          <a:xfrm>
            <a:off x="2930652" y="1691640"/>
            <a:ext cx="1993392" cy="868680"/>
          </a:xfrm>
          <a:prstGeom prst="roundRect">
            <a:avLst>
              <a:gd name="adj" fmla="val 12632"/>
            </a:avLst>
          </a:prstGeom>
          <a:solidFill>
            <a:schemeClr val="accent3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7" name="Lexema 2"/>
          <p:cNvSpPr txBox="1"/>
          <p:nvPr/>
        </p:nvSpPr>
        <p:spPr>
          <a:xfrm>
            <a:off x="2930652" y="1691640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energia</a:t>
            </a:r>
            <a:endParaRPr lang="en-US" sz="2800" dirty="0"/>
          </a:p>
        </p:txBody>
      </p:sp>
      <p:sp>
        <p:nvSpPr>
          <p:cNvPr id="8" name="Token 3"/>
          <p:cNvSpPr/>
          <p:nvPr/>
        </p:nvSpPr>
        <p:spPr>
          <a:xfrm>
            <a:off x="5088636" y="1691640"/>
            <a:ext cx="731520" cy="8686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9" name="Lexema 3"/>
          <p:cNvSpPr txBox="1"/>
          <p:nvPr/>
        </p:nvSpPr>
        <p:spPr>
          <a:xfrm>
            <a:off x="5088636" y="16916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800" dirty="0"/>
          </a:p>
        </p:txBody>
      </p:sp>
      <p:sp>
        <p:nvSpPr>
          <p:cNvPr id="10" name="Token 4"/>
          <p:cNvSpPr/>
          <p:nvPr/>
        </p:nvSpPr>
        <p:spPr>
          <a:xfrm>
            <a:off x="5984748" y="1691640"/>
            <a:ext cx="731520" cy="86868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1" name="Lexema 4"/>
          <p:cNvSpPr txBox="1"/>
          <p:nvPr/>
        </p:nvSpPr>
        <p:spPr>
          <a:xfrm>
            <a:off x="5984748" y="16916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oken 5"/>
          <p:cNvSpPr/>
          <p:nvPr/>
        </p:nvSpPr>
        <p:spPr>
          <a:xfrm>
            <a:off x="6880860" y="1691640"/>
            <a:ext cx="731520" cy="8686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3" name="Lexema 5"/>
          <p:cNvSpPr txBox="1"/>
          <p:nvPr/>
        </p:nvSpPr>
        <p:spPr>
          <a:xfrm>
            <a:off x="6880860" y="16916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800" dirty="0"/>
          </a:p>
        </p:txBody>
      </p:sp>
      <p:sp>
        <p:nvSpPr>
          <p:cNvPr id="14" name="Token 6"/>
          <p:cNvSpPr/>
          <p:nvPr/>
        </p:nvSpPr>
        <p:spPr>
          <a:xfrm>
            <a:off x="7776972" y="1691640"/>
            <a:ext cx="731520" cy="86868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5" name="Lexema 6"/>
          <p:cNvSpPr txBox="1"/>
          <p:nvPr/>
        </p:nvSpPr>
        <p:spPr>
          <a:xfrm>
            <a:off x="7776972" y="16916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oken 7"/>
          <p:cNvSpPr/>
          <p:nvPr/>
        </p:nvSpPr>
        <p:spPr>
          <a:xfrm>
            <a:off x="8673084" y="1691640"/>
            <a:ext cx="731520" cy="8686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7" name="Lexema 7"/>
          <p:cNvSpPr txBox="1"/>
          <p:nvPr/>
        </p:nvSpPr>
        <p:spPr>
          <a:xfrm>
            <a:off x="8673084" y="16916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800" dirty="0"/>
          </a:p>
        </p:txBody>
      </p:sp>
      <p:sp>
        <p:nvSpPr>
          <p:cNvPr id="18" name="Token 8"/>
          <p:cNvSpPr/>
          <p:nvPr/>
        </p:nvSpPr>
        <p:spPr>
          <a:xfrm>
            <a:off x="9569196" y="1691640"/>
            <a:ext cx="731520" cy="86868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9" name="Lexema 8"/>
          <p:cNvSpPr txBox="1"/>
          <p:nvPr/>
        </p:nvSpPr>
        <p:spPr>
          <a:xfrm>
            <a:off x="9569196" y="16916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oken 9"/>
          <p:cNvSpPr/>
          <p:nvPr/>
        </p:nvSpPr>
        <p:spPr>
          <a:xfrm>
            <a:off x="10465308" y="1691640"/>
            <a:ext cx="731520" cy="86868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1" name="Lexema 9"/>
          <p:cNvSpPr txBox="1"/>
          <p:nvPr/>
        </p:nvSpPr>
        <p:spPr>
          <a:xfrm>
            <a:off x="10465308" y="16916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800" dirty="0"/>
          </a:p>
        </p:txBody>
      </p:sp>
      <p:sp>
        <p:nvSpPr>
          <p:cNvPr id="22" name="Categoria Reservada"/>
          <p:cNvSpPr/>
          <p:nvPr/>
        </p:nvSpPr>
        <p:spPr>
          <a:xfrm>
            <a:off x="548640" y="3246120"/>
            <a:ext cx="260604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3" name="Marcador Reservada"/>
          <p:cNvSpPr/>
          <p:nvPr/>
        </p:nvSpPr>
        <p:spPr>
          <a:xfrm>
            <a:off x="777240" y="3520440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4" name="Nome categoria Reservada"/>
          <p:cNvSpPr txBox="1"/>
          <p:nvPr/>
        </p:nvSpPr>
        <p:spPr>
          <a:xfrm>
            <a:off x="1188720" y="344728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Reservada</a:t>
            </a:r>
            <a:endParaRPr lang="en-US" sz="1800" dirty="0"/>
          </a:p>
        </p:txBody>
      </p:sp>
      <p:sp>
        <p:nvSpPr>
          <p:cNvPr id="25" name="Lexema Reservada"/>
          <p:cNvSpPr txBox="1"/>
          <p:nvPr/>
        </p:nvSpPr>
        <p:spPr>
          <a:xfrm>
            <a:off x="77724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RECEBA</a:t>
            </a:r>
            <a:endParaRPr lang="en-US" sz="2000" dirty="0"/>
          </a:p>
        </p:txBody>
      </p:sp>
      <p:sp>
        <p:nvSpPr>
          <p:cNvPr id="26" name="Categoria Identificador"/>
          <p:cNvSpPr/>
          <p:nvPr/>
        </p:nvSpPr>
        <p:spPr>
          <a:xfrm>
            <a:off x="3376879" y="3246120"/>
            <a:ext cx="260604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7" name="Marcador Identificador"/>
          <p:cNvSpPr/>
          <p:nvPr/>
        </p:nvSpPr>
        <p:spPr>
          <a:xfrm>
            <a:off x="3605479" y="3520440"/>
            <a:ext cx="292608" cy="292608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8" name="Nome categoria Identificador"/>
          <p:cNvSpPr txBox="1"/>
          <p:nvPr/>
        </p:nvSpPr>
        <p:spPr>
          <a:xfrm>
            <a:off x="4016959" y="344728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Identificador</a:t>
            </a:r>
            <a:endParaRPr lang="en-US" sz="1800" dirty="0"/>
          </a:p>
        </p:txBody>
      </p:sp>
      <p:sp>
        <p:nvSpPr>
          <p:cNvPr id="29" name="Lexema Identificador"/>
          <p:cNvSpPr txBox="1"/>
          <p:nvPr/>
        </p:nvSpPr>
        <p:spPr>
          <a:xfrm>
            <a:off x="3605479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energia</a:t>
            </a:r>
            <a:endParaRPr lang="en-US" sz="2000" dirty="0"/>
          </a:p>
        </p:txBody>
      </p:sp>
      <p:sp>
        <p:nvSpPr>
          <p:cNvPr id="30" name="Categoria Literal inteiro"/>
          <p:cNvSpPr/>
          <p:nvPr/>
        </p:nvSpPr>
        <p:spPr>
          <a:xfrm>
            <a:off x="6205118" y="3246120"/>
            <a:ext cx="260604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31" name="Marcador Literal inteiro"/>
          <p:cNvSpPr/>
          <p:nvPr/>
        </p:nvSpPr>
        <p:spPr>
          <a:xfrm>
            <a:off x="6433718" y="3520440"/>
            <a:ext cx="292608" cy="292608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2" name="Nome categoria Literal inteiro"/>
          <p:cNvSpPr txBox="1"/>
          <p:nvPr/>
        </p:nvSpPr>
        <p:spPr>
          <a:xfrm>
            <a:off x="6845198" y="344728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Literal inteiro</a:t>
            </a:r>
            <a:endParaRPr lang="en-US" sz="1800" dirty="0"/>
          </a:p>
        </p:txBody>
      </p:sp>
      <p:sp>
        <p:nvSpPr>
          <p:cNvPr id="33" name="Lexema Literal inteiro"/>
          <p:cNvSpPr txBox="1"/>
          <p:nvPr/>
        </p:nvSpPr>
        <p:spPr>
          <a:xfrm>
            <a:off x="6433718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34" name="Categoria Operador"/>
          <p:cNvSpPr/>
          <p:nvPr/>
        </p:nvSpPr>
        <p:spPr>
          <a:xfrm>
            <a:off x="9033358" y="3246120"/>
            <a:ext cx="2606040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35" name="Marcador Operador"/>
          <p:cNvSpPr/>
          <p:nvPr/>
        </p:nvSpPr>
        <p:spPr>
          <a:xfrm>
            <a:off x="9261958" y="3520440"/>
            <a:ext cx="292608" cy="292608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6" name="Nome categoria Operador"/>
          <p:cNvSpPr txBox="1"/>
          <p:nvPr/>
        </p:nvSpPr>
        <p:spPr>
          <a:xfrm>
            <a:off x="9673438" y="344728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Operador</a:t>
            </a:r>
            <a:endParaRPr lang="en-US" sz="1800" dirty="0"/>
          </a:p>
        </p:txBody>
      </p:sp>
      <p:sp>
        <p:nvSpPr>
          <p:cNvPr id="37" name="Lexema Operador"/>
          <p:cNvSpPr txBox="1"/>
          <p:nvPr/>
        </p:nvSpPr>
        <p:spPr>
          <a:xfrm>
            <a:off x="9261958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000" dirty="0"/>
          </a:p>
        </p:txBody>
      </p:sp>
      <p:sp>
        <p:nvSpPr>
          <p:cNvPr id="38" name="Faixa maior casamento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9" name="Texto maior casamento"/>
          <p:cNvSpPr txBox="1"/>
          <p:nvPr/>
        </p:nvSpPr>
        <p:spPr>
          <a:xfrm>
            <a:off x="822960" y="50292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Maior casamento reconhece </a:t>
            </a:r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 como um único token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Gramática e blocos</a:t>
            </a:r>
            <a:endParaRPr lang="en-US" sz="4000" dirty="0"/>
          </a:p>
        </p:txBody>
      </p:sp>
      <p:sp>
        <p:nvSpPr>
          <p:cNvPr id="4" name="Bloco EBNF"/>
          <p:cNvSpPr/>
          <p:nvPr/>
        </p:nvSpPr>
        <p:spPr>
          <a:xfrm>
            <a:off x="548640" y="1508760"/>
            <a:ext cx="7315200" cy="452628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5" name="Código EBNF"/>
          <p:cNvSpPr txBox="1"/>
          <p:nvPr/>
        </p:nvSpPr>
        <p:spPr>
          <a:xfrm>
            <a:off x="914400" y="1783080"/>
            <a:ext cx="66751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"ACORDA_PEDRINHO"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declaration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"ACABOU"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while_stmt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"BORA_BILL"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"("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expression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")"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"ATA"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</p:txBody>
      </p:sp>
      <p:sp>
        <p:nvSpPr>
          <p:cNvPr id="6" name="Callout ATA"/>
          <p:cNvSpPr/>
          <p:nvPr/>
        </p:nvSpPr>
        <p:spPr>
          <a:xfrm>
            <a:off x="8229600" y="1508760"/>
            <a:ext cx="3410712" cy="2103120"/>
          </a:xfrm>
          <a:prstGeom prst="roundRect">
            <a:avLst>
              <a:gd name="adj" fmla="val 608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7" name="ATA grande"/>
          <p:cNvSpPr txBox="1"/>
          <p:nvPr/>
        </p:nvSpPr>
        <p:spPr>
          <a:xfrm>
            <a:off x="850392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ATA</a:t>
            </a:r>
            <a:endParaRPr lang="en-US" sz="6000" dirty="0"/>
          </a:p>
        </p:txBody>
      </p:sp>
      <p:sp>
        <p:nvSpPr>
          <p:cNvPr id="8" name="ATA texto"/>
          <p:cNvSpPr txBox="1"/>
          <p:nvPr/>
        </p:nvSpPr>
        <p:spPr>
          <a:xfrm>
            <a:off x="8503920" y="2651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fecha o bloco mais interno</a:t>
            </a:r>
            <a:endParaRPr lang="en-US" sz="2000" dirty="0"/>
          </a:p>
        </p:txBody>
      </p:sp>
      <p:sp>
        <p:nvSpPr>
          <p:cNvPr id="9" name="Callout indentação"/>
          <p:cNvSpPr/>
          <p:nvPr/>
        </p:nvSpPr>
        <p:spPr>
          <a:xfrm>
            <a:off x="8229600" y="3931920"/>
            <a:ext cx="3410712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0" name="Indentação grande"/>
          <p:cNvSpPr txBox="1"/>
          <p:nvPr/>
        </p:nvSpPr>
        <p:spPr>
          <a:xfrm>
            <a:off x="8503920" y="4114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Indentação</a:t>
            </a:r>
            <a:endParaRPr lang="en-US" sz="3600" dirty="0"/>
          </a:p>
        </p:txBody>
      </p:sp>
      <p:sp>
        <p:nvSpPr>
          <p:cNvPr id="11" name="Indentação texto"/>
          <p:cNvSpPr txBox="1"/>
          <p:nvPr/>
        </p:nvSpPr>
        <p:spPr>
          <a:xfrm>
            <a:off x="8503920" y="5074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serve para leitura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Precedência e AST</a:t>
            </a:r>
            <a:endParaRPr lang="en-US" sz="4000" dirty="0"/>
          </a:p>
        </p:txBody>
      </p:sp>
      <p:sp>
        <p:nvSpPr>
          <p:cNvPr id="4" name="Painel A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2692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5" name="Expressão A"/>
          <p:cNvSpPr txBox="1"/>
          <p:nvPr/>
        </p:nvSpPr>
        <p:spPr>
          <a:xfrm>
            <a:off x="868680" y="16459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+ 3 * 4</a:t>
            </a:r>
            <a:endParaRPr lang="en-US" sz="3000" dirty="0"/>
          </a:p>
        </p:txBody>
      </p:sp>
      <p:sp>
        <p:nvSpPr>
          <p:cNvPr id="6" name="Aresta A 1"/>
          <p:cNvSpPr/>
          <p:nvPr/>
        </p:nvSpPr>
        <p:spPr>
          <a:xfrm flipH="1">
            <a:off x="1988820" y="2788920"/>
            <a:ext cx="1280160" cy="10515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7" name="Aresta A 2"/>
          <p:cNvSpPr/>
          <p:nvPr/>
        </p:nvSpPr>
        <p:spPr>
          <a:xfrm>
            <a:off x="3268980" y="2788920"/>
            <a:ext cx="1188720" cy="10515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Aresta A 3"/>
          <p:cNvSpPr/>
          <p:nvPr/>
        </p:nvSpPr>
        <p:spPr>
          <a:xfrm flipH="1">
            <a:off x="3726180" y="3840480"/>
            <a:ext cx="731520" cy="10515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Aresta A 4"/>
          <p:cNvSpPr/>
          <p:nvPr/>
        </p:nvSpPr>
        <p:spPr>
          <a:xfrm>
            <a:off x="4457700" y="3840480"/>
            <a:ext cx="731520" cy="10515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0" name="Nó A a"/>
          <p:cNvSpPr/>
          <p:nvPr/>
        </p:nvSpPr>
        <p:spPr>
          <a:xfrm>
            <a:off x="2939796" y="2459736"/>
            <a:ext cx="658368" cy="6583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Rótulo A a"/>
          <p:cNvSpPr txBox="1"/>
          <p:nvPr/>
        </p:nvSpPr>
        <p:spPr>
          <a:xfrm>
            <a:off x="2939796" y="2459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Nó A b"/>
          <p:cNvSpPr/>
          <p:nvPr/>
        </p:nvSpPr>
        <p:spPr>
          <a:xfrm>
            <a:off x="1659636" y="3511296"/>
            <a:ext cx="658368" cy="658368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3" name="Rótulo A b"/>
          <p:cNvSpPr txBox="1"/>
          <p:nvPr/>
        </p:nvSpPr>
        <p:spPr>
          <a:xfrm>
            <a:off x="1659636" y="35112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Nó A c"/>
          <p:cNvSpPr/>
          <p:nvPr/>
        </p:nvSpPr>
        <p:spPr>
          <a:xfrm>
            <a:off x="4128516" y="3511296"/>
            <a:ext cx="658368" cy="6583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Rótulo A c"/>
          <p:cNvSpPr txBox="1"/>
          <p:nvPr/>
        </p:nvSpPr>
        <p:spPr>
          <a:xfrm>
            <a:off x="4128516" y="35112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400" dirty="0"/>
          </a:p>
        </p:txBody>
      </p:sp>
      <p:sp>
        <p:nvSpPr>
          <p:cNvPr id="16" name="Nó A d"/>
          <p:cNvSpPr/>
          <p:nvPr/>
        </p:nvSpPr>
        <p:spPr>
          <a:xfrm>
            <a:off x="3396996" y="4562856"/>
            <a:ext cx="658368" cy="658368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7" name="Rótulo A d"/>
          <p:cNvSpPr txBox="1"/>
          <p:nvPr/>
        </p:nvSpPr>
        <p:spPr>
          <a:xfrm>
            <a:off x="3396996" y="45628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Nó A e"/>
          <p:cNvSpPr/>
          <p:nvPr/>
        </p:nvSpPr>
        <p:spPr>
          <a:xfrm>
            <a:off x="4860036" y="4562856"/>
            <a:ext cx="658368" cy="658368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Rótulo A e"/>
          <p:cNvSpPr txBox="1"/>
          <p:nvPr/>
        </p:nvSpPr>
        <p:spPr>
          <a:xfrm>
            <a:off x="4860036" y="45628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ag primeiro A"/>
          <p:cNvSpPr/>
          <p:nvPr/>
        </p:nvSpPr>
        <p:spPr>
          <a:xfrm>
            <a:off x="2802636" y="3657600"/>
            <a:ext cx="118872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o tag A"/>
          <p:cNvSpPr txBox="1"/>
          <p:nvPr/>
        </p:nvSpPr>
        <p:spPr>
          <a:xfrm>
            <a:off x="2802636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primeiro</a:t>
            </a:r>
            <a:endParaRPr lang="en-US" sz="1400" dirty="0"/>
          </a:p>
        </p:txBody>
      </p:sp>
      <p:sp>
        <p:nvSpPr>
          <p:cNvPr id="22" name="Chip resultado A"/>
          <p:cNvSpPr/>
          <p:nvPr/>
        </p:nvSpPr>
        <p:spPr>
          <a:xfrm>
            <a:off x="2103120" y="5532120"/>
            <a:ext cx="2331720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23" name="Resultado A"/>
          <p:cNvSpPr txBox="1"/>
          <p:nvPr/>
        </p:nvSpPr>
        <p:spPr>
          <a:xfrm>
            <a:off x="2103120" y="5532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= </a:t>
            </a:r>
            <a:pPr algn="ctr"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14</a:t>
            </a:r>
            <a:endParaRPr lang="en-US" sz="2800" dirty="0"/>
          </a:p>
        </p:txBody>
      </p:sp>
      <p:sp>
        <p:nvSpPr>
          <p:cNvPr id="24" name="Painel B"/>
          <p:cNvSpPr/>
          <p:nvPr/>
        </p:nvSpPr>
        <p:spPr>
          <a:xfrm>
            <a:off x="6199632" y="1463040"/>
            <a:ext cx="5440680" cy="4754880"/>
          </a:xfrm>
          <a:prstGeom prst="roundRect">
            <a:avLst>
              <a:gd name="adj" fmla="val 2692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5" name="Expressão B"/>
          <p:cNvSpPr txBox="1"/>
          <p:nvPr/>
        </p:nvSpPr>
        <p:spPr>
          <a:xfrm>
            <a:off x="6519672" y="16459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 + 3) * 4</a:t>
            </a:r>
            <a:endParaRPr lang="en-US" sz="3000" dirty="0"/>
          </a:p>
        </p:txBody>
      </p:sp>
      <p:sp>
        <p:nvSpPr>
          <p:cNvPr id="26" name="Aresta B 1"/>
          <p:cNvSpPr/>
          <p:nvPr/>
        </p:nvSpPr>
        <p:spPr>
          <a:xfrm flipH="1">
            <a:off x="7731252" y="2788920"/>
            <a:ext cx="1188720" cy="10515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7" name="Aresta B 2"/>
          <p:cNvSpPr/>
          <p:nvPr/>
        </p:nvSpPr>
        <p:spPr>
          <a:xfrm>
            <a:off x="8919972" y="2788920"/>
            <a:ext cx="1280160" cy="10515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8" name="Aresta B 3"/>
          <p:cNvSpPr/>
          <p:nvPr/>
        </p:nvSpPr>
        <p:spPr>
          <a:xfrm flipH="1">
            <a:off x="6999732" y="3840480"/>
            <a:ext cx="731520" cy="10515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9" name="Aresta B 4"/>
          <p:cNvSpPr/>
          <p:nvPr/>
        </p:nvSpPr>
        <p:spPr>
          <a:xfrm>
            <a:off x="7731252" y="3840480"/>
            <a:ext cx="731520" cy="10515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30" name="Nó B a"/>
          <p:cNvSpPr/>
          <p:nvPr/>
        </p:nvSpPr>
        <p:spPr>
          <a:xfrm>
            <a:off x="8590788" y="2459736"/>
            <a:ext cx="658368" cy="6583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1" name="Rótulo B a"/>
          <p:cNvSpPr txBox="1"/>
          <p:nvPr/>
        </p:nvSpPr>
        <p:spPr>
          <a:xfrm>
            <a:off x="8590788" y="2459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400" dirty="0"/>
          </a:p>
        </p:txBody>
      </p:sp>
      <p:sp>
        <p:nvSpPr>
          <p:cNvPr id="32" name="Nó B b"/>
          <p:cNvSpPr/>
          <p:nvPr/>
        </p:nvSpPr>
        <p:spPr>
          <a:xfrm>
            <a:off x="7402068" y="3511296"/>
            <a:ext cx="658368" cy="6583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3" name="Rótulo B b"/>
          <p:cNvSpPr txBox="1"/>
          <p:nvPr/>
        </p:nvSpPr>
        <p:spPr>
          <a:xfrm>
            <a:off x="7402068" y="35112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400" dirty="0"/>
          </a:p>
        </p:txBody>
      </p:sp>
      <p:sp>
        <p:nvSpPr>
          <p:cNvPr id="34" name="Nó B c"/>
          <p:cNvSpPr/>
          <p:nvPr/>
        </p:nvSpPr>
        <p:spPr>
          <a:xfrm>
            <a:off x="9870948" y="3511296"/>
            <a:ext cx="658368" cy="658368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5" name="Rótulo B c"/>
          <p:cNvSpPr txBox="1"/>
          <p:nvPr/>
        </p:nvSpPr>
        <p:spPr>
          <a:xfrm>
            <a:off x="9870948" y="35112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400" dirty="0"/>
          </a:p>
        </p:txBody>
      </p:sp>
      <p:sp>
        <p:nvSpPr>
          <p:cNvPr id="36" name="Nó B d"/>
          <p:cNvSpPr/>
          <p:nvPr/>
        </p:nvSpPr>
        <p:spPr>
          <a:xfrm>
            <a:off x="6670548" y="4562856"/>
            <a:ext cx="658368" cy="658368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7" name="Rótulo B d"/>
          <p:cNvSpPr txBox="1"/>
          <p:nvPr/>
        </p:nvSpPr>
        <p:spPr>
          <a:xfrm>
            <a:off x="6670548" y="45628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38" name="Nó B e"/>
          <p:cNvSpPr/>
          <p:nvPr/>
        </p:nvSpPr>
        <p:spPr>
          <a:xfrm>
            <a:off x="8133588" y="4562856"/>
            <a:ext cx="658368" cy="658368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9" name="Rótulo B e"/>
          <p:cNvSpPr txBox="1"/>
          <p:nvPr/>
        </p:nvSpPr>
        <p:spPr>
          <a:xfrm>
            <a:off x="8133588" y="45628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400" dirty="0"/>
          </a:p>
        </p:txBody>
      </p:sp>
      <p:sp>
        <p:nvSpPr>
          <p:cNvPr id="40" name="Tag primeiro B"/>
          <p:cNvSpPr/>
          <p:nvPr/>
        </p:nvSpPr>
        <p:spPr>
          <a:xfrm>
            <a:off x="8197596" y="3657600"/>
            <a:ext cx="118872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o tag B"/>
          <p:cNvSpPr txBox="1"/>
          <p:nvPr/>
        </p:nvSpPr>
        <p:spPr>
          <a:xfrm>
            <a:off x="8197596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primeiro</a:t>
            </a:r>
            <a:endParaRPr lang="en-US" sz="1400" dirty="0"/>
          </a:p>
        </p:txBody>
      </p:sp>
      <p:sp>
        <p:nvSpPr>
          <p:cNvPr id="42" name="Chip resultado B"/>
          <p:cNvSpPr/>
          <p:nvPr/>
        </p:nvSpPr>
        <p:spPr>
          <a:xfrm>
            <a:off x="7754112" y="5532120"/>
            <a:ext cx="2331720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43" name="Resultado B"/>
          <p:cNvSpPr txBox="1"/>
          <p:nvPr/>
        </p:nvSpPr>
        <p:spPr>
          <a:xfrm>
            <a:off x="7754112" y="5532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= </a:t>
            </a:r>
            <a:pPr algn="ctr"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Verificações semânticas</a:t>
            </a:r>
            <a:endParaRPr lang="en-US" sz="4000" dirty="0"/>
          </a:p>
        </p:txBody>
      </p:sp>
      <p:sp>
        <p:nvSpPr>
          <p:cNvPr id="4" name="Tabela de símbolos"/>
          <p:cNvSpPr/>
          <p:nvPr/>
        </p:nvSpPr>
        <p:spPr>
          <a:xfrm>
            <a:off x="548640" y="1508760"/>
            <a:ext cx="5120640" cy="2697480"/>
          </a:xfrm>
          <a:prstGeom prst="roundRect">
            <a:avLst>
              <a:gd name="adj" fmla="val 6102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5" name="Título tabela"/>
          <p:cNvSpPr txBox="1"/>
          <p:nvPr/>
        </p:nvSpPr>
        <p:spPr>
          <a:xfrm>
            <a:off x="86868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Tabela de símbolos</a:t>
            </a:r>
            <a:endParaRPr lang="en-US" sz="1600" dirty="0"/>
          </a:p>
        </p:txBody>
      </p:sp>
      <p:sp>
        <p:nvSpPr>
          <p:cNvPr id="6" name="Símbolo energia"/>
          <p:cNvSpPr txBox="1"/>
          <p:nvPr/>
        </p:nvSpPr>
        <p:spPr>
          <a:xfrm>
            <a:off x="868680" y="2331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energia </a:t>
            </a:r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inteiro</a:t>
            </a:r>
            <a:endParaRPr lang="en-US" sz="2200" dirty="0"/>
          </a:p>
        </p:txBody>
      </p:sp>
      <p:sp>
        <p:nvSpPr>
          <p:cNvPr id="7" name="Símbolo preco"/>
          <p:cNvSpPr txBox="1"/>
          <p:nvPr/>
        </p:nvSpPr>
        <p:spPr>
          <a:xfrm>
            <a:off x="86868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   </a:t>
            </a:r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</a:t>
            </a:r>
            <a:endParaRPr lang="en-US" sz="2200" dirty="0"/>
          </a:p>
        </p:txBody>
      </p:sp>
      <p:sp>
        <p:nvSpPr>
          <p:cNvPr id="8" name="Símbolo pedido"/>
          <p:cNvSpPr txBox="1"/>
          <p:nvPr/>
        </p:nvSpPr>
        <p:spPr>
          <a:xfrm>
            <a:off x="86868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  </a:t>
            </a:r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endParaRPr lang="en-US" sz="2200" dirty="0"/>
          </a:p>
        </p:txBody>
      </p:sp>
      <p:sp>
        <p:nvSpPr>
          <p:cNvPr id="9" name="Verificação 1"/>
          <p:cNvSpPr/>
          <p:nvPr/>
        </p:nvSpPr>
        <p:spPr>
          <a:xfrm>
            <a:off x="5943600" y="1508760"/>
            <a:ext cx="5696712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0" name="Alerta 1"/>
          <p:cNvSpPr/>
          <p:nvPr/>
        </p:nvSpPr>
        <p:spPr>
          <a:xfrm>
            <a:off x="6126480" y="1627632"/>
            <a:ext cx="347472" cy="347472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1" name="Alerta símbolo 1"/>
          <p:cNvSpPr txBox="1"/>
          <p:nvPr/>
        </p:nvSpPr>
        <p:spPr>
          <a:xfrm>
            <a:off x="612648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12" name="Texto verificação 1"/>
          <p:cNvSpPr txBox="1"/>
          <p:nvPr/>
        </p:nvSpPr>
        <p:spPr>
          <a:xfrm>
            <a:off x="6675120" y="150876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Uso antes da declaração</a:t>
            </a:r>
            <a:endParaRPr lang="en-US" sz="1800" dirty="0"/>
          </a:p>
        </p:txBody>
      </p:sp>
      <p:sp>
        <p:nvSpPr>
          <p:cNvPr id="13" name="Verificação 2"/>
          <p:cNvSpPr/>
          <p:nvPr/>
        </p:nvSpPr>
        <p:spPr>
          <a:xfrm>
            <a:off x="5943600" y="2203704"/>
            <a:ext cx="5696712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4" name="Alerta 2"/>
          <p:cNvSpPr/>
          <p:nvPr/>
        </p:nvSpPr>
        <p:spPr>
          <a:xfrm>
            <a:off x="6126480" y="2322576"/>
            <a:ext cx="347472" cy="347472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5" name="Alerta símbolo 2"/>
          <p:cNvSpPr txBox="1"/>
          <p:nvPr/>
        </p:nvSpPr>
        <p:spPr>
          <a:xfrm>
            <a:off x="612648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16" name="Texto verificação 2"/>
          <p:cNvSpPr txBox="1"/>
          <p:nvPr/>
        </p:nvSpPr>
        <p:spPr>
          <a:xfrm>
            <a:off x="6675120" y="2203704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Declaração duplicada</a:t>
            </a:r>
            <a:endParaRPr lang="en-US" sz="1800" dirty="0"/>
          </a:p>
        </p:txBody>
      </p:sp>
      <p:sp>
        <p:nvSpPr>
          <p:cNvPr id="17" name="Verificação 3"/>
          <p:cNvSpPr/>
          <p:nvPr/>
        </p:nvSpPr>
        <p:spPr>
          <a:xfrm>
            <a:off x="5943600" y="2898648"/>
            <a:ext cx="5696712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8" name="Alerta 3"/>
          <p:cNvSpPr/>
          <p:nvPr/>
        </p:nvSpPr>
        <p:spPr>
          <a:xfrm>
            <a:off x="6126480" y="3017520"/>
            <a:ext cx="347472" cy="347472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" name="Alerta símbolo 3"/>
          <p:cNvSpPr txBox="1"/>
          <p:nvPr/>
        </p:nvSpPr>
        <p:spPr>
          <a:xfrm>
            <a:off x="612648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20" name="Texto verificação 3"/>
          <p:cNvSpPr txBox="1"/>
          <p:nvPr/>
        </p:nvSpPr>
        <p:spPr>
          <a:xfrm>
            <a:off x="6675120" y="2898648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Tipos incompatíveis</a:t>
            </a:r>
            <a:endParaRPr lang="en-US" sz="1800" dirty="0"/>
          </a:p>
        </p:txBody>
      </p:sp>
      <p:sp>
        <p:nvSpPr>
          <p:cNvPr id="21" name="Verificação 4"/>
          <p:cNvSpPr/>
          <p:nvPr/>
        </p:nvSpPr>
        <p:spPr>
          <a:xfrm>
            <a:off x="5943600" y="3593592"/>
            <a:ext cx="5696712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2" name="Alerta 4"/>
          <p:cNvSpPr/>
          <p:nvPr/>
        </p:nvSpPr>
        <p:spPr>
          <a:xfrm>
            <a:off x="6126480" y="3712464"/>
            <a:ext cx="347472" cy="347472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3" name="Alerta símbolo 4"/>
          <p:cNvSpPr txBox="1"/>
          <p:nvPr/>
        </p:nvSpPr>
        <p:spPr>
          <a:xfrm>
            <a:off x="612648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24" name="Texto verificação 4"/>
          <p:cNvSpPr txBox="1"/>
          <p:nvPr/>
        </p:nvSpPr>
        <p:spPr>
          <a:xfrm>
            <a:off x="6675120" y="3593592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Break fora de um laço</a:t>
            </a:r>
            <a:endParaRPr lang="en-US" sz="1800" dirty="0"/>
          </a:p>
        </p:txBody>
      </p:sp>
      <p:sp>
        <p:nvSpPr>
          <p:cNvPr id="25" name="Terminal erro"/>
          <p:cNvSpPr/>
          <p:nvPr/>
        </p:nvSpPr>
        <p:spPr>
          <a:xfrm>
            <a:off x="548640" y="4572000"/>
            <a:ext cx="11091672" cy="1600200"/>
          </a:xfrm>
          <a:prstGeom prst="roundRect">
            <a:avLst>
              <a:gd name="adj" fmla="val 10286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6" name="Código erro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RECEBA</a:t>
            </a:r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energia</a:t>
            </a:r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"muitos"</a:t>
            </a:r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200" dirty="0"/>
          </a:p>
        </p:txBody>
      </p:sp>
      <p:sp>
        <p:nvSpPr>
          <p:cNvPr id="27" name="Mensagem erro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semântico: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esperado inteiro, recebido texto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Geração de Python</a:t>
            </a:r>
            <a:endParaRPr lang="en-US" sz="4000" dirty="0"/>
          </a:p>
        </p:txBody>
      </p:sp>
      <p:sp>
        <p:nvSpPr>
          <p:cNvPr id="4" name="Painel MemeScript"/>
          <p:cNvSpPr/>
          <p:nvPr/>
        </p:nvSpPr>
        <p:spPr>
          <a:xfrm>
            <a:off x="548640" y="1508760"/>
            <a:ext cx="5029200" cy="260604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5" name="Rótulo MemeScript"/>
          <p:cNvSpPr txBox="1"/>
          <p:nvPr/>
        </p:nvSpPr>
        <p:spPr>
          <a:xfrm>
            <a:off x="86868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MemeScript</a:t>
            </a:r>
            <a:endParaRPr lang="en-US" sz="1600" dirty="0"/>
          </a:p>
        </p:txBody>
      </p:sp>
      <p:sp>
        <p:nvSpPr>
          <p:cNvPr id="6" name="Código MemeScript"/>
          <p:cNvSpPr txBox="1"/>
          <p:nvPr/>
        </p:nvSpPr>
        <p:spPr>
          <a:xfrm>
            <a:off x="868680" y="219456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SABOR_INTEIRO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RECEBA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AMOSTRADINHO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000" dirty="0"/>
          </a:p>
        </p:txBody>
      </p:sp>
      <p:sp>
        <p:nvSpPr>
          <p:cNvPr id="7" name="Painel Python"/>
          <p:cNvSpPr/>
          <p:nvPr/>
        </p:nvSpPr>
        <p:spPr>
          <a:xfrm>
            <a:off x="6611112" y="1508760"/>
            <a:ext cx="5029200" cy="260604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8" name="Rótulo Python"/>
          <p:cNvSpPr txBox="1"/>
          <p:nvPr/>
        </p:nvSpPr>
        <p:spPr>
          <a:xfrm>
            <a:off x="6931152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Python</a:t>
            </a:r>
            <a:endParaRPr lang="en-US" sz="1600" dirty="0"/>
          </a:p>
        </p:txBody>
      </p:sp>
      <p:sp>
        <p:nvSpPr>
          <p:cNvPr id="9" name="Código Python"/>
          <p:cNvSpPr txBox="1"/>
          <p:nvPr/>
        </p:nvSpPr>
        <p:spPr>
          <a:xfrm>
            <a:off x="6931152" y="219456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ms_var_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ms_var_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ms_var_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ms_var_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</p:txBody>
      </p:sp>
      <p:sp>
        <p:nvSpPr>
          <p:cNvPr id="10" name="Círculo seta"/>
          <p:cNvSpPr/>
          <p:nvPr/>
        </p:nvSpPr>
        <p:spPr>
          <a:xfrm>
            <a:off x="5623560" y="2423160"/>
            <a:ext cx="941832" cy="9418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1" name="Seta geração"/>
          <p:cNvSpPr/>
          <p:nvPr/>
        </p:nvSpPr>
        <p:spPr>
          <a:xfrm>
            <a:off x="5833872" y="2715768"/>
            <a:ext cx="530352" cy="36576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2" name="Nota parênteses"/>
          <p:cNvSpPr/>
          <p:nvPr/>
        </p:nvSpPr>
        <p:spPr>
          <a:xfrm>
            <a:off x="548640" y="4526280"/>
            <a:ext cx="5440680" cy="155448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3" name="Chip parênteses"/>
          <p:cNvSpPr/>
          <p:nvPr/>
        </p:nvSpPr>
        <p:spPr>
          <a:xfrm>
            <a:off x="822960" y="4800600"/>
            <a:ext cx="82296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Parênteses símbolo"/>
          <p:cNvSpPr txBox="1"/>
          <p:nvPr/>
        </p:nvSpPr>
        <p:spPr>
          <a:xfrm>
            <a:off x="822960" y="4800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2200" dirty="0"/>
          </a:p>
        </p:txBody>
      </p:sp>
      <p:sp>
        <p:nvSpPr>
          <p:cNvPr id="15" name="Texto parênteses"/>
          <p:cNvSpPr txBox="1"/>
          <p:nvPr/>
        </p:nvSpPr>
        <p:spPr>
          <a:xfrm>
            <a:off x="82296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Parênteses preservam o agrupamento da AST</a:t>
            </a:r>
            <a:endParaRPr lang="en-US" sz="1800" dirty="0"/>
          </a:p>
        </p:txBody>
      </p:sp>
      <p:sp>
        <p:nvSpPr>
          <p:cNvPr id="16" name="Nota prefixo"/>
          <p:cNvSpPr/>
          <p:nvPr/>
        </p:nvSpPr>
        <p:spPr>
          <a:xfrm>
            <a:off x="6199632" y="4526280"/>
            <a:ext cx="5440680" cy="155448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7" name="Chip prefixo"/>
          <p:cNvSpPr/>
          <p:nvPr/>
        </p:nvSpPr>
        <p:spPr>
          <a:xfrm>
            <a:off x="6473952" y="4800600"/>
            <a:ext cx="160020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</p:sp>
      <p:sp>
        <p:nvSpPr>
          <p:cNvPr id="18" name="Prefixo símbolo"/>
          <p:cNvSpPr txBox="1"/>
          <p:nvPr/>
        </p:nvSpPr>
        <p:spPr>
          <a:xfrm>
            <a:off x="6473952" y="4800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ms_var_</a:t>
            </a:r>
            <a:endParaRPr lang="en-US" sz="1800" dirty="0"/>
          </a:p>
        </p:txBody>
      </p:sp>
      <p:sp>
        <p:nvSpPr>
          <p:cNvPr id="19" name="Texto prefixo"/>
          <p:cNvSpPr txBox="1"/>
          <p:nvPr/>
        </p:nvSpPr>
        <p:spPr>
          <a:xfrm>
            <a:off x="6473952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 prefixo ms_var_ evita colisões no destino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Programa de demonstração</a:t>
            </a:r>
            <a:endParaRPr lang="en-US" sz="4000" dirty="0"/>
          </a:p>
        </p:txBody>
      </p:sp>
      <p:sp>
        <p:nvSpPr>
          <p:cNvPr id="4" name="Entrada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Entrada: </a:t>
            </a:r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limite de 10 cafés</a:t>
            </a:r>
            <a:endParaRPr lang="en-US" sz="2200" dirty="0"/>
          </a:p>
        </p:txBody>
      </p:sp>
      <p:sp>
        <p:nvSpPr>
          <p:cNvPr id="5" name="Expressão"/>
          <p:cNvSpPr/>
          <p:nvPr/>
        </p:nvSpPr>
        <p:spPr>
          <a:xfrm>
            <a:off x="548640" y="2148840"/>
            <a:ext cx="11091672" cy="960120"/>
          </a:xfrm>
          <a:prstGeom prst="roundRect">
            <a:avLst>
              <a:gd name="adj" fmla="val 15238"/>
            </a:avLst>
          </a:prstGeom>
          <a:solidFill>
            <a:schemeClr val="tx2"/>
          </a:solidFill>
          <a:ln/>
        </p:spPr>
      </p:sp>
      <p:sp>
        <p:nvSpPr>
          <p:cNvPr id="6" name="Texto expressão"/>
          <p:cNvSpPr txBox="1"/>
          <p:nvPr/>
        </p:nvSpPr>
        <p:spPr>
          <a:xfrm>
            <a:off x="548640" y="214884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+ 3 * 4</a:t>
            </a:r>
            <a:pPr algn="ctr"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3600" dirty="0"/>
          </a:p>
        </p:txBody>
      </p:sp>
      <p:sp>
        <p:nvSpPr>
          <p:cNvPr id="7" name="Estatística cafés"/>
          <p:cNvSpPr/>
          <p:nvPr/>
        </p:nvSpPr>
        <p:spPr>
          <a:xfrm>
            <a:off x="548640" y="3429000"/>
            <a:ext cx="3566160" cy="1965960"/>
          </a:xfrm>
          <a:prstGeom prst="roundRect">
            <a:avLst>
              <a:gd name="adj" fmla="val 7442"/>
            </a:avLst>
          </a:prstGeom>
          <a:solidFill>
            <a:schemeClr val="tx2"/>
          </a:solidFill>
          <a:ln/>
        </p:spPr>
      </p:sp>
      <p:sp>
        <p:nvSpPr>
          <p:cNvPr id="8" name="Número cafés"/>
          <p:cNvSpPr txBox="1"/>
          <p:nvPr/>
        </p:nvSpPr>
        <p:spPr>
          <a:xfrm>
            <a:off x="822960" y="3520440"/>
            <a:ext cx="301752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chemeClr val="accent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8000" dirty="0"/>
          </a:p>
        </p:txBody>
      </p:sp>
      <p:sp>
        <p:nvSpPr>
          <p:cNvPr id="9" name="Rótulo cafés"/>
          <p:cNvSpPr txBox="1"/>
          <p:nvPr/>
        </p:nvSpPr>
        <p:spPr>
          <a:xfrm>
            <a:off x="822960" y="4663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cafés</a:t>
            </a:r>
            <a:endParaRPr lang="en-US" sz="2400" dirty="0"/>
          </a:p>
        </p:txBody>
      </p:sp>
      <p:sp>
        <p:nvSpPr>
          <p:cNvPr id="10" name="Estatística de energia"/>
          <p:cNvSpPr/>
          <p:nvPr/>
        </p:nvSpPr>
        <p:spPr>
          <a:xfrm>
            <a:off x="4311396" y="3429000"/>
            <a:ext cx="3566160" cy="1965960"/>
          </a:xfrm>
          <a:prstGeom prst="roundRect">
            <a:avLst>
              <a:gd name="adj" fmla="val 7442"/>
            </a:avLst>
          </a:prstGeom>
          <a:solidFill>
            <a:schemeClr val="tx2"/>
          </a:solidFill>
          <a:ln/>
        </p:spPr>
      </p:sp>
      <p:sp>
        <p:nvSpPr>
          <p:cNvPr id="11" name="Número de energia"/>
          <p:cNvSpPr txBox="1"/>
          <p:nvPr/>
        </p:nvSpPr>
        <p:spPr>
          <a:xfrm>
            <a:off x="4585716" y="3520440"/>
            <a:ext cx="301752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70</a:t>
            </a:r>
            <a:endParaRPr lang="en-US" sz="8000" dirty="0"/>
          </a:p>
        </p:txBody>
      </p:sp>
      <p:sp>
        <p:nvSpPr>
          <p:cNvPr id="12" name="Rótulo de energia"/>
          <p:cNvSpPr txBox="1"/>
          <p:nvPr/>
        </p:nvSpPr>
        <p:spPr>
          <a:xfrm>
            <a:off x="4585716" y="4663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 energia</a:t>
            </a:r>
            <a:endParaRPr lang="en-US" sz="2400" dirty="0"/>
          </a:p>
        </p:txBody>
      </p:sp>
      <p:sp>
        <p:nvSpPr>
          <p:cNvPr id="13" name="Estatística de gasto"/>
          <p:cNvSpPr/>
          <p:nvPr/>
        </p:nvSpPr>
        <p:spPr>
          <a:xfrm>
            <a:off x="8074152" y="3429000"/>
            <a:ext cx="3566160" cy="1965960"/>
          </a:xfrm>
          <a:prstGeom prst="roundRect">
            <a:avLst>
              <a:gd name="adj" fmla="val 7442"/>
            </a:avLst>
          </a:prstGeom>
          <a:solidFill>
            <a:schemeClr val="tx2"/>
          </a:solidFill>
          <a:ln/>
        </p:spPr>
      </p:sp>
      <p:sp>
        <p:nvSpPr>
          <p:cNvPr id="14" name="Número de gasto"/>
          <p:cNvSpPr txBox="1"/>
          <p:nvPr/>
        </p:nvSpPr>
        <p:spPr>
          <a:xfrm>
            <a:off x="8348472" y="3520440"/>
            <a:ext cx="301752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chemeClr val="accent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22.5</a:t>
            </a:r>
            <a:endParaRPr lang="en-US" sz="8000" dirty="0"/>
          </a:p>
        </p:txBody>
      </p:sp>
      <p:sp>
        <p:nvSpPr>
          <p:cNvPr id="15" name="Rótulo de gasto"/>
          <p:cNvSpPr txBox="1"/>
          <p:nvPr/>
        </p:nvSpPr>
        <p:spPr>
          <a:xfrm>
            <a:off x="8348472" y="4663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 gasto</a:t>
            </a:r>
            <a:endParaRPr lang="en-US" sz="2400" dirty="0"/>
          </a:p>
        </p:txBody>
      </p:sp>
      <p:sp>
        <p:nvSpPr>
          <p:cNvPr id="16" name="Nota laço"/>
          <p:cNvSpPr txBox="1"/>
          <p:nvPr/>
        </p:nvSpPr>
        <p:spPr>
          <a:xfrm>
            <a:off x="548640" y="5669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DESCANSAR_NE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 encerra o laço ao atingir 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energia &gt;= 67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Demonstração ao vivo</a:t>
            </a:r>
            <a:endParaRPr lang="en-US" sz="4000" dirty="0"/>
          </a:p>
        </p:txBody>
      </p:sp>
      <p:sp>
        <p:nvSpPr>
          <p:cNvPr id="4" name="Selo passo 1"/>
          <p:cNvSpPr/>
          <p:nvPr/>
        </p:nvSpPr>
        <p:spPr>
          <a:xfrm>
            <a:off x="548640" y="16002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úmero passo 1"/>
          <p:cNvSpPr txBox="1"/>
          <p:nvPr/>
        </p:nvSpPr>
        <p:spPr>
          <a:xfrm>
            <a:off x="54864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ítulo passo 1"/>
          <p:cNvSpPr txBox="1"/>
          <p:nvPr/>
        </p:nvSpPr>
        <p:spPr>
          <a:xfrm>
            <a:off x="169164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Inspeção da AST</a:t>
            </a:r>
            <a:endParaRPr lang="en-US" sz="2400" dirty="0"/>
          </a:p>
        </p:txBody>
      </p:sp>
      <p:sp>
        <p:nvSpPr>
          <p:cNvPr id="7" name="Terminal passo 1"/>
          <p:cNvSpPr/>
          <p:nvPr/>
        </p:nvSpPr>
        <p:spPr>
          <a:xfrm>
            <a:off x="1691640" y="2057400"/>
            <a:ext cx="9948672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8" name="Comando passo 1"/>
          <p:cNvSpPr txBox="1"/>
          <p:nvPr/>
        </p:nvSpPr>
        <p:spPr>
          <a:xfrm>
            <a:off x="1965960" y="205740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memescript exemplos/01_valido_basico.meme --check --ast</a:t>
            </a:r>
            <a:endParaRPr lang="en-US" sz="1600" dirty="0"/>
          </a:p>
        </p:txBody>
      </p:sp>
      <p:sp>
        <p:nvSpPr>
          <p:cNvPr id="9" name="Selo passo 2"/>
          <p:cNvSpPr/>
          <p:nvPr/>
        </p:nvSpPr>
        <p:spPr>
          <a:xfrm>
            <a:off x="548640" y="31546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úmero passo 2"/>
          <p:cNvSpPr txBox="1"/>
          <p:nvPr/>
        </p:nvSpPr>
        <p:spPr>
          <a:xfrm>
            <a:off x="548640" y="3154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ítulo passo 2"/>
          <p:cNvSpPr txBox="1"/>
          <p:nvPr/>
        </p:nvSpPr>
        <p:spPr>
          <a:xfrm>
            <a:off x="1691640" y="3063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Transpilação</a:t>
            </a:r>
            <a:endParaRPr lang="en-US" sz="2400" dirty="0"/>
          </a:p>
        </p:txBody>
      </p:sp>
      <p:sp>
        <p:nvSpPr>
          <p:cNvPr id="12" name="Terminal passo 2"/>
          <p:cNvSpPr/>
          <p:nvPr/>
        </p:nvSpPr>
        <p:spPr>
          <a:xfrm>
            <a:off x="1691640" y="3611880"/>
            <a:ext cx="9948672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3" name="Comando passo 2"/>
          <p:cNvSpPr txBox="1"/>
          <p:nvPr/>
        </p:nvSpPr>
        <p:spPr>
          <a:xfrm>
            <a:off x="1965960" y="36118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memescript exemplos/02_valido_completo.meme -o gerados/demo.py</a:t>
            </a:r>
            <a:endParaRPr lang="en-US" sz="1600" dirty="0"/>
          </a:p>
        </p:txBody>
      </p:sp>
      <p:sp>
        <p:nvSpPr>
          <p:cNvPr id="14" name="Selo passo 3"/>
          <p:cNvSpPr/>
          <p:nvPr/>
        </p:nvSpPr>
        <p:spPr>
          <a:xfrm>
            <a:off x="548640" y="47091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úmero passo 3"/>
          <p:cNvSpPr txBox="1"/>
          <p:nvPr/>
        </p:nvSpPr>
        <p:spPr>
          <a:xfrm>
            <a:off x="5486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ítulo passo 3"/>
          <p:cNvSpPr txBox="1"/>
          <p:nvPr/>
        </p:nvSpPr>
        <p:spPr>
          <a:xfrm>
            <a:off x="1691640" y="4617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Execução com entrada 10</a:t>
            </a:r>
            <a:endParaRPr lang="en-US" sz="2400" dirty="0"/>
          </a:p>
        </p:txBody>
      </p:sp>
      <p:sp>
        <p:nvSpPr>
          <p:cNvPr id="17" name="Terminal passo 3"/>
          <p:cNvSpPr/>
          <p:nvPr/>
        </p:nvSpPr>
        <p:spPr>
          <a:xfrm>
            <a:off x="1691640" y="5166360"/>
            <a:ext cx="9948672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8" name="Comando passo 3"/>
          <p:cNvSpPr txBox="1"/>
          <p:nvPr/>
        </p:nvSpPr>
        <p:spPr>
          <a:xfrm>
            <a:off x="1965960" y="516636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gerados/demo.py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Programas inválidos</a:t>
            </a:r>
            <a:endParaRPr lang="en-US" sz="4000" dirty="0"/>
          </a:p>
        </p:txBody>
      </p:sp>
      <p:sp>
        <p:nvSpPr>
          <p:cNvPr id="4" name="Cartão Léxico"/>
          <p:cNvSpPr/>
          <p:nvPr/>
        </p:nvSpPr>
        <p:spPr>
          <a:xfrm>
            <a:off x="548640" y="1508760"/>
            <a:ext cx="3566160" cy="3063240"/>
          </a:xfrm>
          <a:prstGeom prst="roundRect">
            <a:avLst>
              <a:gd name="adj" fmla="val 4179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5" name="Etiqueta Léxico"/>
          <p:cNvSpPr/>
          <p:nvPr/>
        </p:nvSpPr>
        <p:spPr>
          <a:xfrm>
            <a:off x="822960" y="1783080"/>
            <a:ext cx="173736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" name="Categoria Léxico"/>
          <p:cNvSpPr txBox="1"/>
          <p:nvPr/>
        </p:nvSpPr>
        <p:spPr>
          <a:xfrm>
            <a:off x="822960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Léxico</a:t>
            </a:r>
            <a:endParaRPr lang="en-US" sz="1800" dirty="0"/>
          </a:p>
        </p:txBody>
      </p:sp>
      <p:sp>
        <p:nvSpPr>
          <p:cNvPr id="7" name="Legenda fonte Léxico"/>
          <p:cNvSpPr txBox="1"/>
          <p:nvPr/>
        </p:nvSpPr>
        <p:spPr>
          <a:xfrm>
            <a:off x="82296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Exemplo de fonte</a:t>
            </a:r>
            <a:endParaRPr lang="en-US" sz="1200" dirty="0"/>
          </a:p>
        </p:txBody>
      </p:sp>
      <p:sp>
        <p:nvSpPr>
          <p:cNvPr id="8" name="Caixa fonte Léxico"/>
          <p:cNvSpPr/>
          <p:nvPr/>
        </p:nvSpPr>
        <p:spPr>
          <a:xfrm>
            <a:off x="822960" y="2834640"/>
            <a:ext cx="301752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9" name="Fonte Léxico"/>
          <p:cNvSpPr txBox="1"/>
          <p:nvPr/>
        </p:nvSpPr>
        <p:spPr>
          <a:xfrm>
            <a:off x="82296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Legenda motivo Léxico"/>
          <p:cNvSpPr txBox="1"/>
          <p:nvPr/>
        </p:nvSpPr>
        <p:spPr>
          <a:xfrm>
            <a:off x="82296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Motivo</a:t>
            </a:r>
            <a:endParaRPr lang="en-US" sz="1200" dirty="0"/>
          </a:p>
        </p:txBody>
      </p:sp>
      <p:sp>
        <p:nvSpPr>
          <p:cNvPr id="11" name="Motivo Léxico"/>
          <p:cNvSpPr txBox="1"/>
          <p:nvPr/>
        </p:nvSpPr>
        <p:spPr>
          <a:xfrm>
            <a:off x="82296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Símbolo inválido</a:t>
            </a:r>
            <a:endParaRPr lang="en-US" sz="2000" dirty="0"/>
          </a:p>
        </p:txBody>
      </p:sp>
      <p:sp>
        <p:nvSpPr>
          <p:cNvPr id="12" name="Cartão Sintático"/>
          <p:cNvSpPr/>
          <p:nvPr/>
        </p:nvSpPr>
        <p:spPr>
          <a:xfrm>
            <a:off x="4311396" y="1508760"/>
            <a:ext cx="3566160" cy="3063240"/>
          </a:xfrm>
          <a:prstGeom prst="roundRect">
            <a:avLst>
              <a:gd name="adj" fmla="val 4179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3" name="Etiqueta Sintático"/>
          <p:cNvSpPr/>
          <p:nvPr/>
        </p:nvSpPr>
        <p:spPr>
          <a:xfrm>
            <a:off x="4585716" y="1783080"/>
            <a:ext cx="173736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Categoria Sintático"/>
          <p:cNvSpPr txBox="1"/>
          <p:nvPr/>
        </p:nvSpPr>
        <p:spPr>
          <a:xfrm>
            <a:off x="4585716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Sintático</a:t>
            </a:r>
            <a:endParaRPr lang="en-US" sz="1800" dirty="0"/>
          </a:p>
        </p:txBody>
      </p:sp>
      <p:sp>
        <p:nvSpPr>
          <p:cNvPr id="15" name="Legenda fonte Sintático"/>
          <p:cNvSpPr txBox="1"/>
          <p:nvPr/>
        </p:nvSpPr>
        <p:spPr>
          <a:xfrm>
            <a:off x="4585716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Exemplo de fonte</a:t>
            </a:r>
            <a:endParaRPr lang="en-US" sz="1200" dirty="0"/>
          </a:p>
        </p:txBody>
      </p:sp>
      <p:sp>
        <p:nvSpPr>
          <p:cNvPr id="16" name="Caixa fonte Sintático"/>
          <p:cNvSpPr/>
          <p:nvPr/>
        </p:nvSpPr>
        <p:spPr>
          <a:xfrm>
            <a:off x="4585716" y="2834640"/>
            <a:ext cx="301752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17" name="Fonte Sintático"/>
          <p:cNvSpPr txBox="1"/>
          <p:nvPr/>
        </p:nvSpPr>
        <p:spPr>
          <a:xfrm>
            <a:off x="4585716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SABOR_INTEIRO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</p:txBody>
      </p:sp>
      <p:sp>
        <p:nvSpPr>
          <p:cNvPr id="18" name="Legenda motivo Sintático"/>
          <p:cNvSpPr txBox="1"/>
          <p:nvPr/>
        </p:nvSpPr>
        <p:spPr>
          <a:xfrm>
            <a:off x="4585716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Motivo</a:t>
            </a:r>
            <a:endParaRPr lang="en-US" sz="1200" dirty="0"/>
          </a:p>
        </p:txBody>
      </p:sp>
      <p:sp>
        <p:nvSpPr>
          <p:cNvPr id="19" name="Motivo Sintático"/>
          <p:cNvSpPr txBox="1"/>
          <p:nvPr/>
        </p:nvSpPr>
        <p:spPr>
          <a:xfrm>
            <a:off x="4585716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Expressão ausente</a:t>
            </a:r>
            <a:endParaRPr lang="en-US" sz="2000" dirty="0"/>
          </a:p>
        </p:txBody>
      </p:sp>
      <p:sp>
        <p:nvSpPr>
          <p:cNvPr id="20" name="Cartão Semântico"/>
          <p:cNvSpPr/>
          <p:nvPr/>
        </p:nvSpPr>
        <p:spPr>
          <a:xfrm>
            <a:off x="8074152" y="1508760"/>
            <a:ext cx="3566160" cy="3063240"/>
          </a:xfrm>
          <a:prstGeom prst="roundRect">
            <a:avLst>
              <a:gd name="adj" fmla="val 4179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21" name="Etiqueta Semântico"/>
          <p:cNvSpPr/>
          <p:nvPr/>
        </p:nvSpPr>
        <p:spPr>
          <a:xfrm>
            <a:off x="8348472" y="1783080"/>
            <a:ext cx="173736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2" name="Categoria Semântico"/>
          <p:cNvSpPr txBox="1"/>
          <p:nvPr/>
        </p:nvSpPr>
        <p:spPr>
          <a:xfrm>
            <a:off x="8348472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Semântico</a:t>
            </a:r>
            <a:endParaRPr lang="en-US" sz="1800" dirty="0"/>
          </a:p>
        </p:txBody>
      </p:sp>
      <p:sp>
        <p:nvSpPr>
          <p:cNvPr id="23" name="Legenda fonte Semântico"/>
          <p:cNvSpPr txBox="1"/>
          <p:nvPr/>
        </p:nvSpPr>
        <p:spPr>
          <a:xfrm>
            <a:off x="8348472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Exemplo de fonte</a:t>
            </a:r>
            <a:endParaRPr lang="en-US" sz="1200" dirty="0"/>
          </a:p>
        </p:txBody>
      </p:sp>
      <p:sp>
        <p:nvSpPr>
          <p:cNvPr id="24" name="Caixa fonte Semântico"/>
          <p:cNvSpPr/>
          <p:nvPr/>
        </p:nvSpPr>
        <p:spPr>
          <a:xfrm>
            <a:off x="8348472" y="2834640"/>
            <a:ext cx="3017520" cy="64008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</p:sp>
      <p:sp>
        <p:nvSpPr>
          <p:cNvPr id="25" name="Fonte Semântico"/>
          <p:cNvSpPr txBox="1"/>
          <p:nvPr/>
        </p:nvSpPr>
        <p:spPr>
          <a:xfrm>
            <a:off x="8348472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RECEBA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</p:txBody>
      </p:sp>
      <p:sp>
        <p:nvSpPr>
          <p:cNvPr id="26" name="Legenda motivo Semântico"/>
          <p:cNvSpPr txBox="1"/>
          <p:nvPr/>
        </p:nvSpPr>
        <p:spPr>
          <a:xfrm>
            <a:off x="8348472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Motivo</a:t>
            </a:r>
            <a:endParaRPr lang="en-US" sz="1200" dirty="0"/>
          </a:p>
        </p:txBody>
      </p:sp>
      <p:sp>
        <p:nvSpPr>
          <p:cNvPr id="27" name="Motivo Semântico"/>
          <p:cNvSpPr txBox="1"/>
          <p:nvPr/>
        </p:nvSpPr>
        <p:spPr>
          <a:xfrm>
            <a:off x="8348472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Variável não declarada</a:t>
            </a:r>
            <a:endParaRPr lang="en-US" sz="2000" dirty="0"/>
          </a:p>
        </p:txBody>
      </p:sp>
      <p:sp>
        <p:nvSpPr>
          <p:cNvPr id="28" name="Faixa 1"/>
          <p:cNvSpPr/>
          <p:nvPr/>
        </p:nvSpPr>
        <p:spPr>
          <a:xfrm>
            <a:off x="548640" y="5029200"/>
            <a:ext cx="5440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9" name="Texto faixa 1"/>
          <p:cNvSpPr txBox="1"/>
          <p:nvPr/>
        </p:nvSpPr>
        <p:spPr>
          <a:xfrm>
            <a:off x="822960" y="50292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Cada diagnóstico indica linha e coluna</a:t>
            </a:r>
            <a:endParaRPr lang="en-US" sz="2000" dirty="0"/>
          </a:p>
        </p:txBody>
      </p:sp>
      <p:sp>
        <p:nvSpPr>
          <p:cNvPr id="30" name="Faixa 2"/>
          <p:cNvSpPr/>
          <p:nvPr/>
        </p:nvSpPr>
        <p:spPr>
          <a:xfrm>
            <a:off x="6199632" y="5029200"/>
            <a:ext cx="5440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31" name="Texto faixa 2"/>
          <p:cNvSpPr txBox="1"/>
          <p:nvPr/>
        </p:nvSpPr>
        <p:spPr>
          <a:xfrm>
            <a:off x="6473952" y="50292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Um erro interrompe a compilação antes da gravação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Testes</a:t>
            </a:r>
            <a:endParaRPr lang="en-US" sz="4000" dirty="0"/>
          </a:p>
        </p:txBody>
      </p:sp>
      <p:sp>
        <p:nvSpPr>
          <p:cNvPr id="4" name="Cartão 32"/>
          <p:cNvSpPr/>
          <p:nvPr/>
        </p:nvSpPr>
        <p:spPr>
          <a:xfrm>
            <a:off x="548640" y="1508760"/>
            <a:ext cx="4389120" cy="3611880"/>
          </a:xfrm>
          <a:prstGeom prst="roundRect">
            <a:avLst>
              <a:gd name="adj" fmla="val 3544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5" name="Número 32"/>
          <p:cNvSpPr txBox="1"/>
          <p:nvPr/>
        </p:nvSpPr>
        <p:spPr>
          <a:xfrm>
            <a:off x="822960" y="1691640"/>
            <a:ext cx="3840480" cy="2194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32</a:t>
            </a:r>
            <a:endParaRPr lang="en-US" sz="15000" dirty="0"/>
          </a:p>
        </p:txBody>
      </p:sp>
      <p:sp>
        <p:nvSpPr>
          <p:cNvPr id="6" name="Rótulo 32"/>
          <p:cNvSpPr txBox="1"/>
          <p:nvPr/>
        </p:nvSpPr>
        <p:spPr>
          <a:xfrm>
            <a:off x="822960" y="39319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métodos de teste executados com sucesso</a:t>
            </a:r>
            <a:endParaRPr lang="en-US" sz="2000" dirty="0"/>
          </a:p>
        </p:txBody>
      </p:sp>
      <p:sp>
        <p:nvSpPr>
          <p:cNvPr id="7" name="Linha programas válidos"/>
          <p:cNvSpPr/>
          <p:nvPr/>
        </p:nvSpPr>
        <p:spPr>
          <a:xfrm>
            <a:off x="5212080" y="1508760"/>
            <a:ext cx="6428232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8" name="Selo programas válidos"/>
          <p:cNvSpPr/>
          <p:nvPr/>
        </p:nvSpPr>
        <p:spPr>
          <a:xfrm>
            <a:off x="5440680" y="1645920"/>
            <a:ext cx="731520" cy="731520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9" name="Número programas válidos"/>
          <p:cNvSpPr txBox="1"/>
          <p:nvPr/>
        </p:nvSpPr>
        <p:spPr>
          <a:xfrm>
            <a:off x="54406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o programas válidos"/>
          <p:cNvSpPr txBox="1"/>
          <p:nvPr/>
        </p:nvSpPr>
        <p:spPr>
          <a:xfrm>
            <a:off x="6446520" y="1508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Programas válidos</a:t>
            </a:r>
            <a:endParaRPr lang="en-US" sz="2200" dirty="0"/>
          </a:p>
        </p:txBody>
      </p:sp>
      <p:sp>
        <p:nvSpPr>
          <p:cNvPr id="11" name="Linha programas inválidos"/>
          <p:cNvSpPr/>
          <p:nvPr/>
        </p:nvSpPr>
        <p:spPr>
          <a:xfrm>
            <a:off x="5212080" y="2697480"/>
            <a:ext cx="6428232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2" name="Selo programas inválidos"/>
          <p:cNvSpPr/>
          <p:nvPr/>
        </p:nvSpPr>
        <p:spPr>
          <a:xfrm>
            <a:off x="5440680" y="2834640"/>
            <a:ext cx="731520" cy="731520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3" name="Número programas inválidos"/>
          <p:cNvSpPr txBox="1"/>
          <p:nvPr/>
        </p:nvSpPr>
        <p:spPr>
          <a:xfrm>
            <a:off x="544068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o programas inválidos"/>
          <p:cNvSpPr txBox="1"/>
          <p:nvPr/>
        </p:nvSpPr>
        <p:spPr>
          <a:xfrm>
            <a:off x="6446520" y="26974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Programas inválidos</a:t>
            </a:r>
            <a:endParaRPr lang="en-US" sz="2200" dirty="0"/>
          </a:p>
        </p:txBody>
      </p:sp>
      <p:sp>
        <p:nvSpPr>
          <p:cNvPr id="15" name="Linha cobertura"/>
          <p:cNvSpPr/>
          <p:nvPr/>
        </p:nvSpPr>
        <p:spPr>
          <a:xfrm>
            <a:off x="5212080" y="3886200"/>
            <a:ext cx="6428232" cy="1234440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5121F">
                <a:alpha val="100000"/>
              </a:srgbClr>
            </a:outerShdw>
          </a:effectLst>
        </p:spPr>
      </p:sp>
      <p:sp>
        <p:nvSpPr>
          <p:cNvPr id="16" name="Texto cobertura"/>
          <p:cNvSpPr txBox="1"/>
          <p:nvPr/>
        </p:nvSpPr>
        <p:spPr>
          <a:xfrm>
            <a:off x="5486400" y="3886200"/>
            <a:ext cx="5897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Precedência, tipos, aninhamento e diagnósticos da interface</a:t>
            </a:r>
            <a:endParaRPr lang="en-US" sz="2000" dirty="0"/>
          </a:p>
        </p:txBody>
      </p:sp>
      <p:sp>
        <p:nvSpPr>
          <p:cNvPr id="17" name="Terminal testes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Comando testes"/>
          <p:cNvSpPr txBox="1"/>
          <p:nvPr/>
        </p:nvSpPr>
        <p:spPr>
          <a:xfrm>
            <a:off x="86868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 discover -s testes -v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Decisões e limites</a:t>
            </a:r>
            <a:endParaRPr lang="en-US" sz="4000" dirty="0"/>
          </a:p>
        </p:txBody>
      </p:sp>
      <p:sp>
        <p:nvSpPr>
          <p:cNvPr id="4" name="Cabeçalho decisões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Decisões</a:t>
            </a:r>
            <a:endParaRPr lang="en-US" sz="2600" dirty="0"/>
          </a:p>
        </p:txBody>
      </p:sp>
      <p:sp>
        <p:nvSpPr>
          <p:cNvPr id="5" name="Cabeçalho limites"/>
          <p:cNvSpPr txBox="1"/>
          <p:nvPr/>
        </p:nvSpPr>
        <p:spPr>
          <a:xfrm>
            <a:off x="6199632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Limites</a:t>
            </a:r>
            <a:endParaRPr lang="en-US" sz="2600" dirty="0"/>
          </a:p>
        </p:txBody>
      </p:sp>
      <p:sp>
        <p:nvSpPr>
          <p:cNvPr id="6" name="Decisão 1"/>
          <p:cNvSpPr/>
          <p:nvPr/>
        </p:nvSpPr>
        <p:spPr>
          <a:xfrm>
            <a:off x="548640" y="1965960"/>
            <a:ext cx="544068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7" name="Marcador decisão 1"/>
          <p:cNvSpPr/>
          <p:nvPr/>
        </p:nvSpPr>
        <p:spPr>
          <a:xfrm>
            <a:off x="822960" y="222656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o decisão 1"/>
          <p:cNvSpPr txBox="1"/>
          <p:nvPr/>
        </p:nvSpPr>
        <p:spPr>
          <a:xfrm>
            <a:off x="128016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Vocabulário que sugere a operação</a:t>
            </a:r>
            <a:endParaRPr lang="en-US" sz="1800" dirty="0"/>
          </a:p>
        </p:txBody>
      </p:sp>
      <p:sp>
        <p:nvSpPr>
          <p:cNvPr id="9" name="Decisão 2"/>
          <p:cNvSpPr/>
          <p:nvPr/>
        </p:nvSpPr>
        <p:spPr>
          <a:xfrm>
            <a:off x="548640" y="2852928"/>
            <a:ext cx="544068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0" name="Marcador decisão 2"/>
          <p:cNvSpPr/>
          <p:nvPr/>
        </p:nvSpPr>
        <p:spPr>
          <a:xfrm>
            <a:off x="822960" y="311353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o decisão 2"/>
          <p:cNvSpPr txBox="1"/>
          <p:nvPr/>
        </p:nvSpPr>
        <p:spPr>
          <a:xfrm>
            <a:off x="1280160" y="28529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Tipos explícitos e escopo global</a:t>
            </a:r>
            <a:endParaRPr lang="en-US" sz="1800" dirty="0"/>
          </a:p>
        </p:txBody>
      </p:sp>
      <p:sp>
        <p:nvSpPr>
          <p:cNvPr id="12" name="Decisão 3"/>
          <p:cNvSpPr/>
          <p:nvPr/>
        </p:nvSpPr>
        <p:spPr>
          <a:xfrm>
            <a:off x="548640" y="3739896"/>
            <a:ext cx="544068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3" name="Marcador decisão 3"/>
          <p:cNvSpPr/>
          <p:nvPr/>
        </p:nvSpPr>
        <p:spPr>
          <a:xfrm>
            <a:off x="822960" y="400050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o decisão 3"/>
          <p:cNvSpPr txBox="1"/>
          <p:nvPr/>
        </p:nvSpPr>
        <p:spPr>
          <a:xfrm>
            <a:off x="1280160" y="373989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Blocos fechados e geração por AST</a:t>
            </a:r>
            <a:endParaRPr lang="en-US" sz="1800" dirty="0"/>
          </a:p>
        </p:txBody>
      </p:sp>
      <p:sp>
        <p:nvSpPr>
          <p:cNvPr id="15" name="Decisão 4"/>
          <p:cNvSpPr/>
          <p:nvPr/>
        </p:nvSpPr>
        <p:spPr>
          <a:xfrm>
            <a:off x="548640" y="4626864"/>
            <a:ext cx="544068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16" name="Marcador decisão 4"/>
          <p:cNvSpPr/>
          <p:nvPr/>
        </p:nvSpPr>
        <p:spPr>
          <a:xfrm>
            <a:off x="822960" y="488746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o decisão 4"/>
          <p:cNvSpPr txBox="1"/>
          <p:nvPr/>
        </p:nvSpPr>
        <p:spPr>
          <a:xfrm>
            <a:off x="1280160" y="462686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Python como destino, com verificação estática na MemeScript</a:t>
            </a:r>
            <a:endParaRPr lang="en-US" sz="1800" dirty="0"/>
          </a:p>
        </p:txBody>
      </p:sp>
      <p:sp>
        <p:nvSpPr>
          <p:cNvPr id="18" name="Limite 1"/>
          <p:cNvSpPr/>
          <p:nvPr/>
        </p:nvSpPr>
        <p:spPr>
          <a:xfrm>
            <a:off x="6199632" y="1965960"/>
            <a:ext cx="5440680" cy="1664208"/>
          </a:xfrm>
          <a:prstGeom prst="roundRect">
            <a:avLst>
              <a:gd name="adj" fmla="val 6593"/>
            </a:avLst>
          </a:prstGeom>
          <a:solidFill>
            <a:schemeClr val="tx2"/>
          </a:solidFill>
          <a:ln/>
        </p:spPr>
      </p:sp>
      <p:sp>
        <p:nvSpPr>
          <p:cNvPr id="19" name="Marcador limite 1"/>
          <p:cNvSpPr/>
          <p:nvPr/>
        </p:nvSpPr>
        <p:spPr>
          <a:xfrm>
            <a:off x="6473952" y="2670048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o limite 1"/>
          <p:cNvSpPr txBox="1"/>
          <p:nvPr/>
        </p:nvSpPr>
        <p:spPr>
          <a:xfrm>
            <a:off x="6931152" y="1965960"/>
            <a:ext cx="45720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Sem funções, vetores ou operadores lógicos compostos</a:t>
            </a:r>
            <a:endParaRPr lang="en-US" sz="2000" dirty="0"/>
          </a:p>
        </p:txBody>
      </p:sp>
      <p:sp>
        <p:nvSpPr>
          <p:cNvPr id="21" name="Limite 2"/>
          <p:cNvSpPr/>
          <p:nvPr/>
        </p:nvSpPr>
        <p:spPr>
          <a:xfrm>
            <a:off x="6199632" y="3739896"/>
            <a:ext cx="5440680" cy="1664208"/>
          </a:xfrm>
          <a:prstGeom prst="roundRect">
            <a:avLst>
              <a:gd name="adj" fmla="val 6593"/>
            </a:avLst>
          </a:prstGeom>
          <a:solidFill>
            <a:schemeClr val="tx2"/>
          </a:solidFill>
          <a:ln/>
        </p:spPr>
      </p:sp>
      <p:sp>
        <p:nvSpPr>
          <p:cNvPr id="22" name="Marcador limite 2"/>
          <p:cNvSpPr/>
          <p:nvPr/>
        </p:nvSpPr>
        <p:spPr>
          <a:xfrm>
            <a:off x="6473952" y="444398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o limite 2"/>
          <p:cNvSpPr txBox="1"/>
          <p:nvPr/>
        </p:nvSpPr>
        <p:spPr>
          <a:xfrm>
            <a:off x="6931152" y="3739896"/>
            <a:ext cx="45720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Erros de entrada e divisão por zero ocorrem na execução</a:t>
            </a:r>
            <a:endParaRPr lang="en-US" sz="2000" dirty="0"/>
          </a:p>
        </p:txBody>
      </p:sp>
      <p:sp>
        <p:nvSpPr>
          <p:cNvPr id="24" name="Aviso IA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/>
        </p:spPr>
      </p:sp>
      <p:sp>
        <p:nvSpPr>
          <p:cNvPr id="25" name="Texto aviso IA"/>
          <p:cNvSpPr txBox="1"/>
          <p:nvPr/>
        </p:nvSpPr>
        <p:spPr>
          <a:xfrm>
            <a:off x="548640" y="56692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Esta versão contou com assistência de IA na elaboração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meScript">
  <a:themeElements>
    <a:clrScheme name="MemeScript">
      <a:dk1>
        <a:srgbClr val="15121F"/>
      </a:dk1>
      <a:lt1>
        <a:srgbClr val="FFFFFF"/>
      </a:lt1>
      <a:dk2>
        <a:srgbClr val="3B3556"/>
      </a:dk2>
      <a:lt2>
        <a:srgbClr val="F4F1FF"/>
      </a:lt2>
      <a:accent1>
        <a:srgbClr val="FFD60A"/>
      </a:accent1>
      <a:accent2>
        <a:srgbClr val="FF4D8D"/>
      </a:accent2>
      <a:accent3>
        <a:srgbClr val="7C5CFF"/>
      </a:accent3>
      <a:accent4>
        <a:srgbClr val="2EE6A6"/>
      </a:accent4>
      <a:accent5>
        <a:srgbClr val="FF8A3D"/>
      </a:accent5>
      <a:accent6>
        <a:srgbClr val="8B87A8"/>
      </a:accent6>
      <a:hlink>
        <a:srgbClr val="7C5CFF"/>
      </a:hlink>
      <a:folHlink>
        <a:srgbClr val="8B87A8"/>
      </a:folHlink>
    </a:clrScheme>
    <a:fontScheme name="MemeScript">
      <a:majorFont>
        <a:latin typeface="Impac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MemeScript</dc:title>
  <dc:subject>PptxGenJS Presentation</dc:subject>
  <dc:creator>Pedro Rockenbach Frosi</dc:creator>
  <cp:lastModifiedBy>Pedro Rockenbach Frosi</cp:lastModifiedBy>
  <cp:revision>1</cp:revision>
  <dcterms:created xsi:type="dcterms:W3CDTF">2026-10-06T22:57:27Z</dcterms:created>
  <dcterms:modified xsi:type="dcterms:W3CDTF">2026-10-06T22:57:27Z</dcterms:modified>
</cp:coreProperties>
</file>