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4e2deaa1e4304780" Type="http://schemas.openxmlformats.org/officeDocument/2006/relationships/officeDocument" Target="ppt/presentation.xml"/><Relationship Id="Rf395ce89c03c41f3" Type="http://schemas.openxmlformats.org/package/2006/relationships/metadata/core-properties" Target="docProps/core.xml"/><Relationship Id="Rfe16f6fb279e41cd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4a70b7d64c42ba"/>
  </p:sldMasterIdLst>
  <p:notesMasterIdLst>
    <p:notesMasterId xmlns:r="http://schemas.openxmlformats.org/officeDocument/2006/relationships" r:id="R019af5733c614612"/>
  </p:notesMasterIdLst>
  <p:sldIdLst>
    <p:sldId xmlns:r="http://schemas.openxmlformats.org/officeDocument/2006/relationships" id="256" r:id="R7bb8d22069584399"/>
    <p:sldId xmlns:r="http://schemas.openxmlformats.org/officeDocument/2006/relationships" id="257" r:id="Re40de3aeaa8142a1"/>
    <p:sldId xmlns:r="http://schemas.openxmlformats.org/officeDocument/2006/relationships" id="258" r:id="Rd73e779da07e4de2"/>
    <p:sldId xmlns:r="http://schemas.openxmlformats.org/officeDocument/2006/relationships" id="259" r:id="Rfcbf0f4b33a140dd"/>
    <p:sldId xmlns:r="http://schemas.openxmlformats.org/officeDocument/2006/relationships" id="260" r:id="R49a6097d11c14253"/>
    <p:sldId xmlns:r="http://schemas.openxmlformats.org/officeDocument/2006/relationships" id="261" r:id="Re2bb170225c04dc3"/>
    <p:sldId xmlns:r="http://schemas.openxmlformats.org/officeDocument/2006/relationships" id="262" r:id="R9e8b9a1dc39e443d"/>
    <p:sldId xmlns:r="http://schemas.openxmlformats.org/officeDocument/2006/relationships" id="263" r:id="Rfe1a83919e6842da"/>
    <p:sldId xmlns:r="http://schemas.openxmlformats.org/officeDocument/2006/relationships" id="264" r:id="Rd9cf7c2dbe334de0"/>
    <p:sldId xmlns:r="http://schemas.openxmlformats.org/officeDocument/2006/relationships" id="265" r:id="Rb3e38ff52964444f"/>
    <p:sldId xmlns:r="http://schemas.openxmlformats.org/officeDocument/2006/relationships" id="266" r:id="R0b45f87daebc48a4"/>
    <p:sldId xmlns:r="http://schemas.openxmlformats.org/officeDocument/2006/relationships" id="267" r:id="R42315bf69fd14619"/>
    <p:sldId xmlns:r="http://schemas.openxmlformats.org/officeDocument/2006/relationships" id="268" r:id="R4753540035bc4709"/>
    <p:sldId xmlns:r="http://schemas.openxmlformats.org/officeDocument/2006/relationships" id="269" r:id="Rdfe91467e14746e0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19af5733c614612" Type="http://schemas.openxmlformats.org/officeDocument/2006/relationships/notesMaster" Target="notesMasters/notesMaster1.xml"/><Relationship Id="R0b45f87daebc48a4" Type="http://schemas.openxmlformats.org/officeDocument/2006/relationships/slide" Target="slides/slide11.xml"/><Relationship Id="R42315bf69fd14619" Type="http://schemas.openxmlformats.org/officeDocument/2006/relationships/slide" Target="slides/slide12.xml"/><Relationship Id="R46aeff60fb804f2b" Type="http://schemas.openxmlformats.org/officeDocument/2006/relationships/theme" Target="theme/theme1.xml"/><Relationship Id="R4753540035bc4709" Type="http://schemas.openxmlformats.org/officeDocument/2006/relationships/slide" Target="slides/slide13.xml"/><Relationship Id="R49a6097d11c14253" Type="http://schemas.openxmlformats.org/officeDocument/2006/relationships/slide" Target="slides/slide5.xml"/><Relationship Id="R7bb8d22069584399" Type="http://schemas.openxmlformats.org/officeDocument/2006/relationships/slide" Target="slides/slide1.xml"/><Relationship Id="R9e8b9a1dc39e443d" Type="http://schemas.openxmlformats.org/officeDocument/2006/relationships/slide" Target="slides/slide7.xml"/><Relationship Id="Rb3e38ff52964444f" Type="http://schemas.openxmlformats.org/officeDocument/2006/relationships/slide" Target="slides/slide10.xml"/><Relationship Id="Rbbb9a197493241ba" Type="http://schemas.openxmlformats.org/officeDocument/2006/relationships/presProps" Target="presProps.xml"/><Relationship Id="Rd73e779da07e4de2" Type="http://schemas.openxmlformats.org/officeDocument/2006/relationships/slide" Target="slides/slide3.xml"/><Relationship Id="Rd9cf7c2dbe334de0" Type="http://schemas.openxmlformats.org/officeDocument/2006/relationships/slide" Target="slides/slide9.xml"/><Relationship Id="Rde6499af789345e9" Type="http://schemas.openxmlformats.org/officeDocument/2006/relationships/viewProps" Target="viewProps.xml"/><Relationship Id="Rdfe91467e14746e0" Type="http://schemas.openxmlformats.org/officeDocument/2006/relationships/slide" Target="slides/slide14.xml"/><Relationship Id="Re24a70b7d64c42ba" Type="http://schemas.openxmlformats.org/officeDocument/2006/relationships/slideMaster" Target="slideMasters/slideMaster1.xml"/><Relationship Id="Re2bb170225c04dc3" Type="http://schemas.openxmlformats.org/officeDocument/2006/relationships/slide" Target="slides/slide6.xml"/><Relationship Id="Re40de3aeaa8142a1" Type="http://schemas.openxmlformats.org/officeDocument/2006/relationships/slide" Target="slides/slide2.xml"/><Relationship Id="Rfcbf0f4b33a140dd" Type="http://schemas.openxmlformats.org/officeDocument/2006/relationships/slide" Target="slides/slide4.xml"/><Relationship Id="Rfe1a83919e6842da" Type="http://schemas.openxmlformats.org/officeDocument/2006/relationships/slide" Target="slides/slide8.xml"/><Relationship Id="Rfff47d827a25437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70d80aba7a2a475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MemeScript">
  <a:themeElements>
    <a:clrScheme name="MemeScript">
      <a:dk1>
        <a:srgbClr val="15121F"/>
      </a:dk1>
      <a:lt1>
        <a:srgbClr val="FFFFFF"/>
      </a:lt1>
      <a:dk2>
        <a:srgbClr val="3B3556"/>
      </a:dk2>
      <a:lt2>
        <a:srgbClr val="F4F1FF"/>
      </a:lt2>
      <a:accent1>
        <a:srgbClr val="FFD60A"/>
      </a:accent1>
      <a:accent2>
        <a:srgbClr val="FF4D8D"/>
      </a:accent2>
      <a:accent3>
        <a:srgbClr val="7C5CFF"/>
      </a:accent3>
      <a:accent4>
        <a:srgbClr val="2EE6A6"/>
      </a:accent4>
      <a:accent5>
        <a:srgbClr val="FF8A3D"/>
      </a:accent5>
      <a:accent6>
        <a:srgbClr val="8B87A8"/>
      </a:accent6>
      <a:hlink>
        <a:srgbClr val="7C5CFF"/>
      </a:hlink>
      <a:folHlink>
        <a:srgbClr val="8B87A8"/>
      </a:folHlink>
    </a:clrScheme>
    <a:fontScheme name="MemeScript">
      <a:majorFont>
        <a:latin typeface="Impac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emeScri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77277bf4a7f440c" Type="http://schemas.openxmlformats.org/officeDocument/2006/relationships/slide" Target="../slides/slide1.xml"/><Relationship Id="Rd4eff38936d841ec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3fe7964f755d4e0f" Type="http://schemas.openxmlformats.org/officeDocument/2006/relationships/slide" Target="../slides/slide2.xml"/><Relationship Id="R81514cf5b32b4eb5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9b9efb2d07ee4b14" Type="http://schemas.openxmlformats.org/officeDocument/2006/relationships/slide" Target="../slides/slide3.xml"/><Relationship Id="Ra2af3be3588847d8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addc852e2b4404d" Type="http://schemas.openxmlformats.org/officeDocument/2006/relationships/notesMaster" Target="../notesMasters/notesMaster1.xml"/><Relationship Id="Rd3bf6ae53aa645a5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b5e08ae59f944ffd" Type="http://schemas.openxmlformats.org/officeDocument/2006/relationships/notesMaster" Target="../notesMasters/notesMaster1.xml"/><Relationship Id="Reff074e22355473e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9460425f6884999" Type="http://schemas.openxmlformats.org/officeDocument/2006/relationships/notesMaster" Target="../notesMasters/notesMaster1.xml"/><Relationship Id="R900518f0eb3148eb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5500d68d6aa94da2" Type="http://schemas.openxmlformats.org/officeDocument/2006/relationships/slide" Target="../slides/slide7.xml"/><Relationship Id="R82eb90b98b6143bb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1e8981e0bde14176" Type="http://schemas.openxmlformats.org/officeDocument/2006/relationships/slide" Target="../slides/slide8.xml"/><Relationship Id="R9ced5225f4c94e49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4f6e1f494296472b" Type="http://schemas.openxmlformats.org/officeDocument/2006/relationships/notesMaster" Target="../notesMasters/notesMaster1.xml"/><Relationship Id="R52989695562741b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0b175d16dc8b4f95" Type="http://schemas.openxmlformats.org/officeDocument/2006/relationships/slide" Target="../slides/slide10.xml"/><Relationship Id="R7ab1d27ec14340bc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383b73a09004b26" Type="http://schemas.openxmlformats.org/officeDocument/2006/relationships/notesMaster" Target="../notesMasters/notesMaster1.xml"/><Relationship Id="Rcf89558c2c9f4f03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268c2c764ef54719" Type="http://schemas.openxmlformats.org/officeDocument/2006/relationships/slide" Target="../slides/slide12.xml"/><Relationship Id="Rb34b22b4320643b3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7732a28b279648a4" Type="http://schemas.openxmlformats.org/officeDocument/2006/relationships/notesMaster" Target="../notesMasters/notesMaster1.xml"/><Relationship Id="R7cae51907bc041c4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cf492231c2e0416b" Type="http://schemas.openxmlformats.org/officeDocument/2006/relationships/notesMaster" Target="../notesMasters/notesMaster1.xml"/><Relationship Id="Rfd2275bf3cff49c2" Type="http://schemas.openxmlformats.org/officeDocument/2006/relationships/slide" Target="../slides/slide14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“A MemeScript é nossa proposta de linguagem baseada em memes. Ela possui tipos explícitos e um transpilador para Python. Vamos mostrar a especificação, as etapas de análise e a execução de exemplos válidos e inválidos.”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“Escolhemos comandos que sugerem sua função. RECEBA atribui um valor. AMOSTRADINHO mostra um resultado. PODE_ISSO_ARNALDO verifica uma condição. BORA_BILL repete e DESCANSAR_NE interrompe o laço. O prefixo SABOR adapta o meme à declaração de tipos. Usamos sublinhados e grafia fixa para reconhecer cada palavra reservada como um identificador completo.”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Referências temáticas: https://redeglobo.globo.com/rj/tvriosul/Quem-Somos/noticia/pode-isso-arnaldo-novo-quadro-do-rj1-com-arnaldo-cezar-coelho.ghtml ; https://gshow.globo.com/tv/noticia/publico-se-diverte-revendo-quadro-do-domingao-que-deu-origem-ao-classico-meme-do-faustao-errou.ghtml ; https://www.cnnbrasil.com.br/pop/veja-os-memes-que-bombaram-nas-redes-sociais-em-2022/ ; https://exame.com/pop/sabor-energetico-entenda-o-meme-de-toguro-que-conquistou-ate-a-cimed/ . As associações a comandos são decisões próprias.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“A linguagem declara inteiro, real e texto. Exigimos inicialização e um único escopo global, com todas as declarações antes dos comandos. Um inteiro pode virar real, mas um real não vira inteiro implicitamente. A divisão sempre produz real. Comparações produzem o tipo lógico interno usado nas condições.”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“O lexer reconhece palavras e símbolos. O parser valida a estrutura e produz a AST. A análise semântica consulta a tabela de símbolos e verifica tipos. O gerador só recebe a árvore depois da validação. A interface salva o Python apenas quando todas as fases passam.”</a:t>
            </a:r>
            <a:br/>
            <a:br/>
            <a:r>
              <a:t>Arquivos correspondentes: lexer.py, parser.py, semantic.py e codegen.py. compiler.py coordena as fases.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“O lexer usa expressões regulares. Em RECEBA energia = 2 + 3 * 4, reconhecemos a reservada, o identificador, os operadores e os números. Cada token guarda lexema, valor, linha e coluna. Espaços e comentários são descartados. Maior casamento permite reconhecer &gt;= e == como tokens completos.”</a:t>
            </a:r>
            <a:br/>
            <a:br/>
            <a:r>
              <a:t>O exemplo também contém =, *, 3, 4 e ;. A tabela destaca algumas categorias. Sigma: valores escalares Unicode em UTF-8. Identificadores usam ASCII.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“A gramática completa está no relatório e em gramatica.ebnf. O símbolo inicial é program. A primeira parte reconhece declarações, e a seguinte reconhece comandos. Cada ATA fecha a estrutura mais interna. ERROU e os dois ramos pertencem ao mesmo condicional, fechado por um único ATA. Não dependemos de indentação no fonte.”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Recorte da EBNF. A gramática completa contém 17 não terminais e está em docs/gramatica.ebnf. S = program. A exigência de EOF rejeita conteúdo após JA_ACABOU_JESSICA.</a:t>
            </a:r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Novos delimitadores: E_HORA_DO_SHOW inicia o programa e JA_ACABOU_JESSICA o encerra. Referências: https://33giga.com.br/e-hora-do-show-confira-memes-saidos-do-iconico-video-de-bambam-e-companhia ; https://museudememes.com.br/collection/ja-acabou-jessica 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“Na expressão 2 + 3 * 4, a multiplicação é o filho direito da soma. A estrutura faz a multiplicação ocorrer primeiro. Em (2 + 3) * 4, a soma passa a ser um filho da multiplicação. O parser constrói essas árvores antes de gerar código, e os resultados são 14 e 20.”</a:t>
            </a:r>
            <a:br/>
            <a:br/>
            <a:r>
              <a:t>Os trechos mostram um esquema resumido da AST, com literais abreviados e campos omitidos. A JSON completa tem node, value, type_name, line e column. Mostrar --ast no terminal.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“Um programa pode ter forma gramatical correta e mesmo assim usar um nome inexistente. A tabela de símbolos rejeita esse caso, redeclarações e tipos incompatíveis. O nome só entra na tabela depois de validar seu inicializador. Mantemos uma profundidade de laço para impedir DESCANSAR_NE fora de BORA_BILL.”</a:t>
            </a:r>
            <a:br/>
            <a:br/>
            <a:r>
              <a:t>Exemplo de estrutura válida e incompatibilidade detectada depois do parsing. A tabela real de símbolos é um dicionário Python. O tipo lógico é interno, não declarável.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“Percorremos os nós da AST para emitir Python. Preservamos o agrupamento com parênteses e geramos a indentação conforme o aninhamento. O prefixo ms_var_ evita colisões com palavras e funções do Python. Uma variável chamada print pode existir sem sobrescrever a função print.”</a:t>
            </a:r>
            <a:br/>
            <a:br/>
            <a:r>
              <a:t>Trechos de fonte e destino. O gerador visita nós e não substitui palavras. Variáveis reais recebem float na atribuição. Literais de texto usam repr.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“O programa pede o limite de cafés. Cada café aumenta a energia em 2 + 3 * 4, ou seja, 14. Com limite 10, a energia chega a 70 no quinto café e o break encerra o laço. O gasto é 22.5. Também exibimos uma expressão com parênteses, que produz 20.”</a:t>
            </a:r>
            <a:br/>
            <a:br/>
            <a:r>
              <a:t>Fonte: exemplos/02_valido_completo.meme. Entrada 10. Preço por café 4.50. Saída conferida por teste de integração com o arquivo .out.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Abram o terminal na pasta do projeto. Mostrem o exemplo básico com tokens, AST e símbolos. Depois transpilem o completo, abram o Python e executem com entrada 10. Usem os comandos do checklist abaixo. O arquivo demo.py é uma alternativa reproduzível para mostrar todos os casos rapidamente.</a:t>
            </a:r>
            <a:br/>
            <a:br/>
            <a:r>
              <a:t>Executar na pasta do projeto. Linux: python3. Windows: python ou py -3. Acrescentar --tokens e --symbols à inspeção quando útil. O comando python demo.py demonstra todos os exemplos.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“O exemplo com @ falha no lexer. Uma declaração sem expressão falha no parser. Usar uma variável não declarada ou atribuir texto a um inteiro falha na semântica. As mensagens indicam linha e coluna. Como a geração fica depois dessas fases, um programa inválido não produz um novo arquivo Python.”</a:t>
            </a:r>
            <a:br/>
            <a:br/>
            <a:r>
              <a:t>Mostrar os arquivos 03, 04 e 05 com --check. Mostrar também 07 para incompatibilidade de tipos. Um arquivo Python antigo permanece intacto, conforme teste de CLI.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“A entrega inclui dez arquivos de exemplo e 32 métodos de teste automatizado, alguns com múltiplos casos. Verificamos o comportamento do destino, a AST, as mensagens e a interface. A validação registrada foi feita em Linux com Python 3.12.14. A suíte pode ser executada pelo professor.”</a:t>
            </a:r>
            <a:br/>
            <a:br/>
            <a:r>
              <a:t>Resultado desta versão: 32 métodos, alguns com subcasos, passaram em Linux com Python 3.12.14. Não representa benchmark. Registro: docs/resultados_validacao.txt.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“Nossas três decisões próprias mudam a gramática em relação à BIRL-Lite. Primeiro, a atribuição começa com RECEBA, então todo comando começa com uma palavra reservada e o parser decide pelo primeiro token. Segundo, as declarações ficam numa seção no início do programa e sempre têm valor inicial. Terceiro, ATA fecha os blocos e JA_ACABOU_JESSICA fecha o programa, enquanto a BIRL usa a mesma palavra para tudo. Python foi o destino informado ao professor no primeiro marco, e a verificação de tipos é toda da MemeScript. A versão não tem funções nem vetores; divisão por zero e entrada inválida são erros de execução.”</a:t>
            </a:r>
            <a:br/>
            <a:br/>
            <a:r>
              <a:t>Sobre IA: usamos o ChatGPT no desenvolvimento e o Claude na revisão final do relatório, da apresentação e do código. Todo o material foi revisado e testado pelo grupo.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a75f7399bcd4b87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5c8fddbe64714db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b7bdb162bdf34c95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3925f48ee49f4e6b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CAPA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>
  <p:cSld name="CLARO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61B2F59-CF6F-4CA0-8645-ACB2DA3A7FF7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365760"/>
            <a:ext cx="110916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4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4000"/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CAFAE23-A042-4081-84F1-BD085BF1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2"/>
                </a:solidFill>
              </a:rPr>
              <a:t>MemeScript  ·  Linguagens Formais e Compiladores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CE034A9-1C89-4872-B164-4BF936B14BB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0972800" y="6419088"/>
            <a:ext cx="66751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1003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ESCURO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CF4C90A-E310-423F-BC85-5E902858D799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365760"/>
            <a:ext cx="110916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4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4000"/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767C141-CC17-4930-BD3C-98F4330F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accent6"/>
                </a:solidFill>
              </a:rPr>
              <a:t>MemeScript  ·  Linguagens Formais e Compiladores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4C9FB24-E0B9-4267-A370-1C9B593146F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0972800" y="6419088"/>
            <a:ext cx="66751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1004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993fb4e63ed4308" Type="http://schemas.openxmlformats.org/officeDocument/2006/relationships/slideLayout" Target="../slideLayouts/slideLayout2.xml"/><Relationship Id="R21c216f9c49049ae" Type="http://schemas.openxmlformats.org/officeDocument/2006/relationships/slideLayout" Target="../slideLayouts/slideLayout1.xml"/><Relationship Id="Ra14e7fa63d134e59" Type="http://schemas.openxmlformats.org/officeDocument/2006/relationships/slideLayout" Target="../slideLayouts/slideLayout3.xml"/><Relationship Id="Rcef2fd95e4ad4cf9" Type="http://schemas.openxmlformats.org/officeDocument/2006/relationships/theme" Target="theme/theme2.xml"/><Relationship Id="Re9709031ce9941e8" Type="http://schemas.openxmlformats.org/officeDocument/2006/relationships/slideLayout" Target="../slideLayouts/slideLayout4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F834EC7-A0DB-46F6-A474-1B3BCE6232F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0972800" y="6419088"/>
            <a:ext cx="66751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c216f9c49049ae"/>
    <p:sldLayoutId xmlns:r="http://schemas.openxmlformats.org/officeDocument/2006/relationships" id="2147483650" r:id="R1993fb4e63ed4308"/>
    <p:sldLayoutId xmlns:r="http://schemas.openxmlformats.org/officeDocument/2006/relationships" id="2147483651" r:id="Ra14e7fa63d134e59"/>
    <p:sldLayoutId xmlns:r="http://schemas.openxmlformats.org/officeDocument/2006/relationships" id="2147483652" r:id="Re9709031ce9941e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MemeScript">
  <a:themeElements>
    <a:clrScheme name="MemeScript">
      <a:dk1>
        <a:srgbClr val="15121F"/>
      </a:dk1>
      <a:lt1>
        <a:srgbClr val="FFFFFF"/>
      </a:lt1>
      <a:dk2>
        <a:srgbClr val="3B3556"/>
      </a:dk2>
      <a:lt2>
        <a:srgbClr val="F4F1FF"/>
      </a:lt2>
      <a:accent1>
        <a:srgbClr val="FFD60A"/>
      </a:accent1>
      <a:accent2>
        <a:srgbClr val="FF4D8D"/>
      </a:accent2>
      <a:accent3>
        <a:srgbClr val="7C5CFF"/>
      </a:accent3>
      <a:accent4>
        <a:srgbClr val="2EE6A6"/>
      </a:accent4>
      <a:accent5>
        <a:srgbClr val="FF8A3D"/>
      </a:accent5>
      <a:accent6>
        <a:srgbClr val="8B87A8"/>
      </a:accent6>
      <a:hlink>
        <a:srgbClr val="7C5CFF"/>
      </a:hlink>
      <a:folHlink>
        <a:srgbClr val="8B87A8"/>
      </a:folHlink>
    </a:clrScheme>
    <a:fontScheme name="MemeScript">
      <a:majorFont>
        <a:latin typeface="Impac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emeScri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1f71b7977214117" Type="http://schemas.openxmlformats.org/officeDocument/2006/relationships/notesSlide" Target="../notesSlides/notesSlide1.xml"/><Relationship Id="R288dfd17859d412f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33bc2e6a66e04867" Type="http://schemas.openxmlformats.org/officeDocument/2006/relationships/slideLayout" Target="../slideLayouts/slideLayout3.xml"/><Relationship Id="R558ab82c1dbc456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e3bed94f55f450c" Type="http://schemas.openxmlformats.org/officeDocument/2006/relationships/slideLayout" Target="../slideLayouts/slideLayout3.xml"/><Relationship Id="R8aae225c40e3490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2835e4ce6a71494c" Type="http://schemas.openxmlformats.org/officeDocument/2006/relationships/slideLayout" Target="../slideLayouts/slideLayout3.xml"/><Relationship Id="Rf0f5a7caa0f6451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56c35c215afa48be" Type="http://schemas.openxmlformats.org/officeDocument/2006/relationships/slideLayout" Target="../slideLayouts/slideLayout3.xml"/><Relationship Id="Rd1d2e497273345aa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868e34083df4c3e" Type="http://schemas.openxmlformats.org/officeDocument/2006/relationships/notesSlide" Target="../notesSlides/notesSlide6.xml"/><Relationship Id="R5bd66e087eca415d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1c1555cf27764334" Type="http://schemas.openxmlformats.org/officeDocument/2006/relationships/notesSlide" Target="../notesSlides/notesSlide7.xml"/><Relationship Id="R3aeed92e7a2d4fc3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88137e50a5664737" Type="http://schemas.openxmlformats.org/officeDocument/2006/relationships/slideLayout" Target="../slideLayouts/slideLayout3.xml"/><Relationship Id="Rc5b494ce5e2b458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54b001140b9b4e46" Type="http://schemas.openxmlformats.org/officeDocument/2006/relationships/notesSlide" Target="../notesSlides/notesSlide9.xml"/><Relationship Id="Rdf2646f9f9a54c20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10350ae76fe14208" Type="http://schemas.openxmlformats.org/officeDocument/2006/relationships/slideLayout" Target="../slideLayouts/slideLayout4.xml"/><Relationship Id="R1682d332d3ce4f8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1dd958a776fc47c7" Type="http://schemas.openxmlformats.org/officeDocument/2006/relationships/slideLayout" Target="../slideLayouts/slideLayout4.xml"/><Relationship Id="Rabc9035e101e43de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5ac7414e30c04a91" Type="http://schemas.openxmlformats.org/officeDocument/2006/relationships/notesSlide" Target="../notesSlides/notesSlide12.xml"/><Relationship Id="Rff301127f73e4915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5085325b7943455c" Type="http://schemas.openxmlformats.org/officeDocument/2006/relationships/notesSlide" Target="../notesSlides/notesSlide13.xml"/><Relationship Id="R747972c0feab4e2e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ad77da539e7241c7" Type="http://schemas.openxmlformats.org/officeDocument/2006/relationships/notesSlide" Target="../notesSlides/notesSlide14.xml"/><Relationship Id="Rf7579884e89a45d9" Type="http://schemas.openxmlformats.org/officeDocument/2006/relationships/slideLayout" Target="../slideLayouts/slideLayout4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elo versão">
            <a:extLst xmlns:a="http://schemas.openxmlformats.org/drawingml/2006/main">
              <a:ext uri="{FF2B5EF4-FFF2-40B4-BE49-F238E27FC236}">
                <a16:creationId xmlns:a16="http://schemas.microsoft.com/office/drawing/2014/main" id="{8CAF0FE9-C9B9-4D5B-9A90-8D58A237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640080" y="822960"/>
            <a:ext cx="210312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chemeClr val="accent1"/>
          </a:solidFill>
        </p:spPr>
      </p:sp>
      <p:sp>
        <p:nvSpPr>
          <p:cNvPr id="4" name="Texto selo">
            <a:extLst xmlns:a="http://schemas.openxmlformats.org/drawingml/2006/main">
              <a:ext uri="{FF2B5EF4-FFF2-40B4-BE49-F238E27FC236}">
                <a16:creationId xmlns:a16="http://schemas.microsoft.com/office/drawing/2014/main" id="{8BAB8B3F-8BA0-4B69-8B85-8A97DF94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640080" y="822960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chemeClr val="tx1"/>
                </a:solidFill>
              </a:rPr>
              <a:t>MemeScript 1.0</a:t>
            </a:r>
            <a:endParaRPr sz="1800"/>
          </a:p>
        </p:txBody>
      </p:sp>
      <p:sp>
        <p:nvSpPr>
          <p:cNvPr id="5" name="Título">
            <a:extLst xmlns:a="http://schemas.openxmlformats.org/drawingml/2006/main">
              <a:ext uri="{FF2B5EF4-FFF2-40B4-BE49-F238E27FC236}">
                <a16:creationId xmlns:a16="http://schemas.microsoft.com/office/drawing/2014/main" id="{2C5CE0AC-48BC-4BD9-99D0-983CFFFA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6766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0">
                <a:solidFill>
                  <a:schemeClr val="bg1"/>
                </a:solidFill>
                <a:latin typeface="Impact"/>
                <a:ea typeface="Impact"/>
                <a:cs typeface="Impact"/>
              </a:rPr>
              <a:t>MemeScript</a:t>
            </a:r>
            <a:endParaRPr sz="8800"/>
          </a:p>
        </p:txBody>
      </p:sp>
      <p:sp>
        <p:nvSpPr>
          <p:cNvPr id="6" name="Subtítulo">
            <a:extLst xmlns:a="http://schemas.openxmlformats.org/drawingml/2006/main">
              <a:ext uri="{FF2B5EF4-FFF2-40B4-BE49-F238E27FC236}">
                <a16:creationId xmlns:a16="http://schemas.microsoft.com/office/drawing/2014/main" id="{F1A88FA1-09D7-41F8-AA35-21A1BB3E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65836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>
                <a:solidFill>
                  <a:schemeClr val="bg1"/>
                </a:solidFill>
              </a:rPr>
              <a:t>Uma linguagem de memes</a:t>
            </a:r>
            <a:endParaRPr sz="2800"/>
          </a:p>
          <a:p xmlns:a="http://schemas.openxmlformats.org/drawingml/2006/main">
            <a:pPr marL="0" indent="0">
              <a:buNone/>
            </a:pPr>
            <a:r>
              <a:rPr sz="2800">
                <a:solidFill>
                  <a:schemeClr val="bg1"/>
                </a:solidFill>
              </a:rPr>
              <a:t>com transpilação para </a:t>
            </a:r>
            <a:r>
              <a:rPr sz="2800" b="1">
                <a:solidFill>
                  <a:schemeClr val="accent1"/>
                </a:solidFill>
              </a:rPr>
              <a:t>Python</a:t>
            </a:r>
            <a:endParaRPr sz="2800"/>
          </a:p>
        </p:txBody>
      </p:sp>
      <p:sp>
        <p:nvSpPr>
          <p:cNvPr id="7" name="Disciplina e grupo">
            <a:extLst xmlns:a="http://schemas.openxmlformats.org/drawingml/2006/main">
              <a:ext uri="{FF2B5EF4-FFF2-40B4-BE49-F238E27FC236}">
                <a16:creationId xmlns:a16="http://schemas.microsoft.com/office/drawing/2014/main" id="{86E1CF76-2374-46E1-8D10-D94E61A9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6400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6"/>
                </a:solidFill>
              </a:rPr>
              <a:t>Linguagens Formais e Compiladores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chemeClr val="accent6"/>
                </a:solidFill>
              </a:rPr>
              <a:t>Cristian dos Santos Siqueira · Marco Antônio Hendges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chemeClr val="accent6"/>
                </a:solidFill>
              </a:rPr>
              <a:t>Pedro Rockenbach Frosi · William Rafael Fagundes</a:t>
            </a:r>
            <a:endParaRPr sz="1600"/>
          </a:p>
        </p:txBody>
      </p:sp>
      <p:sp>
        <p:nvSpPr>
          <p:cNvPr id="8" name="Terminal">
            <a:extLst xmlns:a="http://schemas.openxmlformats.org/drawingml/2006/main">
              <a:ext uri="{FF2B5EF4-FFF2-40B4-BE49-F238E27FC236}">
                <a16:creationId xmlns:a16="http://schemas.microsoft.com/office/drawing/2014/main" id="{BEA67FAE-7C21-4D14-A0FE-92AD159A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554480"/>
            <a:ext cx="4114800" cy="32918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chemeClr val="tx2"/>
          </a:solidFill>
        </p:spPr>
      </p:sp>
      <p:sp>
        <p:nvSpPr>
          <p:cNvPr id="9" name="Ponto janela 1">
            <a:extLst xmlns:a="http://schemas.openxmlformats.org/drawingml/2006/main">
              <a:ext uri="{FF2B5EF4-FFF2-40B4-BE49-F238E27FC236}">
                <a16:creationId xmlns:a16="http://schemas.microsoft.com/office/drawing/2014/main" id="{94680C15-D39C-48DD-B31C-16F100A8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10512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</p:spPr>
      </p:sp>
      <p:sp>
        <p:nvSpPr>
          <p:cNvPr id="10" name="Ponto janela 2">
            <a:extLst xmlns:a="http://schemas.openxmlformats.org/drawingml/2006/main">
              <a:ext uri="{FF2B5EF4-FFF2-40B4-BE49-F238E27FC236}">
                <a16:creationId xmlns:a16="http://schemas.microsoft.com/office/drawing/2014/main" id="{FBBDC806-173C-4BEB-B3AF-C2AE768D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810512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sp>
        <p:nvSpPr>
          <p:cNvPr id="11" name="Ponto janela 3">
            <a:extLst xmlns:a="http://schemas.openxmlformats.org/drawingml/2006/main">
              <a:ext uri="{FF2B5EF4-FFF2-40B4-BE49-F238E27FC236}">
                <a16:creationId xmlns:a16="http://schemas.microsoft.com/office/drawing/2014/main" id="{50A42554-F088-47AA-A163-E6A2974F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810512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</p:spPr>
      </p:sp>
      <p:sp>
        <p:nvSpPr>
          <p:cNvPr id="12" name="Código MemeScript">
            <a:extLst xmlns:a="http://schemas.openxmlformats.org/drawingml/2006/main">
              <a:ext uri="{FF2B5EF4-FFF2-40B4-BE49-F238E27FC236}">
                <a16:creationId xmlns:a16="http://schemas.microsoft.com/office/drawing/2014/main" id="{4AFBFA1B-3494-4F4E-A955-B2BB2688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2316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RECEBA</a:t>
            </a:r>
            <a:r>
              <a:rPr sz="18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8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energia</a:t>
            </a:r>
            <a:r>
              <a:rPr sz="18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800" b="1">
                <a:solidFill>
                  <a:schemeClr val="accent2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8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</a:rPr>
              <a:t>67</a:t>
            </a:r>
            <a:r>
              <a:rPr sz="18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;</a:t>
            </a:r>
            <a:endParaRPr sz="1800"/>
          </a:p>
        </p:txBody>
      </p:sp>
      <p:sp>
        <p:nvSpPr>
          <p:cNvPr id="13" name="Seta transpila">
            <a:extLst xmlns:a="http://schemas.openxmlformats.org/drawingml/2006/main">
              <a:ext uri="{FF2B5EF4-FFF2-40B4-BE49-F238E27FC236}">
                <a16:creationId xmlns:a16="http://schemas.microsoft.com/office/drawing/2014/main" id="{48FB01BE-1468-430F-A671-3558B6D7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17520"/>
            <a:ext cx="365760" cy="50292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chemeClr val="accent1"/>
          </a:solidFill>
        </p:spPr>
      </p:sp>
      <p:sp>
        <p:nvSpPr>
          <p:cNvPr id="14" name="Código Python">
            <a:extLst xmlns:a="http://schemas.openxmlformats.org/drawingml/2006/main">
              <a:ext uri="{FF2B5EF4-FFF2-40B4-BE49-F238E27FC236}">
                <a16:creationId xmlns:a16="http://schemas.microsoft.com/office/drawing/2014/main" id="{5933273C-42C4-43B1-A2BC-512A64DF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4904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ms_var_</a:t>
            </a:r>
            <a:r>
              <a:rPr sz="18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energia</a:t>
            </a:r>
            <a:r>
              <a:rPr sz="18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800" b="1">
                <a:solidFill>
                  <a:schemeClr val="accent2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8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</a:rPr>
              <a:t>67</a:t>
            </a:r>
            <a:endParaRPr sz="1800"/>
          </a:p>
        </p:txBody>
      </p:sp>
      <p:sp>
        <p:nvSpPr>
          <p:cNvPr id="15" name="Legenda terminal">
            <a:extLst xmlns:a="http://schemas.openxmlformats.org/drawingml/2006/main">
              <a:ext uri="{FF2B5EF4-FFF2-40B4-BE49-F238E27FC236}">
                <a16:creationId xmlns:a16="http://schemas.microsoft.com/office/drawing/2014/main" id="{634E9A18-4984-4D5B-A795-A1129860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434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chemeClr val="accent6"/>
                </a:solidFill>
              </a:rPr>
              <a:t>transpilação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6359020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F77E97-3A12-4C87-9A25-E0B6956FDC13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365760"/>
            <a:ext cx="110916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>
                <a:solidFill>
                  <a:schemeClr val="tx1"/>
                </a:solidFill>
              </a:rPr>
              <a:t>Vocabulário da linguagem</a:t>
            </a:r>
            <a:endParaRPr sz="4000"/>
          </a:p>
        </p:txBody>
      </p:sp>
      <p:sp>
        <p:nvSpPr>
          <p:cNvPr id="4" name="Cartão RECEBA">
            <a:extLst xmlns:a="http://schemas.openxmlformats.org/drawingml/2006/main">
              <a:ext uri="{FF2B5EF4-FFF2-40B4-BE49-F238E27FC236}">
                <a16:creationId xmlns:a16="http://schemas.microsoft.com/office/drawing/2014/main" id="{05D3B874-F2DB-43AF-B7C9-B8B7D1CA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5440680" cy="987552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5" name="Chip RECEBA">
            <a:extLst xmlns:a="http://schemas.openxmlformats.org/drawingml/2006/main">
              <a:ext uri="{FF2B5EF4-FFF2-40B4-BE49-F238E27FC236}">
                <a16:creationId xmlns:a16="http://schemas.microsoft.com/office/drawing/2014/main" id="{B87CC060-40EA-432C-8FE4-929CFE0F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09928"/>
            <a:ext cx="2788920" cy="585216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chemeClr val="tx1"/>
          </a:solidFill>
        </p:spPr>
      </p:sp>
      <p:sp>
        <p:nvSpPr>
          <p:cNvPr id="6" name="Comando RECEBA">
            <a:extLst xmlns:a="http://schemas.openxmlformats.org/drawingml/2006/main">
              <a:ext uri="{FF2B5EF4-FFF2-40B4-BE49-F238E27FC236}">
                <a16:creationId xmlns:a16="http://schemas.microsoft.com/office/drawing/2014/main" id="{AFA595B6-B14D-4C0D-BE6F-E6B174B5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09928"/>
            <a:ext cx="278892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RECEBA</a:t>
            </a:r>
            <a:endParaRPr sz="1500"/>
          </a:p>
        </p:txBody>
      </p:sp>
      <p:sp>
        <p:nvSpPr>
          <p:cNvPr id="7" name="Função RECEBA">
            <a:extLst xmlns:a="http://schemas.openxmlformats.org/drawingml/2006/main">
              <a:ext uri="{FF2B5EF4-FFF2-40B4-BE49-F238E27FC236}">
                <a16:creationId xmlns:a16="http://schemas.microsoft.com/office/drawing/2014/main" id="{D5ED9E22-3E2C-464C-9F12-4DC8AE3B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618488"/>
            <a:ext cx="214884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chemeClr val="tx1"/>
                </a:solidFill>
              </a:rPr>
              <a:t>Atribuir um valor</a:t>
            </a:r>
            <a:endParaRPr sz="1600"/>
          </a:p>
        </p:txBody>
      </p:sp>
      <p:sp>
        <p:nvSpPr>
          <p:cNvPr id="8" name="Cartão AMOSTRADINHO">
            <a:extLst xmlns:a="http://schemas.openxmlformats.org/drawingml/2006/main">
              <a:ext uri="{FF2B5EF4-FFF2-40B4-BE49-F238E27FC236}">
                <a16:creationId xmlns:a16="http://schemas.microsoft.com/office/drawing/2014/main" id="{6545EEE8-8B56-424A-B753-6B4752F0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508760"/>
            <a:ext cx="5440680" cy="987552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9" name="Chip AMOSTRADINHO">
            <a:extLst xmlns:a="http://schemas.openxmlformats.org/drawingml/2006/main">
              <a:ext uri="{FF2B5EF4-FFF2-40B4-BE49-F238E27FC236}">
                <a16:creationId xmlns:a16="http://schemas.microsoft.com/office/drawing/2014/main" id="{DF57D76D-B8E5-49F4-BD10-E75F8655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709928"/>
            <a:ext cx="2788920" cy="585216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chemeClr val="tx1"/>
          </a:solidFill>
        </p:spPr>
      </p:sp>
      <p:sp>
        <p:nvSpPr>
          <p:cNvPr id="10" name="Comando AMOSTRADINHO">
            <a:extLst xmlns:a="http://schemas.openxmlformats.org/drawingml/2006/main">
              <a:ext uri="{FF2B5EF4-FFF2-40B4-BE49-F238E27FC236}">
                <a16:creationId xmlns:a16="http://schemas.microsoft.com/office/drawing/2014/main" id="{AAA0A1D5-DDD0-47A2-AC32-0A472A3B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709928"/>
            <a:ext cx="278892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AMOSTRADINHO</a:t>
            </a:r>
            <a:endParaRPr sz="1500"/>
          </a:p>
        </p:txBody>
      </p:sp>
      <p:sp>
        <p:nvSpPr>
          <p:cNvPr id="11" name="Função AMOSTRADINHO">
            <a:extLst xmlns:a="http://schemas.openxmlformats.org/drawingml/2006/main">
              <a:ext uri="{FF2B5EF4-FFF2-40B4-BE49-F238E27FC236}">
                <a16:creationId xmlns:a16="http://schemas.microsoft.com/office/drawing/2014/main" id="{707D707B-0621-4507-85B9-24A6F7DD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18488"/>
            <a:ext cx="214884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chemeClr val="tx1"/>
                </a:solidFill>
              </a:rPr>
              <a:t>Mostrar valores</a:t>
            </a:r>
            <a:endParaRPr sz="1600"/>
          </a:p>
        </p:txBody>
      </p:sp>
      <p:sp>
        <p:nvSpPr>
          <p:cNvPr id="12" name="Cartão QUERO_CAFE">
            <a:extLst xmlns:a="http://schemas.openxmlformats.org/drawingml/2006/main">
              <a:ext uri="{FF2B5EF4-FFF2-40B4-BE49-F238E27FC236}">
                <a16:creationId xmlns:a16="http://schemas.microsoft.com/office/drawing/2014/main" id="{F5202FE8-BD04-4E53-8E49-E9EE9BBD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79192"/>
            <a:ext cx="5440680" cy="987552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13" name="Chip QUERO_CAFE">
            <a:extLst xmlns:a="http://schemas.openxmlformats.org/drawingml/2006/main">
              <a:ext uri="{FF2B5EF4-FFF2-40B4-BE49-F238E27FC236}">
                <a16:creationId xmlns:a16="http://schemas.microsoft.com/office/drawing/2014/main" id="{215EC69B-C3EA-4B27-937D-77A77C3A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80360"/>
            <a:ext cx="2788920" cy="585216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chemeClr val="tx1"/>
          </a:solidFill>
        </p:spPr>
      </p:sp>
      <p:sp>
        <p:nvSpPr>
          <p:cNvPr id="14" name="Comando QUERO_CAFE">
            <a:extLst xmlns:a="http://schemas.openxmlformats.org/drawingml/2006/main">
              <a:ext uri="{FF2B5EF4-FFF2-40B4-BE49-F238E27FC236}">
                <a16:creationId xmlns:a16="http://schemas.microsoft.com/office/drawing/2014/main" id="{8BAC1ADC-3101-4F85-8931-8FF0728F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80360"/>
            <a:ext cx="278892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QUERO_CAFE</a:t>
            </a:r>
            <a:endParaRPr sz="1500"/>
          </a:p>
        </p:txBody>
      </p:sp>
      <p:sp>
        <p:nvSpPr>
          <p:cNvPr id="15" name="Função QUERO_CAFE">
            <a:extLst xmlns:a="http://schemas.openxmlformats.org/drawingml/2006/main">
              <a:ext uri="{FF2B5EF4-FFF2-40B4-BE49-F238E27FC236}">
                <a16:creationId xmlns:a16="http://schemas.microsoft.com/office/drawing/2014/main" id="{6AEEE2A8-7973-4AAC-9560-AD6C10DF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788920"/>
            <a:ext cx="214884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chemeClr val="tx1"/>
                </a:solidFill>
              </a:rPr>
              <a:t>Ler uma entrada</a:t>
            </a:r>
            <a:endParaRPr sz="1600"/>
          </a:p>
        </p:txBody>
      </p:sp>
      <p:sp>
        <p:nvSpPr>
          <p:cNvPr id="16" name="Cartão E_VERDADE_ESSE_BILETE">
            <a:extLst xmlns:a="http://schemas.openxmlformats.org/drawingml/2006/main">
              <a:ext uri="{FF2B5EF4-FFF2-40B4-BE49-F238E27FC236}">
                <a16:creationId xmlns:a16="http://schemas.microsoft.com/office/drawing/2014/main" id="{C4CF73E6-ECBC-414F-B2CC-2DBE8409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2679192"/>
            <a:ext cx="5440680" cy="987552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17" name="Chip E_VERDADE_ESSE_BILETE">
            <a:extLst xmlns:a="http://schemas.openxmlformats.org/drawingml/2006/main">
              <a:ext uri="{FF2B5EF4-FFF2-40B4-BE49-F238E27FC236}">
                <a16:creationId xmlns:a16="http://schemas.microsoft.com/office/drawing/2014/main" id="{7E57D171-A29E-4F0E-88E6-AEE8F5E9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880360"/>
            <a:ext cx="2788920" cy="585216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chemeClr val="tx1"/>
          </a:solidFill>
        </p:spPr>
      </p:sp>
      <p:sp>
        <p:nvSpPr>
          <p:cNvPr id="18" name="Comando E_VERDADE_ESSE_BILETE">
            <a:extLst xmlns:a="http://schemas.openxmlformats.org/drawingml/2006/main">
              <a:ext uri="{FF2B5EF4-FFF2-40B4-BE49-F238E27FC236}">
                <a16:creationId xmlns:a16="http://schemas.microsoft.com/office/drawing/2014/main" id="{D5689C1E-3D4F-4A50-B65C-C433EA41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880360"/>
            <a:ext cx="278892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PODE_ISSO_ARNALDO</a:t>
            </a:r>
            <a:endParaRPr sz="1500"/>
          </a:p>
        </p:txBody>
      </p:sp>
      <p:sp>
        <p:nvSpPr>
          <p:cNvPr id="19" name="Função E_VERDADE_ESSE_BILETE">
            <a:extLst xmlns:a="http://schemas.openxmlformats.org/drawingml/2006/main">
              <a:ext uri="{FF2B5EF4-FFF2-40B4-BE49-F238E27FC236}">
                <a16:creationId xmlns:a16="http://schemas.microsoft.com/office/drawing/2014/main" id="{85DD7454-A2B6-4EB4-9433-4E5287AF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88920"/>
            <a:ext cx="214884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chemeClr val="tx1"/>
                </a:solidFill>
              </a:rPr>
              <a:t>Verificar uma condição</a:t>
            </a:r>
            <a:endParaRPr sz="1600"/>
          </a:p>
        </p:txBody>
      </p:sp>
      <p:sp>
        <p:nvSpPr>
          <p:cNvPr id="20" name="Cartão SO_QUE_NAO">
            <a:extLst xmlns:a="http://schemas.openxmlformats.org/drawingml/2006/main">
              <a:ext uri="{FF2B5EF4-FFF2-40B4-BE49-F238E27FC236}">
                <a16:creationId xmlns:a16="http://schemas.microsoft.com/office/drawing/2014/main" id="{EF6AC026-2367-483A-BBD0-24D19197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9624"/>
            <a:ext cx="5440680" cy="987552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21" name="Chip SO_QUE_NAO">
            <a:extLst xmlns:a="http://schemas.openxmlformats.org/drawingml/2006/main">
              <a:ext uri="{FF2B5EF4-FFF2-40B4-BE49-F238E27FC236}">
                <a16:creationId xmlns:a16="http://schemas.microsoft.com/office/drawing/2014/main" id="{A1CA1951-56B0-4CDE-8B63-9D000F7A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50792"/>
            <a:ext cx="2788920" cy="585216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chemeClr val="tx1"/>
          </a:solidFill>
        </p:spPr>
      </p:sp>
      <p:sp>
        <p:nvSpPr>
          <p:cNvPr id="22" name="Comando SO_QUE_NAO">
            <a:extLst xmlns:a="http://schemas.openxmlformats.org/drawingml/2006/main">
              <a:ext uri="{FF2B5EF4-FFF2-40B4-BE49-F238E27FC236}">
                <a16:creationId xmlns:a16="http://schemas.microsoft.com/office/drawing/2014/main" id="{80E4B2B6-6942-47F1-AEC6-4EB6FD87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50792"/>
            <a:ext cx="278892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ERROU</a:t>
            </a:r>
            <a:endParaRPr sz="1500"/>
          </a:p>
        </p:txBody>
      </p:sp>
      <p:sp>
        <p:nvSpPr>
          <p:cNvPr id="23" name="Função SO_QUE_NAO">
            <a:extLst xmlns:a="http://schemas.openxmlformats.org/drawingml/2006/main">
              <a:ext uri="{FF2B5EF4-FFF2-40B4-BE49-F238E27FC236}">
                <a16:creationId xmlns:a16="http://schemas.microsoft.com/office/drawing/2014/main" id="{382B2415-668B-43F8-A1B1-A3D284EE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959352"/>
            <a:ext cx="214884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chemeClr val="tx1"/>
                </a:solidFill>
              </a:rPr>
              <a:t>Executar a alternativa</a:t>
            </a:r>
            <a:endParaRPr sz="1600"/>
          </a:p>
        </p:txBody>
      </p:sp>
      <p:sp>
        <p:nvSpPr>
          <p:cNvPr id="24" name="Cartão BORA_BILL">
            <a:extLst xmlns:a="http://schemas.openxmlformats.org/drawingml/2006/main">
              <a:ext uri="{FF2B5EF4-FFF2-40B4-BE49-F238E27FC236}">
                <a16:creationId xmlns:a16="http://schemas.microsoft.com/office/drawing/2014/main" id="{CA3994F0-F393-41D2-AFA8-8AB94A92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849624"/>
            <a:ext cx="5440680" cy="987552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25" name="Chip BORA_BILL">
            <a:extLst xmlns:a="http://schemas.openxmlformats.org/drawingml/2006/main">
              <a:ext uri="{FF2B5EF4-FFF2-40B4-BE49-F238E27FC236}">
                <a16:creationId xmlns:a16="http://schemas.microsoft.com/office/drawing/2014/main" id="{0EBEDB68-8EEF-4DD5-B869-D7F4CD90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050792"/>
            <a:ext cx="2788920" cy="585216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chemeClr val="tx1"/>
          </a:solidFill>
        </p:spPr>
      </p:sp>
      <p:sp>
        <p:nvSpPr>
          <p:cNvPr id="26" name="Comando BORA_BILL">
            <a:extLst xmlns:a="http://schemas.openxmlformats.org/drawingml/2006/main">
              <a:ext uri="{FF2B5EF4-FFF2-40B4-BE49-F238E27FC236}">
                <a16:creationId xmlns:a16="http://schemas.microsoft.com/office/drawing/2014/main" id="{DC3F6099-E854-473F-8A44-DB90E076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050792"/>
            <a:ext cx="278892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BORA_BILL</a:t>
            </a:r>
            <a:endParaRPr sz="1500"/>
          </a:p>
        </p:txBody>
      </p:sp>
      <p:sp>
        <p:nvSpPr>
          <p:cNvPr id="27" name="Função BORA_BILL">
            <a:extLst xmlns:a="http://schemas.openxmlformats.org/drawingml/2006/main">
              <a:ext uri="{FF2B5EF4-FFF2-40B4-BE49-F238E27FC236}">
                <a16:creationId xmlns:a16="http://schemas.microsoft.com/office/drawing/2014/main" id="{0611957A-7F7B-46CE-ADCC-E3653B4F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959352"/>
            <a:ext cx="214884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chemeClr val="tx1"/>
                </a:solidFill>
              </a:rPr>
              <a:t>Repetir enquanto a condição for verdadeira</a:t>
            </a:r>
            <a:endParaRPr sz="1600"/>
          </a:p>
        </p:txBody>
      </p:sp>
      <p:sp>
        <p:nvSpPr>
          <p:cNvPr id="28" name="Cartão DESCANSAR_NE">
            <a:extLst xmlns:a="http://schemas.openxmlformats.org/drawingml/2006/main">
              <a:ext uri="{FF2B5EF4-FFF2-40B4-BE49-F238E27FC236}">
                <a16:creationId xmlns:a16="http://schemas.microsoft.com/office/drawing/2014/main" id="{5A2808B8-1766-42B4-81F4-2B205FBE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0056"/>
            <a:ext cx="5440680" cy="987552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29" name="Chip DESCANSAR_NE">
            <a:extLst xmlns:a="http://schemas.openxmlformats.org/drawingml/2006/main">
              <a:ext uri="{FF2B5EF4-FFF2-40B4-BE49-F238E27FC236}">
                <a16:creationId xmlns:a16="http://schemas.microsoft.com/office/drawing/2014/main" id="{22D5E11E-10CF-4301-9D21-88058BEE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221224"/>
            <a:ext cx="2788920" cy="585216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chemeClr val="tx1"/>
          </a:solidFill>
        </p:spPr>
      </p:sp>
      <p:sp>
        <p:nvSpPr>
          <p:cNvPr id="30" name="Comando DESCANSAR_NE">
            <a:extLst xmlns:a="http://schemas.openxmlformats.org/drawingml/2006/main">
              <a:ext uri="{FF2B5EF4-FFF2-40B4-BE49-F238E27FC236}">
                <a16:creationId xmlns:a16="http://schemas.microsoft.com/office/drawing/2014/main" id="{DB8E566A-448B-4FFB-AE50-8D885316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221224"/>
            <a:ext cx="278892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DESCANSAR_NE</a:t>
            </a:r>
            <a:endParaRPr sz="1500"/>
          </a:p>
        </p:txBody>
      </p:sp>
      <p:sp>
        <p:nvSpPr>
          <p:cNvPr id="31" name="Função DESCANSAR_NE">
            <a:extLst xmlns:a="http://schemas.openxmlformats.org/drawingml/2006/main">
              <a:ext uri="{FF2B5EF4-FFF2-40B4-BE49-F238E27FC236}">
                <a16:creationId xmlns:a16="http://schemas.microsoft.com/office/drawing/2014/main" id="{107FF3D1-909C-45D2-BB85-15466A36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129784"/>
            <a:ext cx="214884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chemeClr val="tx1"/>
                </a:solidFill>
              </a:rPr>
              <a:t>Interromper o laço mais próximo</a:t>
            </a:r>
            <a:endParaRPr sz="1600"/>
          </a:p>
        </p:txBody>
      </p:sp>
      <p:sp>
        <p:nvSpPr>
          <p:cNvPr id="32" name="Cartão prefixo SABOR">
            <a:extLst xmlns:a="http://schemas.openxmlformats.org/drawingml/2006/main">
              <a:ext uri="{FF2B5EF4-FFF2-40B4-BE49-F238E27FC236}">
                <a16:creationId xmlns:a16="http://schemas.microsoft.com/office/drawing/2014/main" id="{64621B34-12F4-41A4-9190-0D9C8331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5020056"/>
            <a:ext cx="5440680" cy="987552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33" name="Prefixo SABOR">
            <a:extLst xmlns:a="http://schemas.openxmlformats.org/drawingml/2006/main">
              <a:ext uri="{FF2B5EF4-FFF2-40B4-BE49-F238E27FC236}">
                <a16:creationId xmlns:a16="http://schemas.microsoft.com/office/drawing/2014/main" id="{5B725E89-8A05-4340-8974-4DBB4905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5111496"/>
            <a:ext cx="278892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SABOR_</a:t>
            </a:r>
            <a:endParaRPr sz="2400"/>
          </a:p>
        </p:txBody>
      </p:sp>
      <p:sp>
        <p:nvSpPr>
          <p:cNvPr id="34" name="Função SABOR">
            <a:extLst xmlns:a="http://schemas.openxmlformats.org/drawingml/2006/main">
              <a:ext uri="{FF2B5EF4-FFF2-40B4-BE49-F238E27FC236}">
                <a16:creationId xmlns:a16="http://schemas.microsoft.com/office/drawing/2014/main" id="{E5F3EFF2-8486-44BE-946D-8DED02B1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129784"/>
            <a:ext cx="214884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tx1"/>
                </a:solidFill>
              </a:rPr>
              <a:t>Prefixo que adapta o meme à declaração de tipos</a:t>
            </a:r>
            <a:endParaRPr sz="1600"/>
          </a:p>
        </p:txBody>
      </p:sp>
      <p:sp>
        <p:nvSpPr>
          <p:cNvPr id="3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D14B8E1-B846-4226-8C98-F1BD228E923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0972800" y="6419088"/>
            <a:ext cx="66751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48323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A5260D8-5B0F-4F50-9181-13D4064FCE2B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365760"/>
            <a:ext cx="110916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>
                <a:solidFill>
                  <a:schemeClr val="tx1"/>
                </a:solidFill>
              </a:rPr>
              <a:t>Tipos e escopo</a:t>
            </a:r>
            <a:endParaRPr sz="4000"/>
          </a:p>
        </p:txBody>
      </p:sp>
      <p:sp>
        <p:nvSpPr>
          <p:cNvPr id="4" name="Cartão tipo inteiro">
            <a:extLst xmlns:a="http://schemas.openxmlformats.org/drawingml/2006/main">
              <a:ext uri="{FF2B5EF4-FFF2-40B4-BE49-F238E27FC236}">
                <a16:creationId xmlns:a16="http://schemas.microsoft.com/office/drawing/2014/main" id="{720A90C8-8310-4C9F-8E95-909C9A5D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3566160" cy="283464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5" name="Declaração inteiro">
            <a:extLst xmlns:a="http://schemas.openxmlformats.org/drawingml/2006/main">
              <a:ext uri="{FF2B5EF4-FFF2-40B4-BE49-F238E27FC236}">
                <a16:creationId xmlns:a16="http://schemas.microsoft.com/office/drawing/2014/main" id="{4A3145A2-EE9B-45CB-9009-FECA5A14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83080"/>
            <a:ext cx="3017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SABOR_INTEIRO</a:t>
            </a:r>
            <a:endParaRPr sz="1600"/>
          </a:p>
        </p:txBody>
      </p:sp>
      <p:sp>
        <p:nvSpPr>
          <p:cNvPr id="6" name="Exemplo inteiro">
            <a:extLst xmlns:a="http://schemas.openxmlformats.org/drawingml/2006/main">
              <a:ext uri="{FF2B5EF4-FFF2-40B4-BE49-F238E27FC236}">
                <a16:creationId xmlns:a16="http://schemas.microsoft.com/office/drawing/2014/main" id="{11C03566-FEA5-4585-AED9-DF2E8ABA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30175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0">
                <a:solidFill>
                  <a:schemeClr val="tx1"/>
                </a:solidFill>
                <a:latin typeface="Impact"/>
                <a:ea typeface="Impact"/>
                <a:cs typeface="Impact"/>
              </a:rPr>
              <a:t>67</a:t>
            </a:r>
            <a:endParaRPr sz="7200"/>
          </a:p>
        </p:txBody>
      </p:sp>
      <p:sp>
        <p:nvSpPr>
          <p:cNvPr id="7" name="Tipo inteiro">
            <a:extLst xmlns:a="http://schemas.openxmlformats.org/drawingml/2006/main">
              <a:ext uri="{FF2B5EF4-FFF2-40B4-BE49-F238E27FC236}">
                <a16:creationId xmlns:a16="http://schemas.microsoft.com/office/drawing/2014/main" id="{B101D294-7B86-4131-AB5A-3E99153F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3017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chemeClr val="tx1"/>
                </a:solidFill>
              </a:rPr>
              <a:t>inteiro</a:t>
            </a:r>
            <a:endParaRPr sz="2200"/>
          </a:p>
        </p:txBody>
      </p:sp>
      <p:sp>
        <p:nvSpPr>
          <p:cNvPr id="8" name="Cartão tipo real">
            <a:extLst xmlns:a="http://schemas.openxmlformats.org/drawingml/2006/main">
              <a:ext uri="{FF2B5EF4-FFF2-40B4-BE49-F238E27FC236}">
                <a16:creationId xmlns:a16="http://schemas.microsoft.com/office/drawing/2014/main" id="{B24EB7FD-9E4A-4396-A1DD-3A198920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396" y="1508760"/>
            <a:ext cx="3566160" cy="283464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9" name="Declaração real">
            <a:extLst xmlns:a="http://schemas.openxmlformats.org/drawingml/2006/main">
              <a:ext uri="{FF2B5EF4-FFF2-40B4-BE49-F238E27FC236}">
                <a16:creationId xmlns:a16="http://schemas.microsoft.com/office/drawing/2014/main" id="{585F00FD-E7AA-495B-B7AC-6E204741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716" y="1783080"/>
            <a:ext cx="3017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SABOR_REAL</a:t>
            </a:r>
            <a:endParaRPr sz="1600"/>
          </a:p>
        </p:txBody>
      </p:sp>
      <p:sp>
        <p:nvSpPr>
          <p:cNvPr id="10" name="Exemplo real">
            <a:extLst xmlns:a="http://schemas.openxmlformats.org/drawingml/2006/main">
              <a:ext uri="{FF2B5EF4-FFF2-40B4-BE49-F238E27FC236}">
                <a16:creationId xmlns:a16="http://schemas.microsoft.com/office/drawing/2014/main" id="{1ADF2BC7-BBC2-46E6-8D44-1E353B2A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716" y="2286000"/>
            <a:ext cx="30175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0">
                <a:solidFill>
                  <a:schemeClr val="tx1"/>
                </a:solidFill>
                <a:latin typeface="Impact"/>
                <a:ea typeface="Impact"/>
                <a:cs typeface="Impact"/>
              </a:rPr>
              <a:t>6.7</a:t>
            </a:r>
            <a:endParaRPr sz="7200"/>
          </a:p>
        </p:txBody>
      </p:sp>
      <p:sp>
        <p:nvSpPr>
          <p:cNvPr id="11" name="Tipo real">
            <a:extLst xmlns:a="http://schemas.openxmlformats.org/drawingml/2006/main">
              <a:ext uri="{FF2B5EF4-FFF2-40B4-BE49-F238E27FC236}">
                <a16:creationId xmlns:a16="http://schemas.microsoft.com/office/drawing/2014/main" id="{9FF42A2A-B759-4B7E-8D9C-20382A72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716" y="3657600"/>
            <a:ext cx="3017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chemeClr val="tx1"/>
                </a:solidFill>
              </a:rPr>
              <a:t>real</a:t>
            </a:r>
            <a:endParaRPr sz="2200"/>
          </a:p>
        </p:txBody>
      </p:sp>
      <p:sp>
        <p:nvSpPr>
          <p:cNvPr id="12" name="Cartão tipo texto">
            <a:extLst xmlns:a="http://schemas.openxmlformats.org/drawingml/2006/main">
              <a:ext uri="{FF2B5EF4-FFF2-40B4-BE49-F238E27FC236}">
                <a16:creationId xmlns:a16="http://schemas.microsoft.com/office/drawing/2014/main" id="{675A9537-EF72-4844-88C2-1600A032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508760"/>
            <a:ext cx="3566160" cy="283464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13" name="Declaração texto">
            <a:extLst xmlns:a="http://schemas.openxmlformats.org/drawingml/2006/main">
              <a:ext uri="{FF2B5EF4-FFF2-40B4-BE49-F238E27FC236}">
                <a16:creationId xmlns:a16="http://schemas.microsoft.com/office/drawing/2014/main" id="{D016923F-64CD-42CD-A1DB-553271A6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1783080"/>
            <a:ext cx="3017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SABOR_TEXTO</a:t>
            </a:r>
            <a:endParaRPr sz="1600"/>
          </a:p>
        </p:txBody>
      </p:sp>
      <p:sp>
        <p:nvSpPr>
          <p:cNvPr id="14" name="Exemplo texto">
            <a:extLst xmlns:a="http://schemas.openxmlformats.org/drawingml/2006/main">
              <a:ext uri="{FF2B5EF4-FFF2-40B4-BE49-F238E27FC236}">
                <a16:creationId xmlns:a16="http://schemas.microsoft.com/office/drawing/2014/main" id="{6124CC14-EB91-4907-9374-23FA40E7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286000"/>
            <a:ext cx="30175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>
                <a:solidFill>
                  <a:schemeClr val="tx1"/>
                </a:solidFill>
                <a:latin typeface="Impact"/>
                <a:ea typeface="Impact"/>
                <a:cs typeface="Impact"/>
              </a:rPr>
              <a:t>"Receba!"</a:t>
            </a:r>
            <a:endParaRPr sz="4400"/>
          </a:p>
        </p:txBody>
      </p:sp>
      <p:sp>
        <p:nvSpPr>
          <p:cNvPr id="15" name="Tipo texto">
            <a:extLst xmlns:a="http://schemas.openxmlformats.org/drawingml/2006/main">
              <a:ext uri="{FF2B5EF4-FFF2-40B4-BE49-F238E27FC236}">
                <a16:creationId xmlns:a16="http://schemas.microsoft.com/office/drawing/2014/main" id="{D4CFF6D4-885E-4417-8931-58721E62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657600"/>
            <a:ext cx="3017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chemeClr val="tx1"/>
                </a:solidFill>
              </a:rPr>
              <a:t>texto</a:t>
            </a:r>
            <a:endParaRPr sz="2200"/>
          </a:p>
        </p:txBody>
      </p:sp>
      <p:sp>
        <p:nvSpPr>
          <p:cNvPr id="16" name="Regra 1">
            <a:extLst xmlns:a="http://schemas.openxmlformats.org/drawingml/2006/main">
              <a:ext uri="{FF2B5EF4-FFF2-40B4-BE49-F238E27FC236}">
                <a16:creationId xmlns:a16="http://schemas.microsoft.com/office/drawing/2014/main" id="{2F1892E6-C52A-4A9D-958E-D62B4404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0"/>
            <a:ext cx="3566160" cy="12801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17" name="Número regra 1">
            <a:extLst xmlns:a="http://schemas.openxmlformats.org/drawingml/2006/main">
              <a:ext uri="{FF2B5EF4-FFF2-40B4-BE49-F238E27FC236}">
                <a16:creationId xmlns:a16="http://schemas.microsoft.com/office/drawing/2014/main" id="{77D3E5C1-9D0C-496B-A1F6-670DAA2B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663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</p:spPr>
      </p:sp>
      <p:sp>
        <p:nvSpPr>
          <p:cNvPr id="18" name="Núm 1">
            <a:extLst xmlns:a="http://schemas.openxmlformats.org/drawingml/2006/main">
              <a:ext uri="{FF2B5EF4-FFF2-40B4-BE49-F238E27FC236}">
                <a16:creationId xmlns:a16="http://schemas.microsoft.com/office/drawing/2014/main" id="{27BC7486-5614-4FAF-85E5-BBB18369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663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chemeClr val="accent1"/>
                </a:solidFill>
              </a:rPr>
              <a:t>1</a:t>
            </a:r>
            <a:endParaRPr sz="1800"/>
          </a:p>
        </p:txBody>
      </p:sp>
      <p:sp>
        <p:nvSpPr>
          <p:cNvPr id="19" name="Texto regra 1">
            <a:extLst xmlns:a="http://schemas.openxmlformats.org/drawingml/2006/main">
              <a:ext uri="{FF2B5EF4-FFF2-40B4-BE49-F238E27FC236}">
                <a16:creationId xmlns:a16="http://schemas.microsoft.com/office/drawing/2014/main" id="{06A057F1-AD06-4351-86E3-FEFD48B0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892040"/>
            <a:ext cx="24231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Declarações no início do programa</a:t>
            </a:r>
            <a:endParaRPr sz="1800"/>
          </a:p>
        </p:txBody>
      </p:sp>
      <p:sp>
        <p:nvSpPr>
          <p:cNvPr id="20" name="Regra 2">
            <a:extLst xmlns:a="http://schemas.openxmlformats.org/drawingml/2006/main">
              <a:ext uri="{FF2B5EF4-FFF2-40B4-BE49-F238E27FC236}">
                <a16:creationId xmlns:a16="http://schemas.microsoft.com/office/drawing/2014/main" id="{92840925-89A1-414D-9008-2C09D138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396" y="4754880"/>
            <a:ext cx="3566160" cy="12801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21" name="Número regra 2">
            <a:extLst xmlns:a="http://schemas.openxmlformats.org/drawingml/2006/main">
              <a:ext uri="{FF2B5EF4-FFF2-40B4-BE49-F238E27FC236}">
                <a16:creationId xmlns:a16="http://schemas.microsoft.com/office/drawing/2014/main" id="{9D916006-5AC8-46E5-ACCB-B7F52987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716" y="51663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</p:spPr>
      </p:sp>
      <p:sp>
        <p:nvSpPr>
          <p:cNvPr id="22" name="Núm 2">
            <a:extLst xmlns:a="http://schemas.openxmlformats.org/drawingml/2006/main">
              <a:ext uri="{FF2B5EF4-FFF2-40B4-BE49-F238E27FC236}">
                <a16:creationId xmlns:a16="http://schemas.microsoft.com/office/drawing/2014/main" id="{F8C04932-388E-4676-8911-F7EF55FE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716" y="51663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chemeClr val="accent1"/>
                </a:solidFill>
              </a:rPr>
              <a:t>2</a:t>
            </a:r>
            <a:endParaRPr sz="1800"/>
          </a:p>
        </p:txBody>
      </p:sp>
      <p:sp>
        <p:nvSpPr>
          <p:cNvPr id="23" name="Texto regra 2">
            <a:extLst xmlns:a="http://schemas.openxmlformats.org/drawingml/2006/main">
              <a:ext uri="{FF2B5EF4-FFF2-40B4-BE49-F238E27FC236}">
                <a16:creationId xmlns:a16="http://schemas.microsoft.com/office/drawing/2014/main" id="{FE753DCA-6854-4AE8-AF7E-3CF65613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796" y="4892040"/>
            <a:ext cx="24231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Um único escopo global</a:t>
            </a:r>
            <a:endParaRPr sz="1800"/>
          </a:p>
        </p:txBody>
      </p:sp>
      <p:sp>
        <p:nvSpPr>
          <p:cNvPr id="24" name="Regra 3">
            <a:extLst xmlns:a="http://schemas.openxmlformats.org/drawingml/2006/main">
              <a:ext uri="{FF2B5EF4-FFF2-40B4-BE49-F238E27FC236}">
                <a16:creationId xmlns:a16="http://schemas.microsoft.com/office/drawing/2014/main" id="{4ED71551-2E8E-44AE-843A-BA60A2D4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4754880"/>
            <a:ext cx="3566160" cy="12801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25" name="Número regra 3">
            <a:extLst xmlns:a="http://schemas.openxmlformats.org/drawingml/2006/main">
              <a:ext uri="{FF2B5EF4-FFF2-40B4-BE49-F238E27FC236}">
                <a16:creationId xmlns:a16="http://schemas.microsoft.com/office/drawing/2014/main" id="{A8CA8349-FD4C-478A-BE67-6503F3E8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51663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</p:spPr>
      </p:sp>
      <p:sp>
        <p:nvSpPr>
          <p:cNvPr id="26" name="Núm 3">
            <a:extLst xmlns:a="http://schemas.openxmlformats.org/drawingml/2006/main">
              <a:ext uri="{FF2B5EF4-FFF2-40B4-BE49-F238E27FC236}">
                <a16:creationId xmlns:a16="http://schemas.microsoft.com/office/drawing/2014/main" id="{53CC83EA-ABE9-4F56-83A9-D29DE6A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51663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chemeClr val="accent1"/>
                </a:solidFill>
              </a:rPr>
              <a:t>3</a:t>
            </a:r>
            <a:endParaRPr sz="1800"/>
          </a:p>
        </p:txBody>
      </p:sp>
      <p:sp>
        <p:nvSpPr>
          <p:cNvPr id="27" name="Texto regra 3">
            <a:extLst xmlns:a="http://schemas.openxmlformats.org/drawingml/2006/main">
              <a:ext uri="{FF2B5EF4-FFF2-40B4-BE49-F238E27FC236}">
                <a16:creationId xmlns:a16="http://schemas.microsoft.com/office/drawing/2014/main" id="{841730D1-B567-453A-B0E4-12906AF9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4892040"/>
            <a:ext cx="24231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Inteiro pode virar real. A divisão sempre produz real.</a:t>
            </a:r>
            <a:endParaRPr sz="1800"/>
          </a:p>
        </p:txBody>
      </p:sp>
      <p:sp>
        <p:nvSpPr>
          <p:cNvPr id="2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6BB4266-5028-4825-B9A7-DD83FB10776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0972800" y="6419088"/>
            <a:ext cx="66751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50956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BBA0671-88C1-4136-9491-5D0726F00117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365760"/>
            <a:ext cx="110916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>
                <a:solidFill>
                  <a:schemeClr val="tx1"/>
                </a:solidFill>
              </a:rPr>
              <a:t>Etapas do transpilador</a:t>
            </a:r>
            <a:endParaRPr sz="4000"/>
          </a:p>
        </p:txBody>
      </p:sp>
      <p:sp>
        <p:nvSpPr>
          <p:cNvPr id="4" name="Etapa Léxico">
            <a:extLst xmlns:a="http://schemas.openxmlformats.org/drawingml/2006/main">
              <a:ext uri="{FF2B5EF4-FFF2-40B4-BE49-F238E27FC236}">
                <a16:creationId xmlns:a16="http://schemas.microsoft.com/office/drawing/2014/main" id="{5C7E0A3A-0FE3-4BC7-A12F-7420D87D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2468880" cy="292608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5" name="Selo 01">
            <a:extLst xmlns:a="http://schemas.openxmlformats.org/drawingml/2006/main">
              <a:ext uri="{FF2B5EF4-FFF2-40B4-BE49-F238E27FC236}">
                <a16:creationId xmlns:a16="http://schemas.microsoft.com/office/drawing/2014/main" id="{5BFAC2B0-9F59-46DA-A3BC-DB4F4967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>
            <a:solidFill>
              <a:schemeClr val="tx1"/>
            </a:solidFill>
            <a:prstDash val="solid"/>
          </a:ln>
        </p:spPr>
      </p:sp>
      <p:sp>
        <p:nvSpPr>
          <p:cNvPr id="6" name="Número 01">
            <a:extLst xmlns:a="http://schemas.openxmlformats.org/drawingml/2006/main">
              <a:ext uri="{FF2B5EF4-FFF2-40B4-BE49-F238E27FC236}">
                <a16:creationId xmlns:a16="http://schemas.microsoft.com/office/drawing/2014/main" id="{04F09F5A-16B8-4E57-8016-C193B851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868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>
                <a:solidFill>
                  <a:schemeClr val="tx1"/>
                </a:solidFill>
                <a:latin typeface="Impact"/>
                <a:ea typeface="Impact"/>
                <a:cs typeface="Impact"/>
              </a:rPr>
              <a:t>01</a:t>
            </a:r>
            <a:endParaRPr sz="2800"/>
          </a:p>
        </p:txBody>
      </p:sp>
      <p:sp>
        <p:nvSpPr>
          <p:cNvPr id="7" name="Nome Léxico">
            <a:extLst xmlns:a="http://schemas.openxmlformats.org/drawingml/2006/main">
              <a:ext uri="{FF2B5EF4-FFF2-40B4-BE49-F238E27FC236}">
                <a16:creationId xmlns:a16="http://schemas.microsoft.com/office/drawing/2014/main" id="{CF6D12E0-BD20-43F4-B572-DC0AE1EB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80360"/>
            <a:ext cx="2011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chemeClr val="tx1"/>
                </a:solidFill>
              </a:rPr>
              <a:t>Léxico</a:t>
            </a:r>
            <a:endParaRPr sz="2600"/>
          </a:p>
        </p:txBody>
      </p:sp>
      <p:sp>
        <p:nvSpPr>
          <p:cNvPr id="8" name="Descrição Léxico">
            <a:extLst xmlns:a="http://schemas.openxmlformats.org/drawingml/2006/main">
              <a:ext uri="{FF2B5EF4-FFF2-40B4-BE49-F238E27FC236}">
                <a16:creationId xmlns:a16="http://schemas.microsoft.com/office/drawing/2014/main" id="{4269838C-2883-45CB-A1D6-37B0BF15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29000"/>
            <a:ext cx="2011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chemeClr val="tx2"/>
                </a:solidFill>
              </a:rPr>
              <a:t>Texto reconhecido como tokens</a:t>
            </a:r>
            <a:endParaRPr sz="1600"/>
          </a:p>
        </p:txBody>
      </p:sp>
      <p:sp>
        <p:nvSpPr>
          <p:cNvPr id="9" name="Chip lexer.py">
            <a:extLst xmlns:a="http://schemas.openxmlformats.org/drawingml/2006/main">
              <a:ext uri="{FF2B5EF4-FFF2-40B4-BE49-F238E27FC236}">
                <a16:creationId xmlns:a16="http://schemas.microsoft.com/office/drawing/2014/main" id="{DE708922-B20D-49EE-8AF8-1A66EB95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0"/>
            <a:ext cx="246888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tx1"/>
          </a:solidFill>
        </p:spPr>
      </p:sp>
      <p:sp>
        <p:nvSpPr>
          <p:cNvPr id="10" name="Arquivo lexer.py">
            <a:extLst xmlns:a="http://schemas.openxmlformats.org/drawingml/2006/main">
              <a:ext uri="{FF2B5EF4-FFF2-40B4-BE49-F238E27FC236}">
                <a16:creationId xmlns:a16="http://schemas.microsoft.com/office/drawing/2014/main" id="{9EE4B96B-D986-46EE-ABE1-9BB976E7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lexer.py</a:t>
            </a:r>
            <a:endParaRPr sz="1600"/>
          </a:p>
        </p:txBody>
      </p:sp>
      <p:sp>
        <p:nvSpPr>
          <p:cNvPr id="11" name="Seta 1">
            <a:extLst xmlns:a="http://schemas.openxmlformats.org/drawingml/2006/main">
              <a:ext uri="{FF2B5EF4-FFF2-40B4-BE49-F238E27FC236}">
                <a16:creationId xmlns:a16="http://schemas.microsoft.com/office/drawing/2014/main" id="{1087743F-6085-4633-9A69-D812273F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84" y="2743200"/>
            <a:ext cx="295351" cy="38404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tx1"/>
          </a:solidFill>
        </p:spPr>
      </p:sp>
      <p:sp>
        <p:nvSpPr>
          <p:cNvPr id="12" name="Etapa Parser">
            <a:extLst xmlns:a="http://schemas.openxmlformats.org/drawingml/2006/main">
              <a:ext uri="{FF2B5EF4-FFF2-40B4-BE49-F238E27FC236}">
                <a16:creationId xmlns:a16="http://schemas.microsoft.com/office/drawing/2014/main" id="{0794E6D6-C7B2-4818-BF0A-E4700B7F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2599" y="1554480"/>
            <a:ext cx="2468880" cy="292608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13" name="Selo 02">
            <a:extLst xmlns:a="http://schemas.openxmlformats.org/drawingml/2006/main">
              <a:ext uri="{FF2B5EF4-FFF2-40B4-BE49-F238E27FC236}">
                <a16:creationId xmlns:a16="http://schemas.microsoft.com/office/drawing/2014/main" id="{E779A01E-8DE0-47CE-B231-C76615C8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6919" y="182880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>
            <a:solidFill>
              <a:schemeClr val="tx1"/>
            </a:solidFill>
            <a:prstDash val="solid"/>
          </a:ln>
        </p:spPr>
      </p:sp>
      <p:sp>
        <p:nvSpPr>
          <p:cNvPr id="14" name="Número 02">
            <a:extLst xmlns:a="http://schemas.openxmlformats.org/drawingml/2006/main">
              <a:ext uri="{FF2B5EF4-FFF2-40B4-BE49-F238E27FC236}">
                <a16:creationId xmlns:a16="http://schemas.microsoft.com/office/drawing/2014/main" id="{9A9DAECE-EFA1-4D58-BB32-FC74F48E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6919" y="1828800"/>
            <a:ext cx="868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>
                <a:solidFill>
                  <a:schemeClr val="tx1"/>
                </a:solidFill>
                <a:latin typeface="Impact"/>
                <a:ea typeface="Impact"/>
                <a:cs typeface="Impact"/>
              </a:rPr>
              <a:t>02</a:t>
            </a:r>
            <a:endParaRPr sz="2800"/>
          </a:p>
        </p:txBody>
      </p:sp>
      <p:sp>
        <p:nvSpPr>
          <p:cNvPr id="15" name="Nome Parser">
            <a:extLst xmlns:a="http://schemas.openxmlformats.org/drawingml/2006/main">
              <a:ext uri="{FF2B5EF4-FFF2-40B4-BE49-F238E27FC236}">
                <a16:creationId xmlns:a16="http://schemas.microsoft.com/office/drawing/2014/main" id="{8128A53B-EEAF-4889-9E1E-D4B2E011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6919" y="2880360"/>
            <a:ext cx="2011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chemeClr val="tx1"/>
                </a:solidFill>
              </a:rPr>
              <a:t>Parser</a:t>
            </a:r>
            <a:endParaRPr sz="2600"/>
          </a:p>
        </p:txBody>
      </p:sp>
      <p:sp>
        <p:nvSpPr>
          <p:cNvPr id="16" name="Descrição Parser">
            <a:extLst xmlns:a="http://schemas.openxmlformats.org/drawingml/2006/main">
              <a:ext uri="{FF2B5EF4-FFF2-40B4-BE49-F238E27FC236}">
                <a16:creationId xmlns:a16="http://schemas.microsoft.com/office/drawing/2014/main" id="{115E6D9F-ECEF-4138-85F6-2CC03020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6919" y="3429000"/>
            <a:ext cx="2011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chemeClr val="tx2"/>
                </a:solidFill>
              </a:rPr>
              <a:t>Estrutura validada e AST construída</a:t>
            </a:r>
            <a:endParaRPr sz="1600"/>
          </a:p>
        </p:txBody>
      </p:sp>
      <p:sp>
        <p:nvSpPr>
          <p:cNvPr id="17" name="Chip parser.py">
            <a:extLst xmlns:a="http://schemas.openxmlformats.org/drawingml/2006/main">
              <a:ext uri="{FF2B5EF4-FFF2-40B4-BE49-F238E27FC236}">
                <a16:creationId xmlns:a16="http://schemas.microsoft.com/office/drawing/2014/main" id="{9D04F79A-7446-45BC-A96A-B760F58D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2599" y="4754880"/>
            <a:ext cx="246888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tx1"/>
          </a:solidFill>
        </p:spPr>
      </p:sp>
      <p:sp>
        <p:nvSpPr>
          <p:cNvPr id="18" name="Arquivo parser.py">
            <a:extLst xmlns:a="http://schemas.openxmlformats.org/drawingml/2006/main">
              <a:ext uri="{FF2B5EF4-FFF2-40B4-BE49-F238E27FC236}">
                <a16:creationId xmlns:a16="http://schemas.microsoft.com/office/drawing/2014/main" id="{E630C0BB-981B-4577-ABB9-5739D6F5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2599" y="475488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parser.py</a:t>
            </a:r>
            <a:endParaRPr sz="1600"/>
          </a:p>
        </p:txBody>
      </p:sp>
      <p:sp>
        <p:nvSpPr>
          <p:cNvPr id="19" name="Seta 2">
            <a:extLst xmlns:a="http://schemas.openxmlformats.org/drawingml/2006/main">
              <a:ext uri="{FF2B5EF4-FFF2-40B4-BE49-F238E27FC236}">
                <a16:creationId xmlns:a16="http://schemas.microsoft.com/office/drawing/2014/main" id="{DC1BE0E5-DCB4-4BDA-95BB-5E338C32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343" y="2743200"/>
            <a:ext cx="295351" cy="38404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tx1"/>
          </a:solidFill>
        </p:spPr>
      </p:sp>
      <p:sp>
        <p:nvSpPr>
          <p:cNvPr id="20" name="Etapa Semântica">
            <a:extLst xmlns:a="http://schemas.openxmlformats.org/drawingml/2006/main">
              <a:ext uri="{FF2B5EF4-FFF2-40B4-BE49-F238E27FC236}">
                <a16:creationId xmlns:a16="http://schemas.microsoft.com/office/drawing/2014/main" id="{96767540-D578-4B53-BD62-EA011528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558" y="1554480"/>
            <a:ext cx="2468880" cy="292608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21" name="Selo 03">
            <a:extLst xmlns:a="http://schemas.openxmlformats.org/drawingml/2006/main">
              <a:ext uri="{FF2B5EF4-FFF2-40B4-BE49-F238E27FC236}">
                <a16:creationId xmlns:a16="http://schemas.microsoft.com/office/drawing/2014/main" id="{9A1A6A2A-BAF0-41FA-9C1B-9F310149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878" y="182880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9050">
            <a:solidFill>
              <a:schemeClr val="tx1"/>
            </a:solidFill>
            <a:prstDash val="solid"/>
          </a:ln>
        </p:spPr>
      </p:sp>
      <p:sp>
        <p:nvSpPr>
          <p:cNvPr id="22" name="Número 03">
            <a:extLst xmlns:a="http://schemas.openxmlformats.org/drawingml/2006/main">
              <a:ext uri="{FF2B5EF4-FFF2-40B4-BE49-F238E27FC236}">
                <a16:creationId xmlns:a16="http://schemas.microsoft.com/office/drawing/2014/main" id="{2E7BA727-EB61-445B-8F0C-B0F61DF1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878" y="1828800"/>
            <a:ext cx="868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>
                <a:solidFill>
                  <a:schemeClr val="tx1"/>
                </a:solidFill>
                <a:latin typeface="Impact"/>
                <a:ea typeface="Impact"/>
                <a:cs typeface="Impact"/>
              </a:rPr>
              <a:t>03</a:t>
            </a:r>
            <a:endParaRPr sz="2800"/>
          </a:p>
        </p:txBody>
      </p:sp>
      <p:sp>
        <p:nvSpPr>
          <p:cNvPr id="23" name="Nome Semântica">
            <a:extLst xmlns:a="http://schemas.openxmlformats.org/drawingml/2006/main">
              <a:ext uri="{FF2B5EF4-FFF2-40B4-BE49-F238E27FC236}">
                <a16:creationId xmlns:a16="http://schemas.microsoft.com/office/drawing/2014/main" id="{A37F2EE3-09DB-4AB6-BBFF-39F7418F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878" y="2880360"/>
            <a:ext cx="2011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chemeClr val="tx1"/>
                </a:solidFill>
              </a:rPr>
              <a:t>Semântica</a:t>
            </a:r>
            <a:endParaRPr sz="2600"/>
          </a:p>
        </p:txBody>
      </p:sp>
      <p:sp>
        <p:nvSpPr>
          <p:cNvPr id="24" name="Descrição Semântica">
            <a:extLst xmlns:a="http://schemas.openxmlformats.org/drawingml/2006/main">
              <a:ext uri="{FF2B5EF4-FFF2-40B4-BE49-F238E27FC236}">
                <a16:creationId xmlns:a16="http://schemas.microsoft.com/office/drawing/2014/main" id="{CA66050B-77C2-40EA-AECE-0BDA5CAB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878" y="3429000"/>
            <a:ext cx="2011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chemeClr val="tx2"/>
                </a:solidFill>
              </a:rPr>
              <a:t>Nomes e tipos verificados</a:t>
            </a:r>
            <a:endParaRPr sz="1600"/>
          </a:p>
        </p:txBody>
      </p:sp>
      <p:sp>
        <p:nvSpPr>
          <p:cNvPr id="25" name="Chip semantic.py">
            <a:extLst xmlns:a="http://schemas.openxmlformats.org/drawingml/2006/main">
              <a:ext uri="{FF2B5EF4-FFF2-40B4-BE49-F238E27FC236}">
                <a16:creationId xmlns:a16="http://schemas.microsoft.com/office/drawing/2014/main" id="{81C73688-8157-4B6F-97B4-A61A6D3C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558" y="4754880"/>
            <a:ext cx="246888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tx1"/>
          </a:solidFill>
        </p:spPr>
      </p:sp>
      <p:sp>
        <p:nvSpPr>
          <p:cNvPr id="26" name="Arquivo semantic.py">
            <a:extLst xmlns:a="http://schemas.openxmlformats.org/drawingml/2006/main">
              <a:ext uri="{FF2B5EF4-FFF2-40B4-BE49-F238E27FC236}">
                <a16:creationId xmlns:a16="http://schemas.microsoft.com/office/drawing/2014/main" id="{9B6A092F-2ED7-41F6-880A-F2FF8909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558" y="475488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semantic.py</a:t>
            </a:r>
            <a:endParaRPr sz="1600"/>
          </a:p>
        </p:txBody>
      </p:sp>
      <p:sp>
        <p:nvSpPr>
          <p:cNvPr id="27" name="Seta 3">
            <a:extLst xmlns:a="http://schemas.openxmlformats.org/drawingml/2006/main">
              <a:ext uri="{FF2B5EF4-FFF2-40B4-BE49-F238E27FC236}">
                <a16:creationId xmlns:a16="http://schemas.microsoft.com/office/drawing/2014/main" id="{1A1935BE-F9FE-4A9B-9F98-FB127351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302" y="2743200"/>
            <a:ext cx="295351" cy="38404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tx1"/>
          </a:solidFill>
        </p:spPr>
      </p:sp>
      <p:sp>
        <p:nvSpPr>
          <p:cNvPr id="28" name="Etapa Geração">
            <a:extLst xmlns:a="http://schemas.openxmlformats.org/drawingml/2006/main">
              <a:ext uri="{FF2B5EF4-FFF2-40B4-BE49-F238E27FC236}">
                <a16:creationId xmlns:a16="http://schemas.microsoft.com/office/drawing/2014/main" id="{50CC3EB4-621E-4591-BC76-CC089DEB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0518" y="1554480"/>
            <a:ext cx="2468880" cy="292608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29" name="Selo 04">
            <a:extLst xmlns:a="http://schemas.openxmlformats.org/drawingml/2006/main">
              <a:ext uri="{FF2B5EF4-FFF2-40B4-BE49-F238E27FC236}">
                <a16:creationId xmlns:a16="http://schemas.microsoft.com/office/drawing/2014/main" id="{46A9C8C5-44CE-4AAD-932F-B2BDFE2A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838" y="182880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9050">
            <a:solidFill>
              <a:schemeClr val="tx1"/>
            </a:solidFill>
            <a:prstDash val="solid"/>
          </a:ln>
        </p:spPr>
      </p:sp>
      <p:sp>
        <p:nvSpPr>
          <p:cNvPr id="30" name="Número 04">
            <a:extLst xmlns:a="http://schemas.openxmlformats.org/drawingml/2006/main">
              <a:ext uri="{FF2B5EF4-FFF2-40B4-BE49-F238E27FC236}">
                <a16:creationId xmlns:a16="http://schemas.microsoft.com/office/drawing/2014/main" id="{583E8EE8-506A-4D38-A9BA-A2D0530F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838" y="1828800"/>
            <a:ext cx="868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>
                <a:solidFill>
                  <a:schemeClr val="bg1"/>
                </a:solidFill>
                <a:latin typeface="Impact"/>
                <a:ea typeface="Impact"/>
                <a:cs typeface="Impact"/>
              </a:rPr>
              <a:t>04</a:t>
            </a:r>
            <a:endParaRPr sz="2800"/>
          </a:p>
        </p:txBody>
      </p:sp>
      <p:sp>
        <p:nvSpPr>
          <p:cNvPr id="31" name="Nome Geração">
            <a:extLst xmlns:a="http://schemas.openxmlformats.org/drawingml/2006/main">
              <a:ext uri="{FF2B5EF4-FFF2-40B4-BE49-F238E27FC236}">
                <a16:creationId xmlns:a16="http://schemas.microsoft.com/office/drawing/2014/main" id="{BF635679-AD43-4AEC-BB21-E4AEF6C3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838" y="2880360"/>
            <a:ext cx="2011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chemeClr val="tx1"/>
                </a:solidFill>
              </a:rPr>
              <a:t>Geração</a:t>
            </a:r>
            <a:endParaRPr sz="2600"/>
          </a:p>
        </p:txBody>
      </p:sp>
      <p:sp>
        <p:nvSpPr>
          <p:cNvPr id="32" name="Descrição Geração">
            <a:extLst xmlns:a="http://schemas.openxmlformats.org/drawingml/2006/main">
              <a:ext uri="{FF2B5EF4-FFF2-40B4-BE49-F238E27FC236}">
                <a16:creationId xmlns:a16="http://schemas.microsoft.com/office/drawing/2014/main" id="{D901BEDD-BE00-4BBB-B06D-F78C9B4B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838" y="3429000"/>
            <a:ext cx="2011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chemeClr val="tx2"/>
                </a:solidFill>
              </a:rPr>
              <a:t>AST traduzida para Python</a:t>
            </a:r>
            <a:endParaRPr sz="1600"/>
          </a:p>
        </p:txBody>
      </p:sp>
      <p:sp>
        <p:nvSpPr>
          <p:cNvPr id="33" name="Chip codegen.py">
            <a:extLst xmlns:a="http://schemas.openxmlformats.org/drawingml/2006/main">
              <a:ext uri="{FF2B5EF4-FFF2-40B4-BE49-F238E27FC236}">
                <a16:creationId xmlns:a16="http://schemas.microsoft.com/office/drawing/2014/main" id="{2ECA1642-1427-44AD-9A2B-64D7F266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0518" y="4754880"/>
            <a:ext cx="246888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tx1"/>
          </a:solidFill>
        </p:spPr>
      </p:sp>
      <p:sp>
        <p:nvSpPr>
          <p:cNvPr id="34" name="Arquivo codegen.py">
            <a:extLst xmlns:a="http://schemas.openxmlformats.org/drawingml/2006/main">
              <a:ext uri="{FF2B5EF4-FFF2-40B4-BE49-F238E27FC236}">
                <a16:creationId xmlns:a16="http://schemas.microsoft.com/office/drawing/2014/main" id="{E37A4018-6895-4465-B97C-488F5F9C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0518" y="475488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codegen.py</a:t>
            </a:r>
            <a:endParaRPr sz="1600"/>
          </a:p>
        </p:txBody>
      </p:sp>
      <p:sp>
        <p:nvSpPr>
          <p:cNvPr id="35" name="Faixa compiler">
            <a:extLst xmlns:a="http://schemas.openxmlformats.org/drawingml/2006/main">
              <a:ext uri="{FF2B5EF4-FFF2-40B4-BE49-F238E27FC236}">
                <a16:creationId xmlns:a16="http://schemas.microsoft.com/office/drawing/2014/main" id="{54A43BA5-363A-4607-914F-A91F4229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11091672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36" name="Texto compiler">
            <a:extLst xmlns:a="http://schemas.openxmlformats.org/drawingml/2006/main">
              <a:ext uri="{FF2B5EF4-FFF2-40B4-BE49-F238E27FC236}">
                <a16:creationId xmlns:a16="http://schemas.microsoft.com/office/drawing/2014/main" id="{E7825AA6-6E48-4291-B5E7-807E4922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1109167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compiler.py</a:t>
            </a:r>
            <a:r>
              <a:rPr sz="1800">
                <a:solidFill>
                  <a:schemeClr val="tx1"/>
                </a:solidFill>
              </a:rPr>
              <a:t>  coordena as fases</a:t>
            </a:r>
            <a:endParaRPr sz="1800"/>
          </a:p>
        </p:txBody>
      </p:sp>
      <p:sp>
        <p:nvSpPr>
          <p:cNvPr id="3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A2E3A62-6014-44B9-A998-95D1DDE9FB3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0972800" y="6419088"/>
            <a:ext cx="66751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02871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C7AE4C8-934E-4ABF-A2F6-A47994DC8315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365760"/>
            <a:ext cx="110916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>
                <a:solidFill>
                  <a:schemeClr val="tx1"/>
                </a:solidFill>
              </a:rPr>
              <a:t>Análise léxica</a:t>
            </a:r>
            <a:endParaRPr sz="4000"/>
          </a:p>
        </p:txBody>
      </p:sp>
      <p:sp>
        <p:nvSpPr>
          <p:cNvPr id="4" name="Token 1">
            <a:extLst xmlns:a="http://schemas.openxmlformats.org/drawingml/2006/main">
              <a:ext uri="{FF2B5EF4-FFF2-40B4-BE49-F238E27FC236}">
                <a16:creationId xmlns:a16="http://schemas.microsoft.com/office/drawing/2014/main" id="{E0263EE7-A8AE-4768-BB10-C912F113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" y="1691640"/>
            <a:ext cx="1773936" cy="86868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5" name="Lexema 1">
            <a:extLst xmlns:a="http://schemas.openxmlformats.org/drawingml/2006/main">
              <a:ext uri="{FF2B5EF4-FFF2-40B4-BE49-F238E27FC236}">
                <a16:creationId xmlns:a16="http://schemas.microsoft.com/office/drawing/2014/main" id="{43D6EA64-F272-4A9F-90AA-90B37C1A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" y="1691640"/>
            <a:ext cx="1773936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RECEBA</a:t>
            </a:r>
            <a:endParaRPr sz="2800"/>
          </a:p>
        </p:txBody>
      </p:sp>
      <p:sp>
        <p:nvSpPr>
          <p:cNvPr id="6" name="Token 2">
            <a:extLst xmlns:a="http://schemas.openxmlformats.org/drawingml/2006/main">
              <a:ext uri="{FF2B5EF4-FFF2-40B4-BE49-F238E27FC236}">
                <a16:creationId xmlns:a16="http://schemas.microsoft.com/office/drawing/2014/main" id="{6E2726D2-B4A3-43CC-9D84-C431407D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652" y="1691640"/>
            <a:ext cx="1993392" cy="86868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7" name="Lexema 2">
            <a:extLst xmlns:a="http://schemas.openxmlformats.org/drawingml/2006/main">
              <a:ext uri="{FF2B5EF4-FFF2-40B4-BE49-F238E27FC236}">
                <a16:creationId xmlns:a16="http://schemas.microsoft.com/office/drawing/2014/main" id="{4691745D-656B-43EA-841B-05202C04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652" y="1691640"/>
            <a:ext cx="199339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energia</a:t>
            </a:r>
            <a:endParaRPr sz="2800"/>
          </a:p>
        </p:txBody>
      </p:sp>
      <p:sp>
        <p:nvSpPr>
          <p:cNvPr id="8" name="Token 3">
            <a:extLst xmlns:a="http://schemas.openxmlformats.org/drawingml/2006/main">
              <a:ext uri="{FF2B5EF4-FFF2-40B4-BE49-F238E27FC236}">
                <a16:creationId xmlns:a16="http://schemas.microsoft.com/office/drawing/2014/main" id="{4D254CD3-B6E9-4349-81AA-CB83B6EF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636" y="1691640"/>
            <a:ext cx="731520" cy="86868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9" name="Lexema 3">
            <a:extLst xmlns:a="http://schemas.openxmlformats.org/drawingml/2006/main">
              <a:ext uri="{FF2B5EF4-FFF2-40B4-BE49-F238E27FC236}">
                <a16:creationId xmlns:a16="http://schemas.microsoft.com/office/drawing/2014/main" id="{365970BC-862C-4FF3-BAC7-B5B834A2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636" y="1691640"/>
            <a:ext cx="7315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=</a:t>
            </a:r>
            <a:endParaRPr sz="2800"/>
          </a:p>
        </p:txBody>
      </p:sp>
      <p:sp>
        <p:nvSpPr>
          <p:cNvPr id="10" name="Token 4">
            <a:extLst xmlns:a="http://schemas.openxmlformats.org/drawingml/2006/main">
              <a:ext uri="{FF2B5EF4-FFF2-40B4-BE49-F238E27FC236}">
                <a16:creationId xmlns:a16="http://schemas.microsoft.com/office/drawing/2014/main" id="{9869ED4E-513F-41C2-A8BB-DA8B4580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4748" y="1691640"/>
            <a:ext cx="731520" cy="86868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11" name="Lexema 4">
            <a:extLst xmlns:a="http://schemas.openxmlformats.org/drawingml/2006/main">
              <a:ext uri="{FF2B5EF4-FFF2-40B4-BE49-F238E27FC236}">
                <a16:creationId xmlns:a16="http://schemas.microsoft.com/office/drawing/2014/main" id="{603D8DA8-3FB5-445F-A2B7-0C31AFA7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4748" y="1691640"/>
            <a:ext cx="7315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2</a:t>
            </a:r>
            <a:endParaRPr sz="2800"/>
          </a:p>
        </p:txBody>
      </p:sp>
      <p:sp>
        <p:nvSpPr>
          <p:cNvPr id="12" name="Token 5">
            <a:extLst xmlns:a="http://schemas.openxmlformats.org/drawingml/2006/main">
              <a:ext uri="{FF2B5EF4-FFF2-40B4-BE49-F238E27FC236}">
                <a16:creationId xmlns:a16="http://schemas.microsoft.com/office/drawing/2014/main" id="{9AF5932C-B8E4-42B3-B56E-5243AE86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860" y="1691640"/>
            <a:ext cx="731520" cy="86868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13" name="Lexema 5">
            <a:extLst xmlns:a="http://schemas.openxmlformats.org/drawingml/2006/main">
              <a:ext uri="{FF2B5EF4-FFF2-40B4-BE49-F238E27FC236}">
                <a16:creationId xmlns:a16="http://schemas.microsoft.com/office/drawing/2014/main" id="{E91DB0EE-7EA3-4CBC-8CB6-E641269C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860" y="1691640"/>
            <a:ext cx="7315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+</a:t>
            </a:r>
            <a:endParaRPr sz="2800"/>
          </a:p>
        </p:txBody>
      </p:sp>
      <p:sp>
        <p:nvSpPr>
          <p:cNvPr id="14" name="Token 6">
            <a:extLst xmlns:a="http://schemas.openxmlformats.org/drawingml/2006/main">
              <a:ext uri="{FF2B5EF4-FFF2-40B4-BE49-F238E27FC236}">
                <a16:creationId xmlns:a16="http://schemas.microsoft.com/office/drawing/2014/main" id="{F4D308D5-2CD7-42CE-B877-4A291FD1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972" y="1691640"/>
            <a:ext cx="731520" cy="86868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15" name="Lexema 6">
            <a:extLst xmlns:a="http://schemas.openxmlformats.org/drawingml/2006/main">
              <a:ext uri="{FF2B5EF4-FFF2-40B4-BE49-F238E27FC236}">
                <a16:creationId xmlns:a16="http://schemas.microsoft.com/office/drawing/2014/main" id="{94AB2DF4-9BEE-406E-9148-B4960BA9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972" y="1691640"/>
            <a:ext cx="7315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3</a:t>
            </a:r>
            <a:endParaRPr sz="2800"/>
          </a:p>
        </p:txBody>
      </p:sp>
      <p:sp>
        <p:nvSpPr>
          <p:cNvPr id="16" name="Token 7">
            <a:extLst xmlns:a="http://schemas.openxmlformats.org/drawingml/2006/main">
              <a:ext uri="{FF2B5EF4-FFF2-40B4-BE49-F238E27FC236}">
                <a16:creationId xmlns:a16="http://schemas.microsoft.com/office/drawing/2014/main" id="{FC66105C-C236-405F-93B3-A215214E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3084" y="1691640"/>
            <a:ext cx="731520" cy="86868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17" name="Lexema 7">
            <a:extLst xmlns:a="http://schemas.openxmlformats.org/drawingml/2006/main">
              <a:ext uri="{FF2B5EF4-FFF2-40B4-BE49-F238E27FC236}">
                <a16:creationId xmlns:a16="http://schemas.microsoft.com/office/drawing/2014/main" id="{6D7BB707-4723-44F8-BB6A-B4792051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3084" y="1691640"/>
            <a:ext cx="7315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*</a:t>
            </a:r>
            <a:endParaRPr sz="2800"/>
          </a:p>
        </p:txBody>
      </p:sp>
      <p:sp>
        <p:nvSpPr>
          <p:cNvPr id="18" name="Token 8">
            <a:extLst xmlns:a="http://schemas.openxmlformats.org/drawingml/2006/main">
              <a:ext uri="{FF2B5EF4-FFF2-40B4-BE49-F238E27FC236}">
                <a16:creationId xmlns:a16="http://schemas.microsoft.com/office/drawing/2014/main" id="{94DBC9E6-2EAF-42D8-83F8-F224BA40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196" y="1691640"/>
            <a:ext cx="731520" cy="86868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19" name="Lexema 8">
            <a:extLst xmlns:a="http://schemas.openxmlformats.org/drawingml/2006/main">
              <a:ext uri="{FF2B5EF4-FFF2-40B4-BE49-F238E27FC236}">
                <a16:creationId xmlns:a16="http://schemas.microsoft.com/office/drawing/2014/main" id="{C6789562-4555-4566-AF1A-883C478A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196" y="1691640"/>
            <a:ext cx="7315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4</a:t>
            </a:r>
            <a:endParaRPr sz="2800"/>
          </a:p>
        </p:txBody>
      </p:sp>
      <p:sp>
        <p:nvSpPr>
          <p:cNvPr id="20" name="Token 9">
            <a:extLst xmlns:a="http://schemas.openxmlformats.org/drawingml/2006/main">
              <a:ext uri="{FF2B5EF4-FFF2-40B4-BE49-F238E27FC236}">
                <a16:creationId xmlns:a16="http://schemas.microsoft.com/office/drawing/2014/main" id="{AE49E38D-F24B-45A4-85F7-A072740A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308" y="1691640"/>
            <a:ext cx="731520" cy="86868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chemeClr val="accent6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21" name="Lexema 9">
            <a:extLst xmlns:a="http://schemas.openxmlformats.org/drawingml/2006/main">
              <a:ext uri="{FF2B5EF4-FFF2-40B4-BE49-F238E27FC236}">
                <a16:creationId xmlns:a16="http://schemas.microsoft.com/office/drawing/2014/main" id="{6148DCCE-EA00-45A5-8B73-96BCCD36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308" y="1691640"/>
            <a:ext cx="7315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;</a:t>
            </a:r>
            <a:endParaRPr sz="2800"/>
          </a:p>
        </p:txBody>
      </p:sp>
      <p:sp>
        <p:nvSpPr>
          <p:cNvPr id="22" name="Categoria Reservada">
            <a:extLst xmlns:a="http://schemas.openxmlformats.org/drawingml/2006/main">
              <a:ext uri="{FF2B5EF4-FFF2-40B4-BE49-F238E27FC236}">
                <a16:creationId xmlns:a16="http://schemas.microsoft.com/office/drawing/2014/main" id="{B74A22CB-A45E-44C9-A929-2CCAB745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46120"/>
            <a:ext cx="2606040" cy="13716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23" name="Marcador Reservada">
            <a:extLst xmlns:a="http://schemas.openxmlformats.org/drawingml/2006/main">
              <a:ext uri="{FF2B5EF4-FFF2-40B4-BE49-F238E27FC236}">
                <a16:creationId xmlns:a16="http://schemas.microsoft.com/office/drawing/2014/main" id="{2A34C908-E6C2-490E-AE5E-B78CCC02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24" name="Nome categoria Reservada">
            <a:extLst xmlns:a="http://schemas.openxmlformats.org/drawingml/2006/main">
              <a:ext uri="{FF2B5EF4-FFF2-40B4-BE49-F238E27FC236}">
                <a16:creationId xmlns:a16="http://schemas.microsoft.com/office/drawing/2014/main" id="{FB68638C-695A-48E2-9405-A405B997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447288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Reservada</a:t>
            </a:r>
            <a:endParaRPr sz="1800"/>
          </a:p>
        </p:txBody>
      </p:sp>
      <p:sp>
        <p:nvSpPr>
          <p:cNvPr id="25" name="Lexema Reservada">
            <a:extLst xmlns:a="http://schemas.openxmlformats.org/drawingml/2006/main">
              <a:ext uri="{FF2B5EF4-FFF2-40B4-BE49-F238E27FC236}">
                <a16:creationId xmlns:a16="http://schemas.microsoft.com/office/drawing/2014/main" id="{B75636A5-5ADA-4989-B5A3-60DBD828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2148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RECEBA</a:t>
            </a:r>
            <a:endParaRPr sz="2000"/>
          </a:p>
        </p:txBody>
      </p:sp>
      <p:sp>
        <p:nvSpPr>
          <p:cNvPr id="26" name="Categoria Identificador">
            <a:extLst xmlns:a="http://schemas.openxmlformats.org/drawingml/2006/main">
              <a:ext uri="{FF2B5EF4-FFF2-40B4-BE49-F238E27FC236}">
                <a16:creationId xmlns:a16="http://schemas.microsoft.com/office/drawing/2014/main" id="{044BA3CA-7AF3-4487-8C04-550FF6B4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879" y="3246120"/>
            <a:ext cx="2606040" cy="13716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27" name="Marcador Identificador">
            <a:extLst xmlns:a="http://schemas.openxmlformats.org/drawingml/2006/main">
              <a:ext uri="{FF2B5EF4-FFF2-40B4-BE49-F238E27FC236}">
                <a16:creationId xmlns:a16="http://schemas.microsoft.com/office/drawing/2014/main" id="{4DF42679-7482-4917-A3B8-2F531D09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479" y="352044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28" name="Nome categoria Identificador">
            <a:extLst xmlns:a="http://schemas.openxmlformats.org/drawingml/2006/main">
              <a:ext uri="{FF2B5EF4-FFF2-40B4-BE49-F238E27FC236}">
                <a16:creationId xmlns:a16="http://schemas.microsoft.com/office/drawing/2014/main" id="{F2B5282C-6838-4060-AC96-F33C4899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959" y="3447288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Identificador</a:t>
            </a:r>
            <a:endParaRPr sz="1800"/>
          </a:p>
        </p:txBody>
      </p:sp>
      <p:sp>
        <p:nvSpPr>
          <p:cNvPr id="29" name="Lexema Identificador">
            <a:extLst xmlns:a="http://schemas.openxmlformats.org/drawingml/2006/main">
              <a:ext uri="{FF2B5EF4-FFF2-40B4-BE49-F238E27FC236}">
                <a16:creationId xmlns:a16="http://schemas.microsoft.com/office/drawing/2014/main" id="{20BCD2C8-DBB5-4D98-9A14-FBB50999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479" y="4023360"/>
            <a:ext cx="2148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energia</a:t>
            </a:r>
            <a:endParaRPr sz="2000"/>
          </a:p>
        </p:txBody>
      </p:sp>
      <p:sp>
        <p:nvSpPr>
          <p:cNvPr id="30" name="Categoria Literal inteiro">
            <a:extLst xmlns:a="http://schemas.openxmlformats.org/drawingml/2006/main">
              <a:ext uri="{FF2B5EF4-FFF2-40B4-BE49-F238E27FC236}">
                <a16:creationId xmlns:a16="http://schemas.microsoft.com/office/drawing/2014/main" id="{412FF6D8-A9D7-422F-B743-D921C18E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118" y="3246120"/>
            <a:ext cx="2606040" cy="13716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31" name="Marcador Literal inteiro">
            <a:extLst xmlns:a="http://schemas.openxmlformats.org/drawingml/2006/main">
              <a:ext uri="{FF2B5EF4-FFF2-40B4-BE49-F238E27FC236}">
                <a16:creationId xmlns:a16="http://schemas.microsoft.com/office/drawing/2014/main" id="{2A9FA08F-D6F9-474D-AA90-6D228532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3718" y="352044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32" name="Nome categoria Literal inteiro">
            <a:extLst xmlns:a="http://schemas.openxmlformats.org/drawingml/2006/main">
              <a:ext uri="{FF2B5EF4-FFF2-40B4-BE49-F238E27FC236}">
                <a16:creationId xmlns:a16="http://schemas.microsoft.com/office/drawing/2014/main" id="{99BDBBD5-2A70-4D30-8750-1F2E3A24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5198" y="3447288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Literal inteiro</a:t>
            </a:r>
            <a:endParaRPr sz="1800"/>
          </a:p>
        </p:txBody>
      </p:sp>
      <p:sp>
        <p:nvSpPr>
          <p:cNvPr id="33" name="Lexema Literal inteiro">
            <a:extLst xmlns:a="http://schemas.openxmlformats.org/drawingml/2006/main">
              <a:ext uri="{FF2B5EF4-FFF2-40B4-BE49-F238E27FC236}">
                <a16:creationId xmlns:a16="http://schemas.microsoft.com/office/drawing/2014/main" id="{D03FB782-E782-4B36-9BED-73BA78BB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3718" y="4023360"/>
            <a:ext cx="2148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2</a:t>
            </a:r>
            <a:endParaRPr sz="2000"/>
          </a:p>
        </p:txBody>
      </p:sp>
      <p:sp>
        <p:nvSpPr>
          <p:cNvPr id="34" name="Categoria Operador">
            <a:extLst xmlns:a="http://schemas.openxmlformats.org/drawingml/2006/main">
              <a:ext uri="{FF2B5EF4-FFF2-40B4-BE49-F238E27FC236}">
                <a16:creationId xmlns:a16="http://schemas.microsoft.com/office/drawing/2014/main" id="{57677BA3-0F30-4F1D-918B-C582365B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3358" y="3246120"/>
            <a:ext cx="2606040" cy="13716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35" name="Marcador Operador">
            <a:extLst xmlns:a="http://schemas.openxmlformats.org/drawingml/2006/main">
              <a:ext uri="{FF2B5EF4-FFF2-40B4-BE49-F238E27FC236}">
                <a16:creationId xmlns:a16="http://schemas.microsoft.com/office/drawing/2014/main" id="{B545B20B-B2F6-48AE-B766-8E408932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1958" y="352044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36" name="Nome categoria Operador">
            <a:extLst xmlns:a="http://schemas.openxmlformats.org/drawingml/2006/main">
              <a:ext uri="{FF2B5EF4-FFF2-40B4-BE49-F238E27FC236}">
                <a16:creationId xmlns:a16="http://schemas.microsoft.com/office/drawing/2014/main" id="{81D4C00A-1AB2-4B83-B273-89186711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438" y="3447288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Operador</a:t>
            </a:r>
            <a:endParaRPr sz="1800"/>
          </a:p>
        </p:txBody>
      </p:sp>
      <p:sp>
        <p:nvSpPr>
          <p:cNvPr id="37" name="Lexema Operador">
            <a:extLst xmlns:a="http://schemas.openxmlformats.org/drawingml/2006/main">
              <a:ext uri="{FF2B5EF4-FFF2-40B4-BE49-F238E27FC236}">
                <a16:creationId xmlns:a16="http://schemas.microsoft.com/office/drawing/2014/main" id="{B9D8B7C1-82DA-4FFC-B06F-30712C8E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1958" y="4023360"/>
            <a:ext cx="2148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+</a:t>
            </a:r>
            <a:endParaRPr sz="2000"/>
          </a:p>
        </p:txBody>
      </p:sp>
      <p:sp>
        <p:nvSpPr>
          <p:cNvPr id="38" name="Faixa maior casamento">
            <a:extLst xmlns:a="http://schemas.openxmlformats.org/drawingml/2006/main">
              <a:ext uri="{FF2B5EF4-FFF2-40B4-BE49-F238E27FC236}">
                <a16:creationId xmlns:a16="http://schemas.microsoft.com/office/drawing/2014/main" id="{3BF7C458-C829-4951-A058-77DC71F6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0"/>
            <a:ext cx="11091672" cy="11430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19050">
            <a:solidFill>
              <a:schemeClr val="tx1"/>
            </a:solidFill>
            <a:prstDash val="solid"/>
          </a:ln>
        </p:spPr>
      </p:sp>
      <p:sp>
        <p:nvSpPr>
          <p:cNvPr id="39" name="Texto maior casamento">
            <a:extLst xmlns:a="http://schemas.openxmlformats.org/drawingml/2006/main">
              <a:ext uri="{FF2B5EF4-FFF2-40B4-BE49-F238E27FC236}">
                <a16:creationId xmlns:a16="http://schemas.microsoft.com/office/drawing/2014/main" id="{55320E3B-A1D0-4271-B9B3-E7B44252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29200"/>
            <a:ext cx="1051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>
                <a:solidFill>
                  <a:schemeClr val="bg1"/>
                </a:solidFill>
              </a:rPr>
              <a:t>Maior casamento reconhece </a:t>
            </a:r>
            <a:r>
              <a:rPr sz="26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==</a:t>
            </a:r>
            <a:r>
              <a:rPr sz="2600">
                <a:solidFill>
                  <a:schemeClr val="bg1"/>
                </a:solidFill>
              </a:rPr>
              <a:t> como um único token</a:t>
            </a:r>
            <a:endParaRPr sz="2600"/>
          </a:p>
        </p:txBody>
      </p:sp>
      <p:sp>
        <p:nvSpPr>
          <p:cNvPr id="4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47D3A4-2A86-4BE6-B07D-29CD043522C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0972800" y="6419088"/>
            <a:ext cx="66751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3791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A11A025-E833-407E-8E91-F23D401DF294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365760"/>
            <a:ext cx="110916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>
                <a:solidFill>
                  <a:schemeClr val="tx1"/>
                </a:solidFill>
              </a:rPr>
              <a:t>Gramática e blocos</a:t>
            </a:r>
            <a:endParaRPr sz="4000"/>
          </a:p>
        </p:txBody>
      </p:sp>
      <p:sp>
        <p:nvSpPr>
          <p:cNvPr id="4" name="Bloco EBNF">
            <a:extLst xmlns:a="http://schemas.openxmlformats.org/drawingml/2006/main">
              <a:ext uri="{FF2B5EF4-FFF2-40B4-BE49-F238E27FC236}">
                <a16:creationId xmlns:a16="http://schemas.microsoft.com/office/drawing/2014/main" id="{0E76D812-EBFF-4375-BE3B-9923EA54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7315200" cy="45262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5" name="Código EBNF">
            <a:extLst xmlns:a="http://schemas.openxmlformats.org/drawingml/2006/main">
              <a:ext uri="{FF2B5EF4-FFF2-40B4-BE49-F238E27FC236}">
                <a16:creationId xmlns:a16="http://schemas.microsoft.com/office/drawing/2014/main" id="{1EC44ED2-29F4-437C-A11D-C1F6FCC7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6675120" cy="397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program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>
                <a:solidFill>
                  <a:schemeClr val="accent2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"</a:t>
            </a:r>
            <a:r>
              <a:rPr sz="2200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E_HORA_DO_SHOW</a:t>
            </a:r>
            <a:r>
              <a:rPr sz="2200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"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,</a:t>
            </a:r>
            <a:endParaRPr sz="2200"/>
          </a:p>
          <a:p xmlns:a="http://schemas.openxmlformats.org/drawingml/2006/main">
            <a:pPr marL="0" indent="0">
              <a:buNone/>
            </a:pP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         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{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declaration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}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,</a:t>
            </a:r>
            <a:endParaRPr sz="2200"/>
          </a:p>
          <a:p xmlns:a="http://schemas.openxmlformats.org/drawingml/2006/main">
            <a:pPr marL="0" indent="0">
              <a:buNone/>
            </a:pP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         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{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statement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}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"</a:t>
            </a:r>
            <a:r>
              <a:rPr sz="2200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JA_ACABOU_JESSICA</a:t>
            </a:r>
            <a:r>
              <a:rPr sz="2200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"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;</a:t>
            </a:r>
            <a:endParaRPr sz="2200"/>
          </a:p>
          <a:p xmlns:a="http://schemas.openxmlformats.org/drawingml/2006/main">
            <a:pPr marL="0" indent="0">
              <a:buNone/>
            </a:pP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endParaRPr sz="2200"/>
          </a:p>
          <a:p xmlns:a="http://schemas.openxmlformats.org/drawingml/2006/main">
            <a:pPr marL="0" indent="0">
              <a:buNone/>
            </a:pP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block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>
                <a:solidFill>
                  <a:schemeClr val="accent2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{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statement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}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;</a:t>
            </a:r>
            <a:endParaRPr sz="2200"/>
          </a:p>
          <a:p xmlns:a="http://schemas.openxmlformats.org/drawingml/2006/main">
            <a:pPr marL="0" indent="0">
              <a:buNone/>
            </a:pP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endParaRPr sz="2200"/>
          </a:p>
          <a:p xmlns:a="http://schemas.openxmlformats.org/drawingml/2006/main">
            <a:pPr marL="0" indent="0">
              <a:buNone/>
            </a:pP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while_stmt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>
                <a:solidFill>
                  <a:schemeClr val="accent2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"BORA_BILL"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,</a:t>
            </a:r>
            <a:endParaRPr sz="2200"/>
          </a:p>
          <a:p xmlns:a="http://schemas.openxmlformats.org/drawingml/2006/main">
            <a:pPr marL="0" indent="0">
              <a:buNone/>
            </a:pP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            </a:t>
            </a:r>
            <a:r>
              <a:rPr sz="2200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"("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expression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")"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,</a:t>
            </a:r>
            <a:endParaRPr sz="2200"/>
          </a:p>
          <a:p xmlns:a="http://schemas.openxmlformats.org/drawingml/2006/main">
            <a:pPr marL="0" indent="0">
              <a:buNone/>
            </a:pP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            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block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"ATA"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;</a:t>
            </a:r>
            <a:endParaRPr sz="2200"/>
          </a:p>
        </p:txBody>
      </p:sp>
      <p:sp>
        <p:nvSpPr>
          <p:cNvPr id="6" name="Callout ATA">
            <a:extLst xmlns:a="http://schemas.openxmlformats.org/drawingml/2006/main">
              <a:ext uri="{FF2B5EF4-FFF2-40B4-BE49-F238E27FC236}">
                <a16:creationId xmlns:a16="http://schemas.microsoft.com/office/drawing/2014/main" id="{E164F0F8-A5D0-458D-825C-4146E97B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08760"/>
            <a:ext cx="3410712" cy="210312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7" name="ATA grande">
            <a:extLst xmlns:a="http://schemas.openxmlformats.org/drawingml/2006/main">
              <a:ext uri="{FF2B5EF4-FFF2-40B4-BE49-F238E27FC236}">
                <a16:creationId xmlns:a16="http://schemas.microsoft.com/office/drawing/2014/main" id="{4A6E3367-53BD-4167-811D-9D5C3393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691640"/>
            <a:ext cx="28346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000">
                <a:solidFill>
                  <a:schemeClr val="tx1"/>
                </a:solidFill>
                <a:latin typeface="Impact"/>
                <a:ea typeface="Impact"/>
                <a:cs typeface="Impact"/>
              </a:rPr>
              <a:t>ATA</a:t>
            </a:r>
            <a:endParaRPr sz="6000"/>
          </a:p>
        </p:txBody>
      </p:sp>
      <p:sp>
        <p:nvSpPr>
          <p:cNvPr id="8" name="ATA texto">
            <a:extLst xmlns:a="http://schemas.openxmlformats.org/drawingml/2006/main">
              <a:ext uri="{FF2B5EF4-FFF2-40B4-BE49-F238E27FC236}">
                <a16:creationId xmlns:a16="http://schemas.microsoft.com/office/drawing/2014/main" id="{D410F1EC-40A7-46D4-983A-1159278B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651760"/>
            <a:ext cx="28346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tx1"/>
                </a:solidFill>
              </a:rPr>
              <a:t>fecha o bloco mais interno</a:t>
            </a:r>
            <a:endParaRPr sz="2000"/>
          </a:p>
        </p:txBody>
      </p:sp>
      <p:sp>
        <p:nvSpPr>
          <p:cNvPr id="9" name="Callout indentação">
            <a:extLst xmlns:a="http://schemas.openxmlformats.org/drawingml/2006/main">
              <a:ext uri="{FF2B5EF4-FFF2-40B4-BE49-F238E27FC236}">
                <a16:creationId xmlns:a16="http://schemas.microsoft.com/office/drawing/2014/main" id="{A686DC1C-94DF-4639-A2B5-7D208A9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31920"/>
            <a:ext cx="3410712" cy="210312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10" name="Indentação grande">
            <a:extLst xmlns:a="http://schemas.openxmlformats.org/drawingml/2006/main">
              <a:ext uri="{FF2B5EF4-FFF2-40B4-BE49-F238E27FC236}">
                <a16:creationId xmlns:a16="http://schemas.microsoft.com/office/drawing/2014/main" id="{3AB02970-E7FD-4BAA-9333-3555F94F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14800"/>
            <a:ext cx="28346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>
                <a:solidFill>
                  <a:schemeClr val="tx1"/>
                </a:solidFill>
                <a:latin typeface="Impact"/>
                <a:ea typeface="Impact"/>
                <a:cs typeface="Impact"/>
              </a:rPr>
              <a:t>Indentação</a:t>
            </a:r>
            <a:endParaRPr sz="3600"/>
          </a:p>
        </p:txBody>
      </p:sp>
      <p:sp>
        <p:nvSpPr>
          <p:cNvPr id="11" name="Indentação texto">
            <a:extLst xmlns:a="http://schemas.openxmlformats.org/drawingml/2006/main">
              <a:ext uri="{FF2B5EF4-FFF2-40B4-BE49-F238E27FC236}">
                <a16:creationId xmlns:a16="http://schemas.microsoft.com/office/drawing/2014/main" id="{5EFACAC6-044A-4F8D-A5B5-58EDDDFB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074920"/>
            <a:ext cx="28346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tx1"/>
                </a:solidFill>
              </a:rPr>
              <a:t>serve para leitura</a:t>
            </a:r>
            <a:endParaRPr sz="2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10740C5-20D5-477A-BAB4-FC155CF0BDC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0972800" y="6419088"/>
            <a:ext cx="66751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842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6F11315-CA70-4853-A491-325C98A8B93F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365760"/>
            <a:ext cx="110916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>
                <a:solidFill>
                  <a:schemeClr val="tx1"/>
                </a:solidFill>
              </a:rPr>
              <a:t>Precedência e AST</a:t>
            </a:r>
            <a:endParaRPr sz="4000"/>
          </a:p>
        </p:txBody>
      </p:sp>
      <p:sp>
        <p:nvSpPr>
          <p:cNvPr id="4" name="Painel A">
            <a:extLst xmlns:a="http://schemas.openxmlformats.org/drawingml/2006/main">
              <a:ext uri="{FF2B5EF4-FFF2-40B4-BE49-F238E27FC236}">
                <a16:creationId xmlns:a16="http://schemas.microsoft.com/office/drawing/2014/main" id="{038B07A2-667D-4C70-A9D3-0B012E06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5440680" cy="4754880"/>
          </a:xfrm>
          <a:prstGeom xmlns:a="http://schemas.openxmlformats.org/drawingml/2006/main" prst="roundRect">
            <a:avLst>
              <a:gd name="adj" fmla="val 2692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5" name="Expressão A">
            <a:extLst xmlns:a="http://schemas.openxmlformats.org/drawingml/2006/main">
              <a:ext uri="{FF2B5EF4-FFF2-40B4-BE49-F238E27FC236}">
                <a16:creationId xmlns:a16="http://schemas.microsoft.com/office/drawing/2014/main" id="{52382867-4EFF-499E-86C3-392D46AF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45920"/>
            <a:ext cx="4800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2 + 3 * 4</a:t>
            </a:r>
            <a:endParaRPr sz="3000"/>
          </a:p>
        </p:txBody>
      </p:sp>
      <p:sp>
        <p:nvSpPr>
          <p:cNvPr id="6" name="Aresta A 1">
            <a:extLst xmlns:a="http://schemas.openxmlformats.org/drawingml/2006/main">
              <a:ext uri="{FF2B5EF4-FFF2-40B4-BE49-F238E27FC236}">
                <a16:creationId xmlns:a16="http://schemas.microsoft.com/office/drawing/2014/main" id="{A03F63B9-9244-4613-A282-E6D73A66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988820" y="2788920"/>
            <a:ext cx="1280160" cy="10515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tx1"/>
            </a:solidFill>
            <a:prstDash val="solid"/>
          </a:ln>
        </p:spPr>
      </p:sp>
      <p:sp>
        <p:nvSpPr>
          <p:cNvPr id="7" name="Aresta A 2">
            <a:extLst xmlns:a="http://schemas.openxmlformats.org/drawingml/2006/main">
              <a:ext uri="{FF2B5EF4-FFF2-40B4-BE49-F238E27FC236}">
                <a16:creationId xmlns:a16="http://schemas.microsoft.com/office/drawing/2014/main" id="{BBA4FF22-6C23-4D13-BF42-B634FACB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980" y="2788920"/>
            <a:ext cx="1188720" cy="10515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tx1"/>
            </a:solidFill>
            <a:prstDash val="solid"/>
          </a:ln>
        </p:spPr>
      </p:sp>
      <p:sp>
        <p:nvSpPr>
          <p:cNvPr id="8" name="Aresta A 3">
            <a:extLst xmlns:a="http://schemas.openxmlformats.org/drawingml/2006/main">
              <a:ext uri="{FF2B5EF4-FFF2-40B4-BE49-F238E27FC236}">
                <a16:creationId xmlns:a16="http://schemas.microsoft.com/office/drawing/2014/main" id="{FCF93082-5DD1-4435-9021-E3AC550B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726180" y="3840480"/>
            <a:ext cx="731520" cy="10515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tx1"/>
            </a:solidFill>
            <a:prstDash val="solid"/>
          </a:ln>
        </p:spPr>
      </p:sp>
      <p:sp>
        <p:nvSpPr>
          <p:cNvPr id="9" name="Aresta A 4">
            <a:extLst xmlns:a="http://schemas.openxmlformats.org/drawingml/2006/main">
              <a:ext uri="{FF2B5EF4-FFF2-40B4-BE49-F238E27FC236}">
                <a16:creationId xmlns:a16="http://schemas.microsoft.com/office/drawing/2014/main" id="{6B400E09-C688-4FE6-90F0-F923F64A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0480"/>
            <a:ext cx="731520" cy="10515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tx1"/>
            </a:solidFill>
            <a:prstDash val="solid"/>
          </a:ln>
        </p:spPr>
      </p:sp>
      <p:sp>
        <p:nvSpPr>
          <p:cNvPr id="10" name="Nó A a">
            <a:extLst xmlns:a="http://schemas.openxmlformats.org/drawingml/2006/main">
              <a:ext uri="{FF2B5EF4-FFF2-40B4-BE49-F238E27FC236}">
                <a16:creationId xmlns:a16="http://schemas.microsoft.com/office/drawing/2014/main" id="{1FA1D0DE-0C32-4579-B8B9-B26D80AE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796" y="2459736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>
            <a:solidFill>
              <a:schemeClr val="tx1"/>
            </a:solidFill>
            <a:prstDash val="solid"/>
          </a:ln>
        </p:spPr>
      </p:sp>
      <p:sp>
        <p:nvSpPr>
          <p:cNvPr id="11" name="Rótulo A a">
            <a:extLst xmlns:a="http://schemas.openxmlformats.org/drawingml/2006/main">
              <a:ext uri="{FF2B5EF4-FFF2-40B4-BE49-F238E27FC236}">
                <a16:creationId xmlns:a16="http://schemas.microsoft.com/office/drawing/2014/main" id="{2E0A0372-3B6D-4C62-897F-14673DA1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796" y="245973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+</a:t>
            </a:r>
            <a:endParaRPr sz="2400"/>
          </a:p>
        </p:txBody>
      </p:sp>
      <p:sp>
        <p:nvSpPr>
          <p:cNvPr id="12" name="Nó A b">
            <a:extLst xmlns:a="http://schemas.openxmlformats.org/drawingml/2006/main">
              <a:ext uri="{FF2B5EF4-FFF2-40B4-BE49-F238E27FC236}">
                <a16:creationId xmlns:a16="http://schemas.microsoft.com/office/drawing/2014/main" id="{0018BB55-DD0F-47B7-8EA8-A8D4696C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636" y="3511296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9050">
            <a:solidFill>
              <a:schemeClr val="tx1"/>
            </a:solidFill>
            <a:prstDash val="solid"/>
          </a:ln>
        </p:spPr>
      </p:sp>
      <p:sp>
        <p:nvSpPr>
          <p:cNvPr id="13" name="Rótulo A b">
            <a:extLst xmlns:a="http://schemas.openxmlformats.org/drawingml/2006/main">
              <a:ext uri="{FF2B5EF4-FFF2-40B4-BE49-F238E27FC236}">
                <a16:creationId xmlns:a16="http://schemas.microsoft.com/office/drawing/2014/main" id="{9AF396DB-862D-45F4-9F28-0B5F85BF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636" y="351129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2</a:t>
            </a:r>
            <a:endParaRPr sz="2400"/>
          </a:p>
        </p:txBody>
      </p:sp>
      <p:sp>
        <p:nvSpPr>
          <p:cNvPr id="14" name="Nó A c">
            <a:extLst xmlns:a="http://schemas.openxmlformats.org/drawingml/2006/main">
              <a:ext uri="{FF2B5EF4-FFF2-40B4-BE49-F238E27FC236}">
                <a16:creationId xmlns:a16="http://schemas.microsoft.com/office/drawing/2014/main" id="{1B579203-8BA1-4CD7-BF05-BEC17F34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516" y="3511296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>
            <a:solidFill>
              <a:schemeClr val="tx1"/>
            </a:solidFill>
            <a:prstDash val="solid"/>
          </a:ln>
        </p:spPr>
      </p:sp>
      <p:sp>
        <p:nvSpPr>
          <p:cNvPr id="15" name="Rótulo A c">
            <a:extLst xmlns:a="http://schemas.openxmlformats.org/drawingml/2006/main">
              <a:ext uri="{FF2B5EF4-FFF2-40B4-BE49-F238E27FC236}">
                <a16:creationId xmlns:a16="http://schemas.microsoft.com/office/drawing/2014/main" id="{7B3CC194-4D49-463D-9D8E-307C8FF3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516" y="351129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*</a:t>
            </a:r>
            <a:endParaRPr sz="2400"/>
          </a:p>
        </p:txBody>
      </p:sp>
      <p:sp>
        <p:nvSpPr>
          <p:cNvPr id="16" name="Nó A d">
            <a:extLst xmlns:a="http://schemas.openxmlformats.org/drawingml/2006/main">
              <a:ext uri="{FF2B5EF4-FFF2-40B4-BE49-F238E27FC236}">
                <a16:creationId xmlns:a16="http://schemas.microsoft.com/office/drawing/2014/main" id="{06749E26-B674-4C88-9CC8-E7BB3F9D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996" y="4562856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9050">
            <a:solidFill>
              <a:schemeClr val="tx1"/>
            </a:solidFill>
            <a:prstDash val="solid"/>
          </a:ln>
        </p:spPr>
      </p:sp>
      <p:sp>
        <p:nvSpPr>
          <p:cNvPr id="17" name="Rótulo A d">
            <a:extLst xmlns:a="http://schemas.openxmlformats.org/drawingml/2006/main">
              <a:ext uri="{FF2B5EF4-FFF2-40B4-BE49-F238E27FC236}">
                <a16:creationId xmlns:a16="http://schemas.microsoft.com/office/drawing/2014/main" id="{46E0D9F7-BB16-413A-86E9-42D6F86C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996" y="456285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3</a:t>
            </a:r>
            <a:endParaRPr sz="2400"/>
          </a:p>
        </p:txBody>
      </p:sp>
      <p:sp>
        <p:nvSpPr>
          <p:cNvPr id="18" name="Nó A e">
            <a:extLst xmlns:a="http://schemas.openxmlformats.org/drawingml/2006/main">
              <a:ext uri="{FF2B5EF4-FFF2-40B4-BE49-F238E27FC236}">
                <a16:creationId xmlns:a16="http://schemas.microsoft.com/office/drawing/2014/main" id="{57D641DA-2A66-4731-A31E-45B7AB87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0036" y="4562856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9050">
            <a:solidFill>
              <a:schemeClr val="tx1"/>
            </a:solidFill>
            <a:prstDash val="solid"/>
          </a:ln>
        </p:spPr>
      </p:sp>
      <p:sp>
        <p:nvSpPr>
          <p:cNvPr id="19" name="Rótulo A e">
            <a:extLst xmlns:a="http://schemas.openxmlformats.org/drawingml/2006/main">
              <a:ext uri="{FF2B5EF4-FFF2-40B4-BE49-F238E27FC236}">
                <a16:creationId xmlns:a16="http://schemas.microsoft.com/office/drawing/2014/main" id="{4CD772B9-722B-4E27-BA1E-3F8A19D5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0036" y="456285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4</a:t>
            </a:r>
            <a:endParaRPr sz="2400"/>
          </a:p>
        </p:txBody>
      </p:sp>
      <p:sp>
        <p:nvSpPr>
          <p:cNvPr id="20" name="Tag primeiro A">
            <a:extLst xmlns:a="http://schemas.openxmlformats.org/drawingml/2006/main">
              <a:ext uri="{FF2B5EF4-FFF2-40B4-BE49-F238E27FC236}">
                <a16:creationId xmlns:a16="http://schemas.microsoft.com/office/drawing/2014/main" id="{AB077CA1-B2FC-4823-8488-356A9B58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636" y="3657600"/>
            <a:ext cx="1188720" cy="36576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tx1"/>
            </a:solidFill>
            <a:prstDash val="solid"/>
          </a:ln>
        </p:spPr>
      </p:sp>
      <p:sp>
        <p:nvSpPr>
          <p:cNvPr id="21" name="Texto tag A">
            <a:extLst xmlns:a="http://schemas.openxmlformats.org/drawingml/2006/main">
              <a:ext uri="{FF2B5EF4-FFF2-40B4-BE49-F238E27FC236}">
                <a16:creationId xmlns:a16="http://schemas.microsoft.com/office/drawing/2014/main" id="{BC23D01A-EEBA-49A3-9B84-7A338EEA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636" y="365760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tx1"/>
                </a:solidFill>
              </a:rPr>
              <a:t>primeiro</a:t>
            </a:r>
            <a:endParaRPr sz="1400"/>
          </a:p>
        </p:txBody>
      </p:sp>
      <p:sp>
        <p:nvSpPr>
          <p:cNvPr id="22" name="Chip resultado A">
            <a:extLst xmlns:a="http://schemas.openxmlformats.org/drawingml/2006/main">
              <a:ext uri="{FF2B5EF4-FFF2-40B4-BE49-F238E27FC236}">
                <a16:creationId xmlns:a16="http://schemas.microsoft.com/office/drawing/2014/main" id="{6DB9B894-E27F-4DF7-AAA6-9DADE12B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532120"/>
            <a:ext cx="2331720" cy="54864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chemeClr val="tx1"/>
          </a:solidFill>
        </p:spPr>
      </p:sp>
      <p:sp>
        <p:nvSpPr>
          <p:cNvPr id="23" name="Resultado A">
            <a:extLst xmlns:a="http://schemas.openxmlformats.org/drawingml/2006/main">
              <a:ext uri="{FF2B5EF4-FFF2-40B4-BE49-F238E27FC236}">
                <a16:creationId xmlns:a16="http://schemas.microsoft.com/office/drawing/2014/main" id="{5DBFD84F-7A93-4FA2-8505-59B4E615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532120"/>
            <a:ext cx="2331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>
                <a:solidFill>
                  <a:schemeClr val="accent6"/>
                </a:solidFill>
                <a:latin typeface="Impact"/>
                <a:ea typeface="Impact"/>
                <a:cs typeface="Impact"/>
              </a:rPr>
              <a:t>= </a:t>
            </a:r>
            <a:r>
              <a:rPr sz="2800">
                <a:solidFill>
                  <a:schemeClr val="accent1"/>
                </a:solidFill>
                <a:latin typeface="Impact"/>
                <a:ea typeface="Impact"/>
                <a:cs typeface="Impact"/>
              </a:rPr>
              <a:t>14</a:t>
            </a:r>
            <a:endParaRPr sz="2800"/>
          </a:p>
        </p:txBody>
      </p:sp>
      <p:sp>
        <p:nvSpPr>
          <p:cNvPr id="24" name="Painel B">
            <a:extLst xmlns:a="http://schemas.openxmlformats.org/drawingml/2006/main">
              <a:ext uri="{FF2B5EF4-FFF2-40B4-BE49-F238E27FC236}">
                <a16:creationId xmlns:a16="http://schemas.microsoft.com/office/drawing/2014/main" id="{27F887BE-4CC2-4C16-9359-202A0405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463040"/>
            <a:ext cx="5440680" cy="4754880"/>
          </a:xfrm>
          <a:prstGeom xmlns:a="http://schemas.openxmlformats.org/drawingml/2006/main" prst="roundRect">
            <a:avLst>
              <a:gd name="adj" fmla="val 2692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25" name="Expressão B">
            <a:extLst xmlns:a="http://schemas.openxmlformats.org/drawingml/2006/main">
              <a:ext uri="{FF2B5EF4-FFF2-40B4-BE49-F238E27FC236}">
                <a16:creationId xmlns:a16="http://schemas.microsoft.com/office/drawing/2014/main" id="{25ABEC30-8197-43D2-8AEB-3ACEDDEB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645920"/>
            <a:ext cx="4800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(2 + 3) * 4</a:t>
            </a:r>
            <a:endParaRPr sz="3000"/>
          </a:p>
        </p:txBody>
      </p:sp>
      <p:sp>
        <p:nvSpPr>
          <p:cNvPr id="26" name="Aresta B 1">
            <a:extLst xmlns:a="http://schemas.openxmlformats.org/drawingml/2006/main">
              <a:ext uri="{FF2B5EF4-FFF2-40B4-BE49-F238E27FC236}">
                <a16:creationId xmlns:a16="http://schemas.microsoft.com/office/drawing/2014/main" id="{31E1466E-DACF-4F8E-9543-801E6A67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731252" y="2788920"/>
            <a:ext cx="1188720" cy="10515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tx1"/>
            </a:solidFill>
            <a:prstDash val="solid"/>
          </a:ln>
        </p:spPr>
      </p:sp>
      <p:sp>
        <p:nvSpPr>
          <p:cNvPr id="27" name="Aresta B 2">
            <a:extLst xmlns:a="http://schemas.openxmlformats.org/drawingml/2006/main">
              <a:ext uri="{FF2B5EF4-FFF2-40B4-BE49-F238E27FC236}">
                <a16:creationId xmlns:a16="http://schemas.microsoft.com/office/drawing/2014/main" id="{24384DDD-F38D-4E42-B430-24E71454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9972" y="2788920"/>
            <a:ext cx="1280160" cy="10515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tx1"/>
            </a:solidFill>
            <a:prstDash val="solid"/>
          </a:ln>
        </p:spPr>
      </p:sp>
      <p:sp>
        <p:nvSpPr>
          <p:cNvPr id="28" name="Aresta B 3">
            <a:extLst xmlns:a="http://schemas.openxmlformats.org/drawingml/2006/main">
              <a:ext uri="{FF2B5EF4-FFF2-40B4-BE49-F238E27FC236}">
                <a16:creationId xmlns:a16="http://schemas.microsoft.com/office/drawing/2014/main" id="{BB85DB37-532A-4A7B-B529-7A3BBEDE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99732" y="3840480"/>
            <a:ext cx="731520" cy="10515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tx1"/>
            </a:solidFill>
            <a:prstDash val="solid"/>
          </a:ln>
        </p:spPr>
      </p:sp>
      <p:sp>
        <p:nvSpPr>
          <p:cNvPr id="29" name="Aresta B 4">
            <a:extLst xmlns:a="http://schemas.openxmlformats.org/drawingml/2006/main">
              <a:ext uri="{FF2B5EF4-FFF2-40B4-BE49-F238E27FC236}">
                <a16:creationId xmlns:a16="http://schemas.microsoft.com/office/drawing/2014/main" id="{AFFD6605-3698-4759-AD09-87E7068A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252" y="3840480"/>
            <a:ext cx="731520" cy="10515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tx1"/>
            </a:solidFill>
            <a:prstDash val="solid"/>
          </a:ln>
        </p:spPr>
      </p:sp>
      <p:sp>
        <p:nvSpPr>
          <p:cNvPr id="30" name="Nó B a">
            <a:extLst xmlns:a="http://schemas.openxmlformats.org/drawingml/2006/main">
              <a:ext uri="{FF2B5EF4-FFF2-40B4-BE49-F238E27FC236}">
                <a16:creationId xmlns:a16="http://schemas.microsoft.com/office/drawing/2014/main" id="{0C1B8462-2011-4014-BB52-98DD5364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788" y="2459736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>
            <a:solidFill>
              <a:schemeClr val="tx1"/>
            </a:solidFill>
            <a:prstDash val="solid"/>
          </a:ln>
        </p:spPr>
      </p:sp>
      <p:sp>
        <p:nvSpPr>
          <p:cNvPr id="31" name="Rótulo B a">
            <a:extLst xmlns:a="http://schemas.openxmlformats.org/drawingml/2006/main">
              <a:ext uri="{FF2B5EF4-FFF2-40B4-BE49-F238E27FC236}">
                <a16:creationId xmlns:a16="http://schemas.microsoft.com/office/drawing/2014/main" id="{E7017543-5551-4451-9CD1-6FCD6526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788" y="245973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*</a:t>
            </a:r>
            <a:endParaRPr sz="2400"/>
          </a:p>
        </p:txBody>
      </p:sp>
      <p:sp>
        <p:nvSpPr>
          <p:cNvPr id="32" name="Nó B b">
            <a:extLst xmlns:a="http://schemas.openxmlformats.org/drawingml/2006/main">
              <a:ext uri="{FF2B5EF4-FFF2-40B4-BE49-F238E27FC236}">
                <a16:creationId xmlns:a16="http://schemas.microsoft.com/office/drawing/2014/main" id="{C0A6DE7D-2C75-4938-8444-2F38E4AF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068" y="3511296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>
            <a:solidFill>
              <a:schemeClr val="tx1"/>
            </a:solidFill>
            <a:prstDash val="solid"/>
          </a:ln>
        </p:spPr>
      </p:sp>
      <p:sp>
        <p:nvSpPr>
          <p:cNvPr id="33" name="Rótulo B b">
            <a:extLst xmlns:a="http://schemas.openxmlformats.org/drawingml/2006/main">
              <a:ext uri="{FF2B5EF4-FFF2-40B4-BE49-F238E27FC236}">
                <a16:creationId xmlns:a16="http://schemas.microsoft.com/office/drawing/2014/main" id="{0F0932C3-A093-4822-B445-D21F0F86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068" y="351129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+</a:t>
            </a:r>
            <a:endParaRPr sz="2400"/>
          </a:p>
        </p:txBody>
      </p:sp>
      <p:sp>
        <p:nvSpPr>
          <p:cNvPr id="34" name="Nó B c">
            <a:extLst xmlns:a="http://schemas.openxmlformats.org/drawingml/2006/main">
              <a:ext uri="{FF2B5EF4-FFF2-40B4-BE49-F238E27FC236}">
                <a16:creationId xmlns:a16="http://schemas.microsoft.com/office/drawing/2014/main" id="{D2E1D32C-5CD5-4D82-A9CB-49F555C7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948" y="3511296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9050">
            <a:solidFill>
              <a:schemeClr val="tx1"/>
            </a:solidFill>
            <a:prstDash val="solid"/>
          </a:ln>
        </p:spPr>
      </p:sp>
      <p:sp>
        <p:nvSpPr>
          <p:cNvPr id="35" name="Rótulo B c">
            <a:extLst xmlns:a="http://schemas.openxmlformats.org/drawingml/2006/main">
              <a:ext uri="{FF2B5EF4-FFF2-40B4-BE49-F238E27FC236}">
                <a16:creationId xmlns:a16="http://schemas.microsoft.com/office/drawing/2014/main" id="{ADB53006-C919-4081-BB57-52916AA0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948" y="351129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4</a:t>
            </a:r>
            <a:endParaRPr sz="2400"/>
          </a:p>
        </p:txBody>
      </p:sp>
      <p:sp>
        <p:nvSpPr>
          <p:cNvPr id="36" name="Nó B d">
            <a:extLst xmlns:a="http://schemas.openxmlformats.org/drawingml/2006/main">
              <a:ext uri="{FF2B5EF4-FFF2-40B4-BE49-F238E27FC236}">
                <a16:creationId xmlns:a16="http://schemas.microsoft.com/office/drawing/2014/main" id="{6C2754B3-9C53-4A19-854E-DDEECB66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548" y="4562856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9050">
            <a:solidFill>
              <a:schemeClr val="tx1"/>
            </a:solidFill>
            <a:prstDash val="solid"/>
          </a:ln>
        </p:spPr>
      </p:sp>
      <p:sp>
        <p:nvSpPr>
          <p:cNvPr id="37" name="Rótulo B d">
            <a:extLst xmlns:a="http://schemas.openxmlformats.org/drawingml/2006/main">
              <a:ext uri="{FF2B5EF4-FFF2-40B4-BE49-F238E27FC236}">
                <a16:creationId xmlns:a16="http://schemas.microsoft.com/office/drawing/2014/main" id="{F7B040EA-6778-44A1-A948-B8D589E7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548" y="456285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2</a:t>
            </a:r>
            <a:endParaRPr sz="2400"/>
          </a:p>
        </p:txBody>
      </p:sp>
      <p:sp>
        <p:nvSpPr>
          <p:cNvPr id="38" name="Nó B e">
            <a:extLst xmlns:a="http://schemas.openxmlformats.org/drawingml/2006/main">
              <a:ext uri="{FF2B5EF4-FFF2-40B4-BE49-F238E27FC236}">
                <a16:creationId xmlns:a16="http://schemas.microsoft.com/office/drawing/2014/main" id="{9914B01E-9331-49F9-9146-3E5D2990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588" y="4562856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9050">
            <a:solidFill>
              <a:schemeClr val="tx1"/>
            </a:solidFill>
            <a:prstDash val="solid"/>
          </a:ln>
        </p:spPr>
      </p:sp>
      <p:sp>
        <p:nvSpPr>
          <p:cNvPr id="39" name="Rótulo B e">
            <a:extLst xmlns:a="http://schemas.openxmlformats.org/drawingml/2006/main">
              <a:ext uri="{FF2B5EF4-FFF2-40B4-BE49-F238E27FC236}">
                <a16:creationId xmlns:a16="http://schemas.microsoft.com/office/drawing/2014/main" id="{576C3AC4-4830-46DE-9BBF-1B8788CB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588" y="456285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3</a:t>
            </a:r>
            <a:endParaRPr sz="2400"/>
          </a:p>
        </p:txBody>
      </p:sp>
      <p:sp>
        <p:nvSpPr>
          <p:cNvPr id="40" name="Tag primeiro B">
            <a:extLst xmlns:a="http://schemas.openxmlformats.org/drawingml/2006/main">
              <a:ext uri="{FF2B5EF4-FFF2-40B4-BE49-F238E27FC236}">
                <a16:creationId xmlns:a16="http://schemas.microsoft.com/office/drawing/2014/main" id="{2A66D5B5-EB44-41AB-A196-81563538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596" y="3657600"/>
            <a:ext cx="1188720" cy="36576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tx1"/>
            </a:solidFill>
            <a:prstDash val="solid"/>
          </a:ln>
        </p:spPr>
      </p:sp>
      <p:sp>
        <p:nvSpPr>
          <p:cNvPr id="41" name="Texto tag B">
            <a:extLst xmlns:a="http://schemas.openxmlformats.org/drawingml/2006/main">
              <a:ext uri="{FF2B5EF4-FFF2-40B4-BE49-F238E27FC236}">
                <a16:creationId xmlns:a16="http://schemas.microsoft.com/office/drawing/2014/main" id="{D966DB36-F794-4FD0-A14D-852C55AA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596" y="365760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tx1"/>
                </a:solidFill>
              </a:rPr>
              <a:t>primeiro</a:t>
            </a:r>
            <a:endParaRPr sz="1400"/>
          </a:p>
        </p:txBody>
      </p:sp>
      <p:sp>
        <p:nvSpPr>
          <p:cNvPr id="42" name="Chip resultado B">
            <a:extLst xmlns:a="http://schemas.openxmlformats.org/drawingml/2006/main">
              <a:ext uri="{FF2B5EF4-FFF2-40B4-BE49-F238E27FC236}">
                <a16:creationId xmlns:a16="http://schemas.microsoft.com/office/drawing/2014/main" id="{65964EF6-0274-415E-811E-DFA9E8D0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5532120"/>
            <a:ext cx="2331720" cy="54864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chemeClr val="tx1"/>
          </a:solidFill>
        </p:spPr>
      </p:sp>
      <p:sp>
        <p:nvSpPr>
          <p:cNvPr id="43" name="Resultado B">
            <a:extLst xmlns:a="http://schemas.openxmlformats.org/drawingml/2006/main">
              <a:ext uri="{FF2B5EF4-FFF2-40B4-BE49-F238E27FC236}">
                <a16:creationId xmlns:a16="http://schemas.microsoft.com/office/drawing/2014/main" id="{70D3C34D-0E1F-4290-8F4B-005BF3A8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5532120"/>
            <a:ext cx="2331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>
                <a:solidFill>
                  <a:schemeClr val="accent6"/>
                </a:solidFill>
                <a:latin typeface="Impact"/>
                <a:ea typeface="Impact"/>
                <a:cs typeface="Impact"/>
              </a:rPr>
              <a:t>= </a:t>
            </a:r>
            <a:r>
              <a:rPr sz="2800">
                <a:solidFill>
                  <a:schemeClr val="accent1"/>
                </a:solidFill>
                <a:latin typeface="Impact"/>
                <a:ea typeface="Impact"/>
                <a:cs typeface="Impact"/>
              </a:rPr>
              <a:t>20</a:t>
            </a:r>
            <a:endParaRPr sz="2800"/>
          </a:p>
        </p:txBody>
      </p:sp>
      <p:sp>
        <p:nvSpPr>
          <p:cNvPr id="4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6DCB887-94AE-4AD4-8066-EE5D2CB95C4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0972800" y="6419088"/>
            <a:ext cx="66751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47764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8F652EA-5040-47A7-8E15-9B5F3E7925BB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365760"/>
            <a:ext cx="110916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>
                <a:solidFill>
                  <a:schemeClr val="tx1"/>
                </a:solidFill>
              </a:rPr>
              <a:t>Verificações semânticas</a:t>
            </a:r>
            <a:endParaRPr sz="4000"/>
          </a:p>
        </p:txBody>
      </p:sp>
      <p:sp>
        <p:nvSpPr>
          <p:cNvPr id="4" name="Tabela de símbolos">
            <a:extLst xmlns:a="http://schemas.openxmlformats.org/drawingml/2006/main">
              <a:ext uri="{FF2B5EF4-FFF2-40B4-BE49-F238E27FC236}">
                <a16:creationId xmlns:a16="http://schemas.microsoft.com/office/drawing/2014/main" id="{4FA36D1B-A440-4E24-8084-E6E65166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5120640" cy="2697480"/>
          </a:xfrm>
          <a:prstGeom xmlns:a="http://schemas.openxmlformats.org/drawingml/2006/main" prst="roundRect">
            <a:avLst>
              <a:gd name="adj" fmla="val 6102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5" name="Título tabela">
            <a:extLst xmlns:a="http://schemas.openxmlformats.org/drawingml/2006/main">
              <a:ext uri="{FF2B5EF4-FFF2-40B4-BE49-F238E27FC236}">
                <a16:creationId xmlns:a16="http://schemas.microsoft.com/office/drawing/2014/main" id="{050D8BBB-BD28-40BF-A8B1-1159B7E9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37360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6"/>
                </a:solidFill>
              </a:rPr>
              <a:t>Tabela de símbolos</a:t>
            </a:r>
            <a:endParaRPr sz="1600"/>
          </a:p>
        </p:txBody>
      </p:sp>
      <p:sp>
        <p:nvSpPr>
          <p:cNvPr id="6" name="Símbolo energia">
            <a:extLst xmlns:a="http://schemas.openxmlformats.org/drawingml/2006/main">
              <a:ext uri="{FF2B5EF4-FFF2-40B4-BE49-F238E27FC236}">
                <a16:creationId xmlns:a16="http://schemas.microsoft.com/office/drawing/2014/main" id="{4E7EF3DA-C27F-496B-BDD4-849C4064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1720"/>
            <a:ext cx="4480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energia </a:t>
            </a:r>
            <a:r>
              <a:rPr sz="2200">
                <a:solidFill>
                  <a:schemeClr val="accent6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22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inteiro</a:t>
            </a:r>
            <a:endParaRPr sz="2200"/>
          </a:p>
        </p:txBody>
      </p:sp>
      <p:sp>
        <p:nvSpPr>
          <p:cNvPr id="7" name="Símbolo preco">
            <a:extLst xmlns:a="http://schemas.openxmlformats.org/drawingml/2006/main">
              <a:ext uri="{FF2B5EF4-FFF2-40B4-BE49-F238E27FC236}">
                <a16:creationId xmlns:a16="http://schemas.microsoft.com/office/drawing/2014/main" id="{3023EDE1-DB22-425B-908A-CFEBC41D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80360"/>
            <a:ext cx="4480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preco   </a:t>
            </a:r>
            <a:r>
              <a:rPr sz="2200">
                <a:solidFill>
                  <a:schemeClr val="accent6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2200" b="1">
                <a:solidFill>
                  <a:schemeClr val="accent2"/>
                </a:solidFill>
                <a:latin typeface="Courier New"/>
                <a:ea typeface="Courier New"/>
                <a:cs typeface="Courier New"/>
              </a:rPr>
              <a:t>real</a:t>
            </a:r>
            <a:endParaRPr sz="2200"/>
          </a:p>
        </p:txBody>
      </p:sp>
      <p:sp>
        <p:nvSpPr>
          <p:cNvPr id="8" name="Símbolo pedido">
            <a:extLst xmlns:a="http://schemas.openxmlformats.org/drawingml/2006/main">
              <a:ext uri="{FF2B5EF4-FFF2-40B4-BE49-F238E27FC236}">
                <a16:creationId xmlns:a16="http://schemas.microsoft.com/office/drawing/2014/main" id="{DCFA4FFB-54B2-481A-A3BC-D745A87E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429000"/>
            <a:ext cx="4480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pedido  </a:t>
            </a:r>
            <a:r>
              <a:rPr sz="2200">
                <a:solidFill>
                  <a:schemeClr val="accent6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2200" b="1">
                <a:solidFill>
                  <a:schemeClr val="accent4"/>
                </a:solidFill>
                <a:latin typeface="Courier New"/>
                <a:ea typeface="Courier New"/>
                <a:cs typeface="Courier New"/>
              </a:rPr>
              <a:t>texto</a:t>
            </a:r>
            <a:endParaRPr sz="2200"/>
          </a:p>
        </p:txBody>
      </p:sp>
      <p:sp>
        <p:nvSpPr>
          <p:cNvPr id="9" name="Verificação 1">
            <a:extLst xmlns:a="http://schemas.openxmlformats.org/drawingml/2006/main">
              <a:ext uri="{FF2B5EF4-FFF2-40B4-BE49-F238E27FC236}">
                <a16:creationId xmlns:a16="http://schemas.microsoft.com/office/drawing/2014/main" id="{06D99708-7BB5-4FAB-B371-1D3208E5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08760"/>
            <a:ext cx="5696712" cy="585216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10" name="Alerta 1">
            <a:extLst xmlns:a="http://schemas.openxmlformats.org/drawingml/2006/main">
              <a:ext uri="{FF2B5EF4-FFF2-40B4-BE49-F238E27FC236}">
                <a16:creationId xmlns:a16="http://schemas.microsoft.com/office/drawing/2014/main" id="{23CE0F45-95B1-49CF-B400-CEFFED80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62763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11" name="Alerta símbolo 1">
            <a:extLst xmlns:a="http://schemas.openxmlformats.org/drawingml/2006/main">
              <a:ext uri="{FF2B5EF4-FFF2-40B4-BE49-F238E27FC236}">
                <a16:creationId xmlns:a16="http://schemas.microsoft.com/office/drawing/2014/main" id="{9CE8B1A1-F0CF-4999-9E61-D89F8666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62763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chemeClr val="tx1"/>
                </a:solidFill>
              </a:rPr>
              <a:t>!</a:t>
            </a:r>
            <a:endParaRPr sz="1600"/>
          </a:p>
        </p:txBody>
      </p:sp>
      <p:sp>
        <p:nvSpPr>
          <p:cNvPr id="12" name="Texto verificação 1">
            <a:extLst xmlns:a="http://schemas.openxmlformats.org/drawingml/2006/main">
              <a:ext uri="{FF2B5EF4-FFF2-40B4-BE49-F238E27FC236}">
                <a16:creationId xmlns:a16="http://schemas.microsoft.com/office/drawing/2014/main" id="{D0850B5E-EE73-43C2-B83F-AB5E3801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508760"/>
            <a:ext cx="47548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Uso antes da declaração</a:t>
            </a:r>
            <a:endParaRPr sz="1800"/>
          </a:p>
        </p:txBody>
      </p:sp>
      <p:sp>
        <p:nvSpPr>
          <p:cNvPr id="13" name="Verificação 2">
            <a:extLst xmlns:a="http://schemas.openxmlformats.org/drawingml/2006/main">
              <a:ext uri="{FF2B5EF4-FFF2-40B4-BE49-F238E27FC236}">
                <a16:creationId xmlns:a16="http://schemas.microsoft.com/office/drawing/2014/main" id="{0E9C887A-482D-40E4-B4B1-DE62C461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03704"/>
            <a:ext cx="5696712" cy="585216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14" name="Alerta 2">
            <a:extLst xmlns:a="http://schemas.openxmlformats.org/drawingml/2006/main">
              <a:ext uri="{FF2B5EF4-FFF2-40B4-BE49-F238E27FC236}">
                <a16:creationId xmlns:a16="http://schemas.microsoft.com/office/drawing/2014/main" id="{3F863157-9593-44CC-BE10-8523AA8C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3225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15" name="Alerta símbolo 2">
            <a:extLst xmlns:a="http://schemas.openxmlformats.org/drawingml/2006/main">
              <a:ext uri="{FF2B5EF4-FFF2-40B4-BE49-F238E27FC236}">
                <a16:creationId xmlns:a16="http://schemas.microsoft.com/office/drawing/2014/main" id="{4CA6DA74-49F5-416A-9976-8A35BB2C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3225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chemeClr val="tx1"/>
                </a:solidFill>
              </a:rPr>
              <a:t>!</a:t>
            </a:r>
            <a:endParaRPr sz="1600"/>
          </a:p>
        </p:txBody>
      </p:sp>
      <p:sp>
        <p:nvSpPr>
          <p:cNvPr id="16" name="Texto verificação 2">
            <a:extLst xmlns:a="http://schemas.openxmlformats.org/drawingml/2006/main">
              <a:ext uri="{FF2B5EF4-FFF2-40B4-BE49-F238E27FC236}">
                <a16:creationId xmlns:a16="http://schemas.microsoft.com/office/drawing/2014/main" id="{BDB7C4E9-C2B5-496D-A669-01359E9C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203704"/>
            <a:ext cx="47548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Declaração duplicada</a:t>
            </a:r>
            <a:endParaRPr sz="1800"/>
          </a:p>
        </p:txBody>
      </p:sp>
      <p:sp>
        <p:nvSpPr>
          <p:cNvPr id="17" name="Verificação 3">
            <a:extLst xmlns:a="http://schemas.openxmlformats.org/drawingml/2006/main">
              <a:ext uri="{FF2B5EF4-FFF2-40B4-BE49-F238E27FC236}">
                <a16:creationId xmlns:a16="http://schemas.microsoft.com/office/drawing/2014/main" id="{93730D1D-923D-4550-891C-2E1378CD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98648"/>
            <a:ext cx="5696712" cy="585216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18" name="Alerta 3">
            <a:extLst xmlns:a="http://schemas.openxmlformats.org/drawingml/2006/main">
              <a:ext uri="{FF2B5EF4-FFF2-40B4-BE49-F238E27FC236}">
                <a16:creationId xmlns:a16="http://schemas.microsoft.com/office/drawing/2014/main" id="{FD1EEC4D-82D7-429D-948C-20CF7C45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17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19" name="Alerta símbolo 3">
            <a:extLst xmlns:a="http://schemas.openxmlformats.org/drawingml/2006/main">
              <a:ext uri="{FF2B5EF4-FFF2-40B4-BE49-F238E27FC236}">
                <a16:creationId xmlns:a16="http://schemas.microsoft.com/office/drawing/2014/main" id="{1A5ED270-94E2-418B-B0DB-D04BE5BA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17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chemeClr val="tx1"/>
                </a:solidFill>
              </a:rPr>
              <a:t>!</a:t>
            </a:r>
            <a:endParaRPr sz="1600"/>
          </a:p>
        </p:txBody>
      </p:sp>
      <p:sp>
        <p:nvSpPr>
          <p:cNvPr id="20" name="Texto verificação 3">
            <a:extLst xmlns:a="http://schemas.openxmlformats.org/drawingml/2006/main">
              <a:ext uri="{FF2B5EF4-FFF2-40B4-BE49-F238E27FC236}">
                <a16:creationId xmlns:a16="http://schemas.microsoft.com/office/drawing/2014/main" id="{76829860-384E-4BB5-87EA-B0A0A201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898648"/>
            <a:ext cx="47548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Tipos incompatíveis</a:t>
            </a:r>
            <a:endParaRPr sz="1800"/>
          </a:p>
        </p:txBody>
      </p:sp>
      <p:sp>
        <p:nvSpPr>
          <p:cNvPr id="21" name="Verificação 4">
            <a:extLst xmlns:a="http://schemas.openxmlformats.org/drawingml/2006/main">
              <a:ext uri="{FF2B5EF4-FFF2-40B4-BE49-F238E27FC236}">
                <a16:creationId xmlns:a16="http://schemas.microsoft.com/office/drawing/2014/main" id="{7CB94101-3A23-46CD-B4DE-C45721BB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93592"/>
            <a:ext cx="5696712" cy="585216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22" name="Alerta 4">
            <a:extLst xmlns:a="http://schemas.openxmlformats.org/drawingml/2006/main">
              <a:ext uri="{FF2B5EF4-FFF2-40B4-BE49-F238E27FC236}">
                <a16:creationId xmlns:a16="http://schemas.microsoft.com/office/drawing/2014/main" id="{8503D31D-4FED-4379-8684-576911DB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71246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23" name="Alerta símbolo 4">
            <a:extLst xmlns:a="http://schemas.openxmlformats.org/drawingml/2006/main">
              <a:ext uri="{FF2B5EF4-FFF2-40B4-BE49-F238E27FC236}">
                <a16:creationId xmlns:a16="http://schemas.microsoft.com/office/drawing/2014/main" id="{0D1C0A5D-2BDB-4AB8-BB6A-57D57601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71246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chemeClr val="tx1"/>
                </a:solidFill>
              </a:rPr>
              <a:t>!</a:t>
            </a:r>
            <a:endParaRPr sz="1600"/>
          </a:p>
        </p:txBody>
      </p:sp>
      <p:sp>
        <p:nvSpPr>
          <p:cNvPr id="24" name="Texto verificação 4">
            <a:extLst xmlns:a="http://schemas.openxmlformats.org/drawingml/2006/main">
              <a:ext uri="{FF2B5EF4-FFF2-40B4-BE49-F238E27FC236}">
                <a16:creationId xmlns:a16="http://schemas.microsoft.com/office/drawing/2014/main" id="{CC27D786-57E6-4C52-82B6-38BB5054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593592"/>
            <a:ext cx="47548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Break fora de um laço</a:t>
            </a:r>
            <a:endParaRPr sz="1800"/>
          </a:p>
        </p:txBody>
      </p:sp>
      <p:sp>
        <p:nvSpPr>
          <p:cNvPr id="25" name="Terminal erro">
            <a:extLst xmlns:a="http://schemas.openxmlformats.org/drawingml/2006/main">
              <a:ext uri="{FF2B5EF4-FFF2-40B4-BE49-F238E27FC236}">
                <a16:creationId xmlns:a16="http://schemas.microsoft.com/office/drawing/2014/main" id="{A900189B-2913-4210-9194-E67A87FA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11091672" cy="1600200"/>
          </a:xfrm>
          <a:prstGeom xmlns:a="http://schemas.openxmlformats.org/drawingml/2006/main" prst="roundRect">
            <a:avLst>
              <a:gd name="adj" fmla="val 10286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26" name="Código erro">
            <a:extLst xmlns:a="http://schemas.openxmlformats.org/drawingml/2006/main">
              <a:ext uri="{FF2B5EF4-FFF2-40B4-BE49-F238E27FC236}">
                <a16:creationId xmlns:a16="http://schemas.microsoft.com/office/drawing/2014/main" id="{2436FE06-B9ED-45AC-B3E2-0396FCDC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4880"/>
            <a:ext cx="10332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RECEBA</a:t>
            </a:r>
            <a:r>
              <a:rPr sz="22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energia</a:t>
            </a:r>
            <a:r>
              <a:rPr sz="22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 b="1">
                <a:solidFill>
                  <a:schemeClr val="accent2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22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2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"muitos"</a:t>
            </a:r>
            <a:r>
              <a:rPr sz="22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;</a:t>
            </a:r>
            <a:endParaRPr sz="2200"/>
          </a:p>
        </p:txBody>
      </p:sp>
      <p:sp>
        <p:nvSpPr>
          <p:cNvPr id="27" name="Mensagem erro">
            <a:extLst xmlns:a="http://schemas.openxmlformats.org/drawingml/2006/main">
              <a:ext uri="{FF2B5EF4-FFF2-40B4-BE49-F238E27FC236}">
                <a16:creationId xmlns:a16="http://schemas.microsoft.com/office/drawing/2014/main" id="{4D060FD2-2DBB-43BD-822C-AC28DA18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4960"/>
            <a:ext cx="10332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2"/>
                </a:solidFill>
                <a:latin typeface="Courier New"/>
                <a:ea typeface="Courier New"/>
                <a:cs typeface="Courier New"/>
              </a:rPr>
              <a:t>Erro semântico: </a:t>
            </a:r>
            <a:r>
              <a:rPr sz="2000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esperado inteiro, recebido texto</a:t>
            </a:r>
            <a:endParaRPr sz="2000"/>
          </a:p>
        </p:txBody>
      </p:sp>
      <p:sp>
        <p:nvSpPr>
          <p:cNvPr id="2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624F7E1-D81D-4B49-9FA8-0453B3217D3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0972800" y="6419088"/>
            <a:ext cx="66751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39483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2060F9-F0C6-4195-BDDE-DE89391C7DF0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365760"/>
            <a:ext cx="110916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>
                <a:solidFill>
                  <a:schemeClr val="tx1"/>
                </a:solidFill>
              </a:rPr>
              <a:t>Geração de Python</a:t>
            </a:r>
            <a:endParaRPr sz="4000"/>
          </a:p>
        </p:txBody>
      </p:sp>
      <p:sp>
        <p:nvSpPr>
          <p:cNvPr id="4" name="Painel MemeScript">
            <a:extLst xmlns:a="http://schemas.openxmlformats.org/drawingml/2006/main">
              <a:ext uri="{FF2B5EF4-FFF2-40B4-BE49-F238E27FC236}">
                <a16:creationId xmlns:a16="http://schemas.microsoft.com/office/drawing/2014/main" id="{E7BAB587-CBF0-4AD1-BEF0-F8090BC6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5029200" cy="260604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5" name="Rótulo MemeScript">
            <a:extLst xmlns:a="http://schemas.openxmlformats.org/drawingml/2006/main">
              <a:ext uri="{FF2B5EF4-FFF2-40B4-BE49-F238E27FC236}">
                <a16:creationId xmlns:a16="http://schemas.microsoft.com/office/drawing/2014/main" id="{7CE8AE56-9EFD-4AD6-BFFA-07BF6433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91640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6"/>
                </a:solidFill>
              </a:rPr>
              <a:t>MemeScript</a:t>
            </a:r>
            <a:endParaRPr sz="1600"/>
          </a:p>
        </p:txBody>
      </p:sp>
      <p:sp>
        <p:nvSpPr>
          <p:cNvPr id="6" name="Código MemeScript">
            <a:extLst xmlns:a="http://schemas.openxmlformats.org/drawingml/2006/main">
              <a:ext uri="{FF2B5EF4-FFF2-40B4-BE49-F238E27FC236}">
                <a16:creationId xmlns:a16="http://schemas.microsoft.com/office/drawing/2014/main" id="{121DBE49-E61E-4E16-B343-F86558E5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94560"/>
            <a:ext cx="443484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1400"/>
              </a:spcAft>
              <a:buNone/>
            </a:pPr>
            <a:r>
              <a:rPr sz="20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SABOR_INTEIRO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n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1">
                <a:solidFill>
                  <a:schemeClr val="accent2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</a:rPr>
              <a:t>67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;</a:t>
            </a:r>
            <a:endParaRPr sz="2000"/>
          </a:p>
          <a:p xmlns:a="http://schemas.openxmlformats.org/drawingml/2006/main">
            <a:pPr marL="0" indent="0">
              <a:spcAft>
                <a:spcPts val="1400"/>
              </a:spcAft>
              <a:buNone/>
            </a:pPr>
            <a:r>
              <a:rPr sz="20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RECEBA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n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1">
                <a:solidFill>
                  <a:schemeClr val="accent2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n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1">
                <a:solidFill>
                  <a:schemeClr val="accent2"/>
                </a:solidFill>
                <a:latin typeface="Courier New"/>
                <a:ea typeface="Courier New"/>
                <a:cs typeface="Courier New"/>
              </a:rPr>
              <a:t>+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;</a:t>
            </a:r>
            <a:endParaRPr sz="2000"/>
          </a:p>
          <a:p xmlns:a="http://schemas.openxmlformats.org/drawingml/2006/main">
            <a:pPr marL="0" indent="0">
              <a:spcAft>
                <a:spcPts val="1400"/>
              </a:spcAft>
              <a:buNone/>
            </a:pPr>
            <a:r>
              <a:rPr sz="20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AMOSTRADINHO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n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)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;</a:t>
            </a:r>
            <a:endParaRPr sz="2000"/>
          </a:p>
        </p:txBody>
      </p:sp>
      <p:sp>
        <p:nvSpPr>
          <p:cNvPr id="7" name="Painel Python">
            <a:extLst xmlns:a="http://schemas.openxmlformats.org/drawingml/2006/main">
              <a:ext uri="{FF2B5EF4-FFF2-40B4-BE49-F238E27FC236}">
                <a16:creationId xmlns:a16="http://schemas.microsoft.com/office/drawing/2014/main" id="{DA3E12DD-2D0F-448C-B66E-49FD10FC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508760"/>
            <a:ext cx="5029200" cy="260604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8" name="Rótulo Python">
            <a:extLst xmlns:a="http://schemas.openxmlformats.org/drawingml/2006/main">
              <a:ext uri="{FF2B5EF4-FFF2-40B4-BE49-F238E27FC236}">
                <a16:creationId xmlns:a16="http://schemas.microsoft.com/office/drawing/2014/main" id="{8CB7B979-4686-4114-B50A-C006771C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1691640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6"/>
                </a:solidFill>
              </a:rPr>
              <a:t>Python</a:t>
            </a:r>
            <a:endParaRPr sz="1600"/>
          </a:p>
        </p:txBody>
      </p:sp>
      <p:sp>
        <p:nvSpPr>
          <p:cNvPr id="9" name="Código Python">
            <a:extLst xmlns:a="http://schemas.openxmlformats.org/drawingml/2006/main">
              <a:ext uri="{FF2B5EF4-FFF2-40B4-BE49-F238E27FC236}">
                <a16:creationId xmlns:a16="http://schemas.microsoft.com/office/drawing/2014/main" id="{A34DC475-DCA0-43CB-847E-8A3DD02E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2194560"/>
            <a:ext cx="443484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1400"/>
              </a:spcAft>
              <a:buNone/>
            </a:pPr>
            <a:r>
              <a:rPr sz="20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ms_var_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n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1">
                <a:solidFill>
                  <a:schemeClr val="accent2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</a:rPr>
              <a:t>67</a:t>
            </a:r>
            <a:endParaRPr sz="2000"/>
          </a:p>
          <a:p xmlns:a="http://schemas.openxmlformats.org/drawingml/2006/main">
            <a:pPr marL="0" indent="0">
              <a:spcAft>
                <a:spcPts val="1400"/>
              </a:spcAft>
              <a:buNone/>
            </a:pPr>
            <a:r>
              <a:rPr sz="20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ms_var_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n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1">
                <a:solidFill>
                  <a:schemeClr val="accent2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20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ms_var_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n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1">
                <a:solidFill>
                  <a:schemeClr val="accent2"/>
                </a:solidFill>
                <a:latin typeface="Courier New"/>
                <a:ea typeface="Courier New"/>
                <a:cs typeface="Courier New"/>
              </a:rPr>
              <a:t>+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)</a:t>
            </a:r>
            <a:endParaRPr sz="2000"/>
          </a:p>
          <a:p xmlns:a="http://schemas.openxmlformats.org/drawingml/2006/main">
            <a:pPr marL="0" indent="0">
              <a:spcAft>
                <a:spcPts val="1400"/>
              </a:spcAft>
              <a:buNone/>
            </a:pPr>
            <a:r>
              <a:rPr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</a:rPr>
              <a:t>print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20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ms_var_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n</a:t>
            </a:r>
            <a:r>
              <a:rPr sz="20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)</a:t>
            </a:r>
            <a:endParaRPr sz="2000"/>
          </a:p>
        </p:txBody>
      </p:sp>
      <p:sp>
        <p:nvSpPr>
          <p:cNvPr id="10" name="Círculo seta">
            <a:extLst xmlns:a="http://schemas.openxmlformats.org/drawingml/2006/main">
              <a:ext uri="{FF2B5EF4-FFF2-40B4-BE49-F238E27FC236}">
                <a16:creationId xmlns:a16="http://schemas.microsoft.com/office/drawing/2014/main" id="{B543E73B-9D3D-4ADD-99B2-A65AD34F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23160"/>
            <a:ext cx="941832" cy="9418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11" name="Seta geração">
            <a:extLst xmlns:a="http://schemas.openxmlformats.org/drawingml/2006/main">
              <a:ext uri="{FF2B5EF4-FFF2-40B4-BE49-F238E27FC236}">
                <a16:creationId xmlns:a16="http://schemas.microsoft.com/office/drawing/2014/main" id="{0847D54D-45C1-43B0-A8C5-FECBDBBC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2715768"/>
            <a:ext cx="530352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tx1"/>
          </a:solidFill>
        </p:spPr>
      </p:sp>
      <p:sp>
        <p:nvSpPr>
          <p:cNvPr id="12" name="Nota parênteses">
            <a:extLst xmlns:a="http://schemas.openxmlformats.org/drawingml/2006/main">
              <a:ext uri="{FF2B5EF4-FFF2-40B4-BE49-F238E27FC236}">
                <a16:creationId xmlns:a16="http://schemas.microsoft.com/office/drawing/2014/main" id="{AFE4EFCB-C4DF-4FEC-94E7-8AE31081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26280"/>
            <a:ext cx="5440680" cy="15544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13" name="Chip parênteses">
            <a:extLst xmlns:a="http://schemas.openxmlformats.org/drawingml/2006/main">
              <a:ext uri="{FF2B5EF4-FFF2-40B4-BE49-F238E27FC236}">
                <a16:creationId xmlns:a16="http://schemas.microsoft.com/office/drawing/2014/main" id="{6B351F7C-7220-48FA-9321-55E59B4E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00600"/>
            <a:ext cx="822960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14" name="Parênteses símbolo">
            <a:extLst xmlns:a="http://schemas.openxmlformats.org/drawingml/2006/main">
              <a:ext uri="{FF2B5EF4-FFF2-40B4-BE49-F238E27FC236}">
                <a16:creationId xmlns:a16="http://schemas.microsoft.com/office/drawing/2014/main" id="{06D9D2BB-0A39-482F-AAA2-48111572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00600"/>
            <a:ext cx="822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( )</a:t>
            </a:r>
            <a:endParaRPr sz="2200"/>
          </a:p>
        </p:txBody>
      </p:sp>
      <p:sp>
        <p:nvSpPr>
          <p:cNvPr id="15" name="Texto parênteses">
            <a:extLst xmlns:a="http://schemas.openxmlformats.org/drawingml/2006/main">
              <a:ext uri="{FF2B5EF4-FFF2-40B4-BE49-F238E27FC236}">
                <a16:creationId xmlns:a16="http://schemas.microsoft.com/office/drawing/2014/main" id="{40894BF9-2895-4DDC-A040-848AD704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94960"/>
            <a:ext cx="4937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Parênteses preservam o agrupamento da AST</a:t>
            </a:r>
            <a:endParaRPr sz="1800"/>
          </a:p>
        </p:txBody>
      </p:sp>
      <p:sp>
        <p:nvSpPr>
          <p:cNvPr id="16" name="Nota prefixo">
            <a:extLst xmlns:a="http://schemas.openxmlformats.org/drawingml/2006/main">
              <a:ext uri="{FF2B5EF4-FFF2-40B4-BE49-F238E27FC236}">
                <a16:creationId xmlns:a16="http://schemas.microsoft.com/office/drawing/2014/main" id="{EC10357B-B21A-4C52-8C9E-CD717BA5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526280"/>
            <a:ext cx="5440680" cy="15544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17" name="Chip prefixo">
            <a:extLst xmlns:a="http://schemas.openxmlformats.org/drawingml/2006/main">
              <a:ext uri="{FF2B5EF4-FFF2-40B4-BE49-F238E27FC236}">
                <a16:creationId xmlns:a16="http://schemas.microsoft.com/office/drawing/2014/main" id="{AC45E5A7-9352-4921-BBE3-528D0C3A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800600"/>
            <a:ext cx="1600200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chemeClr val="tx1"/>
          </a:solidFill>
        </p:spPr>
      </p:sp>
      <p:sp>
        <p:nvSpPr>
          <p:cNvPr id="18" name="Prefixo símbolo">
            <a:extLst xmlns:a="http://schemas.openxmlformats.org/drawingml/2006/main">
              <a:ext uri="{FF2B5EF4-FFF2-40B4-BE49-F238E27FC236}">
                <a16:creationId xmlns:a16="http://schemas.microsoft.com/office/drawing/2014/main" id="{7C39542E-1EE2-4C18-AA03-8701D469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800600"/>
            <a:ext cx="1600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ms_var_</a:t>
            </a:r>
            <a:endParaRPr sz="1800"/>
          </a:p>
        </p:txBody>
      </p:sp>
      <p:sp>
        <p:nvSpPr>
          <p:cNvPr id="19" name="Texto prefixo">
            <a:extLst xmlns:a="http://schemas.openxmlformats.org/drawingml/2006/main">
              <a:ext uri="{FF2B5EF4-FFF2-40B4-BE49-F238E27FC236}">
                <a16:creationId xmlns:a16="http://schemas.microsoft.com/office/drawing/2014/main" id="{A756E0E8-9E19-4256-8961-A1479672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394960"/>
            <a:ext cx="4937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O prefixo ms_var_ evita colisões no destino</a:t>
            </a:r>
            <a:endParaRPr sz="1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8BFF2B4-11F3-47D6-BF00-ECF653921C6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0972800" y="6419088"/>
            <a:ext cx="66751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0702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0204CC3-1043-40C1-9A69-97BD712906EF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365760"/>
            <a:ext cx="110916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>
                <a:solidFill>
                  <a:schemeClr val="bg1"/>
                </a:solidFill>
              </a:rPr>
              <a:t>Programa de demonstração</a:t>
            </a:r>
            <a:endParaRPr sz="4000"/>
          </a:p>
        </p:txBody>
      </p:sp>
      <p:sp>
        <p:nvSpPr>
          <p:cNvPr id="4" name="Entrada">
            <a:extLst xmlns:a="http://schemas.openxmlformats.org/drawingml/2006/main">
              <a:ext uri="{FF2B5EF4-FFF2-40B4-BE49-F238E27FC236}">
                <a16:creationId xmlns:a16="http://schemas.microsoft.com/office/drawing/2014/main" id="{E0998A2C-73EF-4D26-B07C-763F4A7F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chemeClr val="accent6"/>
                </a:solidFill>
              </a:rPr>
              <a:t>Entrada: </a:t>
            </a:r>
            <a:r>
              <a:rPr sz="2200" b="1">
                <a:solidFill>
                  <a:schemeClr val="bg1"/>
                </a:solidFill>
              </a:rPr>
              <a:t>limite de 10 cafés</a:t>
            </a:r>
            <a:endParaRPr sz="2200"/>
          </a:p>
        </p:txBody>
      </p:sp>
      <p:sp>
        <p:nvSpPr>
          <p:cNvPr id="5" name="Expressão">
            <a:extLst xmlns:a="http://schemas.openxmlformats.org/drawingml/2006/main">
              <a:ext uri="{FF2B5EF4-FFF2-40B4-BE49-F238E27FC236}">
                <a16:creationId xmlns:a16="http://schemas.microsoft.com/office/drawing/2014/main" id="{BDAE5F9E-4895-4512-AC2F-2A37B793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11091672" cy="960120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chemeClr val="tx2"/>
          </a:solidFill>
        </p:spPr>
      </p:sp>
      <p:sp>
        <p:nvSpPr>
          <p:cNvPr id="6" name="Texto expressão">
            <a:extLst xmlns:a="http://schemas.openxmlformats.org/drawingml/2006/main">
              <a:ext uri="{FF2B5EF4-FFF2-40B4-BE49-F238E27FC236}">
                <a16:creationId xmlns:a16="http://schemas.microsoft.com/office/drawing/2014/main" id="{077A8E6B-5744-43DE-9284-F323CA6E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11091672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2 + 3 * 4</a:t>
            </a:r>
            <a:r>
              <a:rPr sz="3600" b="1">
                <a:solidFill>
                  <a:schemeClr val="accent6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36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14</a:t>
            </a:r>
            <a:endParaRPr sz="3600"/>
          </a:p>
        </p:txBody>
      </p:sp>
      <p:sp>
        <p:nvSpPr>
          <p:cNvPr id="7" name="Estatística cafés">
            <a:extLst xmlns:a="http://schemas.openxmlformats.org/drawingml/2006/main">
              <a:ext uri="{FF2B5EF4-FFF2-40B4-BE49-F238E27FC236}">
                <a16:creationId xmlns:a16="http://schemas.microsoft.com/office/drawing/2014/main" id="{FE9597C1-D8CA-4977-A781-8B2A50D3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29000"/>
            <a:ext cx="3566160" cy="1965960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chemeClr val="tx2"/>
          </a:solidFill>
        </p:spPr>
      </p:sp>
      <p:sp>
        <p:nvSpPr>
          <p:cNvPr id="8" name="Número cafés">
            <a:extLst xmlns:a="http://schemas.openxmlformats.org/drawingml/2006/main">
              <a:ext uri="{FF2B5EF4-FFF2-40B4-BE49-F238E27FC236}">
                <a16:creationId xmlns:a16="http://schemas.microsoft.com/office/drawing/2014/main" id="{AE6055EA-6AC9-44B7-B66B-C111F7B2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20440"/>
            <a:ext cx="30175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0">
                <a:solidFill>
                  <a:schemeClr val="accent1"/>
                </a:solidFill>
                <a:latin typeface="Impact"/>
                <a:ea typeface="Impact"/>
                <a:cs typeface="Impact"/>
              </a:rPr>
              <a:t>5</a:t>
            </a:r>
            <a:endParaRPr sz="8000"/>
          </a:p>
        </p:txBody>
      </p:sp>
      <p:sp>
        <p:nvSpPr>
          <p:cNvPr id="9" name="Rótulo cafés">
            <a:extLst xmlns:a="http://schemas.openxmlformats.org/drawingml/2006/main">
              <a:ext uri="{FF2B5EF4-FFF2-40B4-BE49-F238E27FC236}">
                <a16:creationId xmlns:a16="http://schemas.microsoft.com/office/drawing/2014/main" id="{D8C4AE88-5349-43D2-BAA5-90FE89B1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63440"/>
            <a:ext cx="3017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chemeClr val="bg1"/>
                </a:solidFill>
              </a:rPr>
              <a:t>cafés</a:t>
            </a:r>
            <a:endParaRPr sz="2400"/>
          </a:p>
        </p:txBody>
      </p:sp>
      <p:sp>
        <p:nvSpPr>
          <p:cNvPr id="10" name="Estatística de energia">
            <a:extLst xmlns:a="http://schemas.openxmlformats.org/drawingml/2006/main">
              <a:ext uri="{FF2B5EF4-FFF2-40B4-BE49-F238E27FC236}">
                <a16:creationId xmlns:a16="http://schemas.microsoft.com/office/drawing/2014/main" id="{8359B65C-9FC2-4505-9311-7584E204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396" y="3429000"/>
            <a:ext cx="3566160" cy="1965960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chemeClr val="tx2"/>
          </a:solidFill>
        </p:spPr>
      </p:sp>
      <p:sp>
        <p:nvSpPr>
          <p:cNvPr id="11" name="Número de energia">
            <a:extLst xmlns:a="http://schemas.openxmlformats.org/drawingml/2006/main">
              <a:ext uri="{FF2B5EF4-FFF2-40B4-BE49-F238E27FC236}">
                <a16:creationId xmlns:a16="http://schemas.microsoft.com/office/drawing/2014/main" id="{2C981392-19A9-4D87-B505-6DE9EC42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716" y="3520440"/>
            <a:ext cx="30175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0">
                <a:solidFill>
                  <a:schemeClr val="accent2"/>
                </a:solidFill>
                <a:latin typeface="Impact"/>
                <a:ea typeface="Impact"/>
                <a:cs typeface="Impact"/>
              </a:rPr>
              <a:t>70</a:t>
            </a:r>
            <a:endParaRPr sz="8000"/>
          </a:p>
        </p:txBody>
      </p:sp>
      <p:sp>
        <p:nvSpPr>
          <p:cNvPr id="12" name="Rótulo de energia">
            <a:extLst xmlns:a="http://schemas.openxmlformats.org/drawingml/2006/main">
              <a:ext uri="{FF2B5EF4-FFF2-40B4-BE49-F238E27FC236}">
                <a16:creationId xmlns:a16="http://schemas.microsoft.com/office/drawing/2014/main" id="{96BB6885-3294-4E3F-849E-296CF678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716" y="4663440"/>
            <a:ext cx="3017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chemeClr val="bg1"/>
                </a:solidFill>
              </a:rPr>
              <a:t>de energia</a:t>
            </a:r>
            <a:endParaRPr sz="2400"/>
          </a:p>
        </p:txBody>
      </p:sp>
      <p:sp>
        <p:nvSpPr>
          <p:cNvPr id="13" name="Estatística de gasto">
            <a:extLst xmlns:a="http://schemas.openxmlformats.org/drawingml/2006/main">
              <a:ext uri="{FF2B5EF4-FFF2-40B4-BE49-F238E27FC236}">
                <a16:creationId xmlns:a16="http://schemas.microsoft.com/office/drawing/2014/main" id="{843BD8B1-6341-4D96-8C93-6FC6C2DA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3429000"/>
            <a:ext cx="3566160" cy="1965960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chemeClr val="tx2"/>
          </a:solidFill>
        </p:spPr>
      </p:sp>
      <p:sp>
        <p:nvSpPr>
          <p:cNvPr id="14" name="Número de gasto">
            <a:extLst xmlns:a="http://schemas.openxmlformats.org/drawingml/2006/main">
              <a:ext uri="{FF2B5EF4-FFF2-40B4-BE49-F238E27FC236}">
                <a16:creationId xmlns:a16="http://schemas.microsoft.com/office/drawing/2014/main" id="{C83CE49D-46A0-47F5-9A13-8A5B2F04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520440"/>
            <a:ext cx="30175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0">
                <a:solidFill>
                  <a:schemeClr val="accent4"/>
                </a:solidFill>
                <a:latin typeface="Impact"/>
                <a:ea typeface="Impact"/>
                <a:cs typeface="Impact"/>
              </a:rPr>
              <a:t>22.5</a:t>
            </a:r>
            <a:endParaRPr sz="8000"/>
          </a:p>
        </p:txBody>
      </p:sp>
      <p:sp>
        <p:nvSpPr>
          <p:cNvPr id="15" name="Rótulo de gasto">
            <a:extLst xmlns:a="http://schemas.openxmlformats.org/drawingml/2006/main">
              <a:ext uri="{FF2B5EF4-FFF2-40B4-BE49-F238E27FC236}">
                <a16:creationId xmlns:a16="http://schemas.microsoft.com/office/drawing/2014/main" id="{BE6C4994-0B6A-412E-872F-403E1373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4663440"/>
            <a:ext cx="3017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chemeClr val="bg1"/>
                </a:solidFill>
              </a:rPr>
              <a:t>de gasto</a:t>
            </a:r>
            <a:endParaRPr sz="2400"/>
          </a:p>
        </p:txBody>
      </p:sp>
      <p:sp>
        <p:nvSpPr>
          <p:cNvPr id="16" name="Nota laço">
            <a:extLst xmlns:a="http://schemas.openxmlformats.org/drawingml/2006/main">
              <a:ext uri="{FF2B5EF4-FFF2-40B4-BE49-F238E27FC236}">
                <a16:creationId xmlns:a16="http://schemas.microsoft.com/office/drawing/2014/main" id="{B99DDAB2-6D92-4EBA-B81A-842C197B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0"/>
            <a:ext cx="1109167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DESCANSAR_NE</a:t>
            </a:r>
            <a:r>
              <a:rPr sz="2000">
                <a:solidFill>
                  <a:schemeClr val="bg1"/>
                </a:solidFill>
              </a:rPr>
              <a:t> encerra o laço ao atingir </a:t>
            </a:r>
            <a:r>
              <a:rPr sz="20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energia &gt;= 67</a:t>
            </a:r>
            <a:endParaRPr sz="2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0182D55-8285-4EC4-AFCB-93C241118E8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0972800" y="6419088"/>
            <a:ext cx="66751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60462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B6C0193-A1C8-4955-897F-73AFE89B011E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365760"/>
            <a:ext cx="110916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>
                <a:solidFill>
                  <a:schemeClr val="bg1"/>
                </a:solidFill>
              </a:rPr>
              <a:t>Demonstração ao vivo</a:t>
            </a:r>
            <a:endParaRPr sz="4000"/>
          </a:p>
        </p:txBody>
      </p:sp>
      <p:sp>
        <p:nvSpPr>
          <p:cNvPr id="4" name="Selo passo 1">
            <a:extLst xmlns:a="http://schemas.openxmlformats.org/drawingml/2006/main">
              <a:ext uri="{FF2B5EF4-FFF2-40B4-BE49-F238E27FC236}">
                <a16:creationId xmlns:a16="http://schemas.microsoft.com/office/drawing/2014/main" id="{E02D4714-E522-488F-87BC-354EA7DD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sp>
        <p:nvSpPr>
          <p:cNvPr id="5" name="Número passo 1">
            <a:extLst xmlns:a="http://schemas.openxmlformats.org/drawingml/2006/main">
              <a:ext uri="{FF2B5EF4-FFF2-40B4-BE49-F238E27FC236}">
                <a16:creationId xmlns:a16="http://schemas.microsoft.com/office/drawing/2014/main" id="{B22DB278-C8AF-418A-8CDA-9F56D27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868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>
                <a:solidFill>
                  <a:schemeClr val="tx1"/>
                </a:solidFill>
                <a:latin typeface="Impact"/>
                <a:ea typeface="Impact"/>
                <a:cs typeface="Impact"/>
              </a:rPr>
              <a:t>1</a:t>
            </a:r>
            <a:endParaRPr sz="3400"/>
          </a:p>
        </p:txBody>
      </p:sp>
      <p:sp>
        <p:nvSpPr>
          <p:cNvPr id="6" name="Título passo 1">
            <a:extLst xmlns:a="http://schemas.openxmlformats.org/drawingml/2006/main">
              <a:ext uri="{FF2B5EF4-FFF2-40B4-BE49-F238E27FC236}">
                <a16:creationId xmlns:a16="http://schemas.microsoft.com/office/drawing/2014/main" id="{FBC0A05C-38AF-44C6-AC6C-19B422EA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508760"/>
            <a:ext cx="9875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chemeClr val="bg1"/>
                </a:solidFill>
              </a:rPr>
              <a:t>Inspeção da AST</a:t>
            </a:r>
            <a:endParaRPr sz="2400"/>
          </a:p>
        </p:txBody>
      </p:sp>
      <p:sp>
        <p:nvSpPr>
          <p:cNvPr id="7" name="Terminal passo 1">
            <a:extLst xmlns:a="http://schemas.openxmlformats.org/drawingml/2006/main">
              <a:ext uri="{FF2B5EF4-FFF2-40B4-BE49-F238E27FC236}">
                <a16:creationId xmlns:a16="http://schemas.microsoft.com/office/drawing/2014/main" id="{66EFEFA8-EE5E-4DCD-BC67-C066A0E8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057400"/>
            <a:ext cx="9948672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chemeClr val="tx2"/>
          </a:solidFill>
        </p:spPr>
      </p:sp>
      <p:sp>
        <p:nvSpPr>
          <p:cNvPr id="8" name="Comando passo 1">
            <a:extLst xmlns:a="http://schemas.openxmlformats.org/drawingml/2006/main">
              <a:ext uri="{FF2B5EF4-FFF2-40B4-BE49-F238E27FC236}">
                <a16:creationId xmlns:a16="http://schemas.microsoft.com/office/drawing/2014/main" id="{86380B90-2912-4F93-B816-01A469C5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057400"/>
            <a:ext cx="9509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4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16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python -m memescript exemplos/01_valido_basico.meme --check --ast</a:t>
            </a:r>
            <a:endParaRPr sz="1600"/>
          </a:p>
        </p:txBody>
      </p:sp>
      <p:sp>
        <p:nvSpPr>
          <p:cNvPr id="9" name="Selo passo 2">
            <a:extLst xmlns:a="http://schemas.openxmlformats.org/drawingml/2006/main">
              <a:ext uri="{FF2B5EF4-FFF2-40B4-BE49-F238E27FC236}">
                <a16:creationId xmlns:a16="http://schemas.microsoft.com/office/drawing/2014/main" id="{813BD117-3D9C-46C1-8D06-28195DAC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5468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sp>
        <p:nvSpPr>
          <p:cNvPr id="10" name="Número passo 2">
            <a:extLst xmlns:a="http://schemas.openxmlformats.org/drawingml/2006/main">
              <a:ext uri="{FF2B5EF4-FFF2-40B4-BE49-F238E27FC236}">
                <a16:creationId xmlns:a16="http://schemas.microsoft.com/office/drawing/2014/main" id="{654D9EA7-3267-4EB1-A3F2-97C0B24F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54680"/>
            <a:ext cx="868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>
                <a:solidFill>
                  <a:schemeClr val="tx1"/>
                </a:solidFill>
                <a:latin typeface="Impact"/>
                <a:ea typeface="Impact"/>
                <a:cs typeface="Impact"/>
              </a:rPr>
              <a:t>2</a:t>
            </a:r>
            <a:endParaRPr sz="3400"/>
          </a:p>
        </p:txBody>
      </p:sp>
      <p:sp>
        <p:nvSpPr>
          <p:cNvPr id="11" name="Título passo 2">
            <a:extLst xmlns:a="http://schemas.openxmlformats.org/drawingml/2006/main">
              <a:ext uri="{FF2B5EF4-FFF2-40B4-BE49-F238E27FC236}">
                <a16:creationId xmlns:a16="http://schemas.microsoft.com/office/drawing/2014/main" id="{CC03A199-7253-455A-9D73-DC6B0B13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63240"/>
            <a:ext cx="9875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chemeClr val="bg1"/>
                </a:solidFill>
              </a:rPr>
              <a:t>Transpilação</a:t>
            </a:r>
            <a:endParaRPr sz="2400"/>
          </a:p>
        </p:txBody>
      </p:sp>
      <p:sp>
        <p:nvSpPr>
          <p:cNvPr id="12" name="Terminal passo 2">
            <a:extLst xmlns:a="http://schemas.openxmlformats.org/drawingml/2006/main">
              <a:ext uri="{FF2B5EF4-FFF2-40B4-BE49-F238E27FC236}">
                <a16:creationId xmlns:a16="http://schemas.microsoft.com/office/drawing/2014/main" id="{CC8023E1-CDD8-4AAB-BA38-8111EE25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11880"/>
            <a:ext cx="9948672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chemeClr val="tx2"/>
          </a:solidFill>
        </p:spPr>
      </p:sp>
      <p:sp>
        <p:nvSpPr>
          <p:cNvPr id="13" name="Comando passo 2">
            <a:extLst xmlns:a="http://schemas.openxmlformats.org/drawingml/2006/main">
              <a:ext uri="{FF2B5EF4-FFF2-40B4-BE49-F238E27FC236}">
                <a16:creationId xmlns:a16="http://schemas.microsoft.com/office/drawing/2014/main" id="{F8BDDE2B-6D10-4965-B60A-D1EB35E7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611880"/>
            <a:ext cx="9509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4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16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python -m memescript exemplos/02_valido_completo.meme -o gerados/demo.py</a:t>
            </a:r>
            <a:endParaRPr sz="1600"/>
          </a:p>
        </p:txBody>
      </p:sp>
      <p:sp>
        <p:nvSpPr>
          <p:cNvPr id="14" name="Selo passo 3">
            <a:extLst xmlns:a="http://schemas.openxmlformats.org/drawingml/2006/main">
              <a:ext uri="{FF2B5EF4-FFF2-40B4-BE49-F238E27FC236}">
                <a16:creationId xmlns:a16="http://schemas.microsoft.com/office/drawing/2014/main" id="{5C6BDFA8-E121-4CFE-BFBE-274977D1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0916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sp>
        <p:nvSpPr>
          <p:cNvPr id="15" name="Número passo 3">
            <a:extLst xmlns:a="http://schemas.openxmlformats.org/drawingml/2006/main">
              <a:ext uri="{FF2B5EF4-FFF2-40B4-BE49-F238E27FC236}">
                <a16:creationId xmlns:a16="http://schemas.microsoft.com/office/drawing/2014/main" id="{A5B4FD17-DB7D-4B00-AA60-B175C8AD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09160"/>
            <a:ext cx="868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>
                <a:solidFill>
                  <a:schemeClr val="tx1"/>
                </a:solidFill>
                <a:latin typeface="Impact"/>
                <a:ea typeface="Impact"/>
                <a:cs typeface="Impact"/>
              </a:rPr>
              <a:t>3</a:t>
            </a:r>
            <a:endParaRPr sz="3400"/>
          </a:p>
        </p:txBody>
      </p:sp>
      <p:sp>
        <p:nvSpPr>
          <p:cNvPr id="16" name="Título passo 3">
            <a:extLst xmlns:a="http://schemas.openxmlformats.org/drawingml/2006/main">
              <a:ext uri="{FF2B5EF4-FFF2-40B4-BE49-F238E27FC236}">
                <a16:creationId xmlns:a16="http://schemas.microsoft.com/office/drawing/2014/main" id="{C684B961-28D3-4805-B2A8-33571856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617720"/>
            <a:ext cx="9875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chemeClr val="bg1"/>
                </a:solidFill>
              </a:rPr>
              <a:t>Execução com entrada 10</a:t>
            </a:r>
            <a:endParaRPr sz="2400"/>
          </a:p>
        </p:txBody>
      </p:sp>
      <p:sp>
        <p:nvSpPr>
          <p:cNvPr id="17" name="Terminal passo 3">
            <a:extLst xmlns:a="http://schemas.openxmlformats.org/drawingml/2006/main">
              <a:ext uri="{FF2B5EF4-FFF2-40B4-BE49-F238E27FC236}">
                <a16:creationId xmlns:a16="http://schemas.microsoft.com/office/drawing/2014/main" id="{AF38CE2B-3662-4427-AB6E-3752FB6B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166360"/>
            <a:ext cx="9948672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chemeClr val="tx2"/>
          </a:solidFill>
        </p:spPr>
      </p:sp>
      <p:sp>
        <p:nvSpPr>
          <p:cNvPr id="18" name="Comando passo 3">
            <a:extLst xmlns:a="http://schemas.openxmlformats.org/drawingml/2006/main">
              <a:ext uri="{FF2B5EF4-FFF2-40B4-BE49-F238E27FC236}">
                <a16:creationId xmlns:a16="http://schemas.microsoft.com/office/drawing/2014/main" id="{DFA9C349-6A87-4EC3-B3A7-1C126281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166360"/>
            <a:ext cx="9509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4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16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python gerados/demo.py</a:t>
            </a:r>
            <a:endParaRPr sz="16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ECB178D-A259-41E0-A634-B82D5064875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0972800" y="6419088"/>
            <a:ext cx="66751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31601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9B9C35A-F456-4CD4-B1EC-D4EE1D26A0CA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365760"/>
            <a:ext cx="110916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>
                <a:solidFill>
                  <a:schemeClr val="tx1"/>
                </a:solidFill>
              </a:rPr>
              <a:t>Programas inválidos</a:t>
            </a:r>
            <a:endParaRPr sz="4000"/>
          </a:p>
        </p:txBody>
      </p:sp>
      <p:sp>
        <p:nvSpPr>
          <p:cNvPr id="4" name="Cartão Léxico">
            <a:extLst xmlns:a="http://schemas.openxmlformats.org/drawingml/2006/main">
              <a:ext uri="{FF2B5EF4-FFF2-40B4-BE49-F238E27FC236}">
                <a16:creationId xmlns:a16="http://schemas.microsoft.com/office/drawing/2014/main" id="{8AB4ECE9-24C0-4EC0-8F69-4D4FAB47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3566160" cy="3063240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5" name="Etiqueta Léxico">
            <a:extLst xmlns:a="http://schemas.openxmlformats.org/drawingml/2006/main">
              <a:ext uri="{FF2B5EF4-FFF2-40B4-BE49-F238E27FC236}">
                <a16:creationId xmlns:a16="http://schemas.microsoft.com/office/drawing/2014/main" id="{39961549-4722-40F3-9C1D-80BA27D4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83080"/>
            <a:ext cx="17373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6" name="Categoria Léxico">
            <a:extLst xmlns:a="http://schemas.openxmlformats.org/drawingml/2006/main">
              <a:ext uri="{FF2B5EF4-FFF2-40B4-BE49-F238E27FC236}">
                <a16:creationId xmlns:a16="http://schemas.microsoft.com/office/drawing/2014/main" id="{0967F698-4D86-4F83-B0BB-02A9E1C2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83080"/>
            <a:ext cx="1737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chemeClr val="tx1"/>
                </a:solidFill>
              </a:rPr>
              <a:t>Léxico</a:t>
            </a:r>
            <a:endParaRPr sz="1800"/>
          </a:p>
        </p:txBody>
      </p:sp>
      <p:sp>
        <p:nvSpPr>
          <p:cNvPr id="7" name="Legenda fonte Léxico">
            <a:extLst xmlns:a="http://schemas.openxmlformats.org/drawingml/2006/main">
              <a:ext uri="{FF2B5EF4-FFF2-40B4-BE49-F238E27FC236}">
                <a16:creationId xmlns:a16="http://schemas.microsoft.com/office/drawing/2014/main" id="{62F6B494-4871-491D-AB54-712FAC0C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Exemplo de fonte</a:t>
            </a:r>
            <a:endParaRPr sz="1200"/>
          </a:p>
        </p:txBody>
      </p:sp>
      <p:sp>
        <p:nvSpPr>
          <p:cNvPr id="8" name="Caixa fonte Léxico">
            <a:extLst xmlns:a="http://schemas.openxmlformats.org/drawingml/2006/main">
              <a:ext uri="{FF2B5EF4-FFF2-40B4-BE49-F238E27FC236}">
                <a16:creationId xmlns:a16="http://schemas.microsoft.com/office/drawing/2014/main" id="{816D8AF5-74C3-4664-9B34-3B9A11E8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34640"/>
            <a:ext cx="301752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chemeClr val="tx1"/>
          </a:solidFill>
        </p:spPr>
      </p:sp>
      <p:sp>
        <p:nvSpPr>
          <p:cNvPr id="9" name="Fonte Léxico">
            <a:extLst xmlns:a="http://schemas.openxmlformats.org/drawingml/2006/main">
              <a:ext uri="{FF2B5EF4-FFF2-40B4-BE49-F238E27FC236}">
                <a16:creationId xmlns:a16="http://schemas.microsoft.com/office/drawing/2014/main" id="{0068CD51-6DAE-4715-B0E7-2DFCAA00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34640"/>
            <a:ext cx="3017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numero</a:t>
            </a:r>
            <a:r>
              <a:rPr sz="16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@</a:t>
            </a:r>
            <a:r>
              <a:rPr sz="16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1">
                <a:solidFill>
                  <a:schemeClr val="accent4"/>
                </a:solidFill>
                <a:latin typeface="Courier New"/>
                <a:ea typeface="Courier New"/>
                <a:cs typeface="Courier New"/>
              </a:rPr>
              <a:t>2</a:t>
            </a:r>
            <a:endParaRPr sz="1600"/>
          </a:p>
        </p:txBody>
      </p:sp>
      <p:sp>
        <p:nvSpPr>
          <p:cNvPr id="10" name="Legenda motivo Léxico">
            <a:extLst xmlns:a="http://schemas.openxmlformats.org/drawingml/2006/main">
              <a:ext uri="{FF2B5EF4-FFF2-40B4-BE49-F238E27FC236}">
                <a16:creationId xmlns:a16="http://schemas.microsoft.com/office/drawing/2014/main" id="{2EEF5DEF-EDAC-4274-9CD9-00B87FCA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03320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Motivo</a:t>
            </a:r>
            <a:endParaRPr sz="1200"/>
          </a:p>
        </p:txBody>
      </p:sp>
      <p:sp>
        <p:nvSpPr>
          <p:cNvPr id="11" name="Motivo Léxico">
            <a:extLst xmlns:a="http://schemas.openxmlformats.org/drawingml/2006/main">
              <a:ext uri="{FF2B5EF4-FFF2-40B4-BE49-F238E27FC236}">
                <a16:creationId xmlns:a16="http://schemas.microsoft.com/office/drawing/2014/main" id="{01CD8CEC-EAB9-4483-9C5B-A10055B0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3017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tx1"/>
                </a:solidFill>
              </a:rPr>
              <a:t>Símbolo inválido</a:t>
            </a:r>
            <a:endParaRPr sz="2000"/>
          </a:p>
        </p:txBody>
      </p:sp>
      <p:sp>
        <p:nvSpPr>
          <p:cNvPr id="12" name="Cartão Sintático">
            <a:extLst xmlns:a="http://schemas.openxmlformats.org/drawingml/2006/main">
              <a:ext uri="{FF2B5EF4-FFF2-40B4-BE49-F238E27FC236}">
                <a16:creationId xmlns:a16="http://schemas.microsoft.com/office/drawing/2014/main" id="{CD3CF58B-28CE-4F94-9920-89F789F8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396" y="1508760"/>
            <a:ext cx="3566160" cy="3063240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13" name="Etiqueta Sintático">
            <a:extLst xmlns:a="http://schemas.openxmlformats.org/drawingml/2006/main">
              <a:ext uri="{FF2B5EF4-FFF2-40B4-BE49-F238E27FC236}">
                <a16:creationId xmlns:a16="http://schemas.microsoft.com/office/drawing/2014/main" id="{783AE385-0F7A-47A5-8604-86447889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716" y="1783080"/>
            <a:ext cx="17373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14" name="Categoria Sintático">
            <a:extLst xmlns:a="http://schemas.openxmlformats.org/drawingml/2006/main">
              <a:ext uri="{FF2B5EF4-FFF2-40B4-BE49-F238E27FC236}">
                <a16:creationId xmlns:a16="http://schemas.microsoft.com/office/drawing/2014/main" id="{02B36546-040E-41B8-BF70-76AE6689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716" y="1783080"/>
            <a:ext cx="1737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chemeClr val="tx1"/>
                </a:solidFill>
              </a:rPr>
              <a:t>Sintático</a:t>
            </a:r>
            <a:endParaRPr sz="1800"/>
          </a:p>
        </p:txBody>
      </p:sp>
      <p:sp>
        <p:nvSpPr>
          <p:cNvPr id="15" name="Legenda fonte Sintático">
            <a:extLst xmlns:a="http://schemas.openxmlformats.org/drawingml/2006/main">
              <a:ext uri="{FF2B5EF4-FFF2-40B4-BE49-F238E27FC236}">
                <a16:creationId xmlns:a16="http://schemas.microsoft.com/office/drawing/2014/main" id="{C8BFB540-6286-4A69-B4E6-ADD53E82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716" y="2514600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Exemplo de fonte</a:t>
            </a:r>
            <a:endParaRPr sz="1200"/>
          </a:p>
        </p:txBody>
      </p:sp>
      <p:sp>
        <p:nvSpPr>
          <p:cNvPr id="16" name="Caixa fonte Sintático">
            <a:extLst xmlns:a="http://schemas.openxmlformats.org/drawingml/2006/main">
              <a:ext uri="{FF2B5EF4-FFF2-40B4-BE49-F238E27FC236}">
                <a16:creationId xmlns:a16="http://schemas.microsoft.com/office/drawing/2014/main" id="{E89D5CF5-A6D5-4785-ABA1-33759A5F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716" y="2834640"/>
            <a:ext cx="301752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chemeClr val="tx1"/>
          </a:solidFill>
        </p:spPr>
      </p:sp>
      <p:sp>
        <p:nvSpPr>
          <p:cNvPr id="17" name="Fonte Sintático">
            <a:extLst xmlns:a="http://schemas.openxmlformats.org/drawingml/2006/main">
              <a:ext uri="{FF2B5EF4-FFF2-40B4-BE49-F238E27FC236}">
                <a16:creationId xmlns:a16="http://schemas.microsoft.com/office/drawing/2014/main" id="{C815AECF-BBB4-4B96-B066-BF842F05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716" y="2834640"/>
            <a:ext cx="3017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SABOR_INTEIRO</a:t>
            </a:r>
            <a:r>
              <a:rPr sz="16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n</a:t>
            </a:r>
            <a:r>
              <a:rPr sz="16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1">
                <a:solidFill>
                  <a:schemeClr val="accent2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6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;</a:t>
            </a:r>
            <a:endParaRPr sz="1600"/>
          </a:p>
        </p:txBody>
      </p:sp>
      <p:sp>
        <p:nvSpPr>
          <p:cNvPr id="18" name="Legenda motivo Sintático">
            <a:extLst xmlns:a="http://schemas.openxmlformats.org/drawingml/2006/main">
              <a:ext uri="{FF2B5EF4-FFF2-40B4-BE49-F238E27FC236}">
                <a16:creationId xmlns:a16="http://schemas.microsoft.com/office/drawing/2014/main" id="{6D8DD24A-7EA4-4E96-94DE-2FD2CBB8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716" y="3703320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Motivo</a:t>
            </a:r>
            <a:endParaRPr sz="1200"/>
          </a:p>
        </p:txBody>
      </p:sp>
      <p:sp>
        <p:nvSpPr>
          <p:cNvPr id="19" name="Motivo Sintático">
            <a:extLst xmlns:a="http://schemas.openxmlformats.org/drawingml/2006/main">
              <a:ext uri="{FF2B5EF4-FFF2-40B4-BE49-F238E27FC236}">
                <a16:creationId xmlns:a16="http://schemas.microsoft.com/office/drawing/2014/main" id="{9C05BB2E-5652-47C9-90D6-40177D37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716" y="3977640"/>
            <a:ext cx="3017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tx1"/>
                </a:solidFill>
              </a:rPr>
              <a:t>Expressão ausente</a:t>
            </a:r>
            <a:endParaRPr sz="2000"/>
          </a:p>
        </p:txBody>
      </p:sp>
      <p:sp>
        <p:nvSpPr>
          <p:cNvPr id="20" name="Cartão Semântico">
            <a:extLst xmlns:a="http://schemas.openxmlformats.org/drawingml/2006/main">
              <a:ext uri="{FF2B5EF4-FFF2-40B4-BE49-F238E27FC236}">
                <a16:creationId xmlns:a16="http://schemas.microsoft.com/office/drawing/2014/main" id="{D35002FB-89BE-440A-A0AB-87EFC5DB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508760"/>
            <a:ext cx="3566160" cy="3063240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21" name="Etiqueta Semântico">
            <a:extLst xmlns:a="http://schemas.openxmlformats.org/drawingml/2006/main">
              <a:ext uri="{FF2B5EF4-FFF2-40B4-BE49-F238E27FC236}">
                <a16:creationId xmlns:a16="http://schemas.microsoft.com/office/drawing/2014/main" id="{15C929ED-72B7-4423-8F88-21BA7B44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1783080"/>
            <a:ext cx="17373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22" name="Categoria Semântico">
            <a:extLst xmlns:a="http://schemas.openxmlformats.org/drawingml/2006/main">
              <a:ext uri="{FF2B5EF4-FFF2-40B4-BE49-F238E27FC236}">
                <a16:creationId xmlns:a16="http://schemas.microsoft.com/office/drawing/2014/main" id="{251FEDAC-0F22-4356-8E45-F9500102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1783080"/>
            <a:ext cx="1737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chemeClr val="bg1"/>
                </a:solidFill>
              </a:rPr>
              <a:t>Semântico</a:t>
            </a:r>
            <a:endParaRPr sz="1800"/>
          </a:p>
        </p:txBody>
      </p:sp>
      <p:sp>
        <p:nvSpPr>
          <p:cNvPr id="23" name="Legenda fonte Semântico">
            <a:extLst xmlns:a="http://schemas.openxmlformats.org/drawingml/2006/main">
              <a:ext uri="{FF2B5EF4-FFF2-40B4-BE49-F238E27FC236}">
                <a16:creationId xmlns:a16="http://schemas.microsoft.com/office/drawing/2014/main" id="{02E36126-74F7-48C4-A92C-426A7820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514600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Exemplo de fonte</a:t>
            </a:r>
            <a:endParaRPr sz="1200"/>
          </a:p>
        </p:txBody>
      </p:sp>
      <p:sp>
        <p:nvSpPr>
          <p:cNvPr id="24" name="Caixa fonte Semântico">
            <a:extLst xmlns:a="http://schemas.openxmlformats.org/drawingml/2006/main">
              <a:ext uri="{FF2B5EF4-FFF2-40B4-BE49-F238E27FC236}">
                <a16:creationId xmlns:a16="http://schemas.microsoft.com/office/drawing/2014/main" id="{CC9E5094-F348-4DFF-9D8D-BF173D77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834640"/>
            <a:ext cx="301752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chemeClr val="tx1"/>
          </a:solidFill>
        </p:spPr>
      </p:sp>
      <p:sp>
        <p:nvSpPr>
          <p:cNvPr id="25" name="Fonte Semântico">
            <a:extLst xmlns:a="http://schemas.openxmlformats.org/drawingml/2006/main">
              <a:ext uri="{FF2B5EF4-FFF2-40B4-BE49-F238E27FC236}">
                <a16:creationId xmlns:a16="http://schemas.microsoft.com/office/drawing/2014/main" id="{459C4CD5-931B-4F2F-BBC6-22825231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834640"/>
            <a:ext cx="3017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RECEBA</a:t>
            </a:r>
            <a:r>
              <a:rPr sz="16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n</a:t>
            </a:r>
            <a:r>
              <a:rPr sz="16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1">
                <a:solidFill>
                  <a:schemeClr val="accent2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6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1">
                <a:solidFill>
                  <a:schemeClr val="accent4"/>
                </a:solidFill>
                <a:latin typeface="Courier New"/>
                <a:ea typeface="Courier New"/>
                <a:cs typeface="Courier New"/>
              </a:rPr>
              <a:t>67</a:t>
            </a:r>
            <a:r>
              <a:rPr sz="16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;</a:t>
            </a:r>
            <a:endParaRPr sz="1600"/>
          </a:p>
        </p:txBody>
      </p:sp>
      <p:sp>
        <p:nvSpPr>
          <p:cNvPr id="26" name="Legenda motivo Semântico">
            <a:extLst xmlns:a="http://schemas.openxmlformats.org/drawingml/2006/main">
              <a:ext uri="{FF2B5EF4-FFF2-40B4-BE49-F238E27FC236}">
                <a16:creationId xmlns:a16="http://schemas.microsoft.com/office/drawing/2014/main" id="{C1E540C9-FEE3-4F0B-877C-E7005D1D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03320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Motivo</a:t>
            </a:r>
            <a:endParaRPr sz="1200"/>
          </a:p>
        </p:txBody>
      </p:sp>
      <p:sp>
        <p:nvSpPr>
          <p:cNvPr id="27" name="Motivo Semântico">
            <a:extLst xmlns:a="http://schemas.openxmlformats.org/drawingml/2006/main">
              <a:ext uri="{FF2B5EF4-FFF2-40B4-BE49-F238E27FC236}">
                <a16:creationId xmlns:a16="http://schemas.microsoft.com/office/drawing/2014/main" id="{C7489AE2-D542-4D0A-A677-0690CEE9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977640"/>
            <a:ext cx="3017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tx1"/>
                </a:solidFill>
              </a:rPr>
              <a:t>Variável não declarada</a:t>
            </a:r>
            <a:endParaRPr sz="2000"/>
          </a:p>
        </p:txBody>
      </p:sp>
      <p:sp>
        <p:nvSpPr>
          <p:cNvPr id="28" name="Faixa 1">
            <a:extLst xmlns:a="http://schemas.openxmlformats.org/drawingml/2006/main">
              <a:ext uri="{FF2B5EF4-FFF2-40B4-BE49-F238E27FC236}">
                <a16:creationId xmlns:a16="http://schemas.microsoft.com/office/drawing/2014/main" id="{18F425E6-067C-4B0D-812C-924174E5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0"/>
            <a:ext cx="5440680" cy="100584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19050">
            <a:solidFill>
              <a:schemeClr val="tx1"/>
            </a:solidFill>
            <a:prstDash val="solid"/>
          </a:ln>
        </p:spPr>
      </p:sp>
      <p:sp>
        <p:nvSpPr>
          <p:cNvPr id="29" name="Texto faixa 1">
            <a:extLst xmlns:a="http://schemas.openxmlformats.org/drawingml/2006/main">
              <a:ext uri="{FF2B5EF4-FFF2-40B4-BE49-F238E27FC236}">
                <a16:creationId xmlns:a16="http://schemas.microsoft.com/office/drawing/2014/main" id="{9E58DC73-C334-4346-912F-DF1F6124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29200"/>
            <a:ext cx="48920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bg1"/>
                </a:solidFill>
              </a:rPr>
              <a:t>Cada diagnóstico indica linha e coluna</a:t>
            </a:r>
            <a:endParaRPr sz="2000"/>
          </a:p>
        </p:txBody>
      </p:sp>
      <p:sp>
        <p:nvSpPr>
          <p:cNvPr id="30" name="Faixa 2">
            <a:extLst xmlns:a="http://schemas.openxmlformats.org/drawingml/2006/main">
              <a:ext uri="{FF2B5EF4-FFF2-40B4-BE49-F238E27FC236}">
                <a16:creationId xmlns:a16="http://schemas.microsoft.com/office/drawing/2014/main" id="{D9041208-1896-4C67-8CB3-6CD84626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5029200"/>
            <a:ext cx="5440680" cy="100584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19050">
            <a:solidFill>
              <a:schemeClr val="tx1"/>
            </a:solidFill>
            <a:prstDash val="solid"/>
          </a:ln>
        </p:spPr>
      </p:sp>
      <p:sp>
        <p:nvSpPr>
          <p:cNvPr id="31" name="Texto faixa 2">
            <a:extLst xmlns:a="http://schemas.openxmlformats.org/drawingml/2006/main">
              <a:ext uri="{FF2B5EF4-FFF2-40B4-BE49-F238E27FC236}">
                <a16:creationId xmlns:a16="http://schemas.microsoft.com/office/drawing/2014/main" id="{144FD62F-5C62-4F99-A783-F674EAED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029200"/>
            <a:ext cx="48920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bg1"/>
                </a:solidFill>
              </a:rPr>
              <a:t>Um erro interrompe a compilação antes da gravação</a:t>
            </a:r>
            <a:endParaRPr sz="2000"/>
          </a:p>
        </p:txBody>
      </p:sp>
      <p:sp>
        <p:nvSpPr>
          <p:cNvPr id="3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A79CE45-9589-4466-841B-27D1399767B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0972800" y="6419088"/>
            <a:ext cx="66751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648275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1568181-C72D-4ECE-81D1-5F41E771920A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365760"/>
            <a:ext cx="110916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>
                <a:solidFill>
                  <a:schemeClr val="tx1"/>
                </a:solidFill>
              </a:rPr>
              <a:t>Testes</a:t>
            </a:r>
            <a:endParaRPr sz="4000"/>
          </a:p>
        </p:txBody>
      </p:sp>
      <p:sp>
        <p:nvSpPr>
          <p:cNvPr id="4" name="Cartão 32">
            <a:extLst xmlns:a="http://schemas.openxmlformats.org/drawingml/2006/main">
              <a:ext uri="{FF2B5EF4-FFF2-40B4-BE49-F238E27FC236}">
                <a16:creationId xmlns:a16="http://schemas.microsoft.com/office/drawing/2014/main" id="{43A1E4D3-5BE7-4558-AD14-74234AD2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4389120" cy="3611880"/>
          </a:xfrm>
          <a:prstGeom xmlns:a="http://schemas.openxmlformats.org/drawingml/2006/main" prst="roundRect">
            <a:avLst>
              <a:gd name="adj" fmla="val 3544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5" name="Número 32">
            <a:extLst xmlns:a="http://schemas.openxmlformats.org/drawingml/2006/main">
              <a:ext uri="{FF2B5EF4-FFF2-40B4-BE49-F238E27FC236}">
                <a16:creationId xmlns:a16="http://schemas.microsoft.com/office/drawing/2014/main" id="{38936D1D-40D5-4196-BB9E-994A3CC7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384048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0">
                <a:solidFill>
                  <a:schemeClr val="tx1"/>
                </a:solidFill>
                <a:latin typeface="Impact"/>
                <a:ea typeface="Impact"/>
                <a:cs typeface="Impact"/>
              </a:rPr>
              <a:t>32</a:t>
            </a:r>
            <a:endParaRPr sz="15000"/>
          </a:p>
        </p:txBody>
      </p:sp>
      <p:sp>
        <p:nvSpPr>
          <p:cNvPr id="6" name="Rótulo 32">
            <a:extLst xmlns:a="http://schemas.openxmlformats.org/drawingml/2006/main">
              <a:ext uri="{FF2B5EF4-FFF2-40B4-BE49-F238E27FC236}">
                <a16:creationId xmlns:a16="http://schemas.microsoft.com/office/drawing/2014/main" id="{D913E605-DF58-4601-A197-31B7885F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31920"/>
            <a:ext cx="38404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tx1"/>
                </a:solidFill>
              </a:rPr>
              <a:t>métodos de teste executados com sucesso</a:t>
            </a:r>
            <a:endParaRPr sz="2000"/>
          </a:p>
        </p:txBody>
      </p:sp>
      <p:sp>
        <p:nvSpPr>
          <p:cNvPr id="7" name="Linha programas válidos">
            <a:extLst xmlns:a="http://schemas.openxmlformats.org/drawingml/2006/main">
              <a:ext uri="{FF2B5EF4-FFF2-40B4-BE49-F238E27FC236}">
                <a16:creationId xmlns:a16="http://schemas.microsoft.com/office/drawing/2014/main" id="{010E9010-409A-48B8-801C-62D6A734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508760"/>
            <a:ext cx="6428232" cy="100584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8" name="Selo programas válidos">
            <a:extLst xmlns:a="http://schemas.openxmlformats.org/drawingml/2006/main">
              <a:ext uri="{FF2B5EF4-FFF2-40B4-BE49-F238E27FC236}">
                <a16:creationId xmlns:a16="http://schemas.microsoft.com/office/drawing/2014/main" id="{9330BCD8-A718-47C6-8DC0-61D22B1C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64592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9" name="Número programas válidos">
            <a:extLst xmlns:a="http://schemas.openxmlformats.org/drawingml/2006/main">
              <a:ext uri="{FF2B5EF4-FFF2-40B4-BE49-F238E27FC236}">
                <a16:creationId xmlns:a16="http://schemas.microsoft.com/office/drawing/2014/main" id="{A0C8EC90-23D2-4684-883C-3C8DAEE1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645920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>
                <a:solidFill>
                  <a:schemeClr val="tx1"/>
                </a:solidFill>
                <a:latin typeface="Impact"/>
                <a:ea typeface="Impact"/>
                <a:cs typeface="Impact"/>
              </a:rPr>
              <a:t>4</a:t>
            </a:r>
            <a:endParaRPr sz="3000"/>
          </a:p>
        </p:txBody>
      </p:sp>
      <p:sp>
        <p:nvSpPr>
          <p:cNvPr id="10" name="Texto programas válidos">
            <a:extLst xmlns:a="http://schemas.openxmlformats.org/drawingml/2006/main">
              <a:ext uri="{FF2B5EF4-FFF2-40B4-BE49-F238E27FC236}">
                <a16:creationId xmlns:a16="http://schemas.microsoft.com/office/drawing/2014/main" id="{C6A2E3E2-3B2E-4144-B969-DE69A1E8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508760"/>
            <a:ext cx="49377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chemeClr val="tx1"/>
                </a:solidFill>
              </a:rPr>
              <a:t>Programas válidos</a:t>
            </a:r>
            <a:endParaRPr sz="2200"/>
          </a:p>
        </p:txBody>
      </p:sp>
      <p:sp>
        <p:nvSpPr>
          <p:cNvPr id="11" name="Linha programas inválidos">
            <a:extLst xmlns:a="http://schemas.openxmlformats.org/drawingml/2006/main">
              <a:ext uri="{FF2B5EF4-FFF2-40B4-BE49-F238E27FC236}">
                <a16:creationId xmlns:a16="http://schemas.microsoft.com/office/drawing/2014/main" id="{0F379C54-B427-4DC9-8B05-1EC5E84F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697480"/>
            <a:ext cx="6428232" cy="100584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12" name="Selo programas inválidos">
            <a:extLst xmlns:a="http://schemas.openxmlformats.org/drawingml/2006/main">
              <a:ext uri="{FF2B5EF4-FFF2-40B4-BE49-F238E27FC236}">
                <a16:creationId xmlns:a16="http://schemas.microsoft.com/office/drawing/2014/main" id="{769B0E99-7CCF-475C-B15F-B5103AFE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83464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5875">
            <a:solidFill>
              <a:schemeClr val="tx1"/>
            </a:solidFill>
            <a:prstDash val="solid"/>
          </a:ln>
        </p:spPr>
      </p:sp>
      <p:sp>
        <p:nvSpPr>
          <p:cNvPr id="13" name="Número programas inválidos">
            <a:extLst xmlns:a="http://schemas.openxmlformats.org/drawingml/2006/main">
              <a:ext uri="{FF2B5EF4-FFF2-40B4-BE49-F238E27FC236}">
                <a16:creationId xmlns:a16="http://schemas.microsoft.com/office/drawing/2014/main" id="{AB597FD7-07A6-4036-AF11-7D5BDB2F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834640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>
                <a:solidFill>
                  <a:schemeClr val="tx1"/>
                </a:solidFill>
                <a:latin typeface="Impact"/>
                <a:ea typeface="Impact"/>
                <a:cs typeface="Impact"/>
              </a:rPr>
              <a:t>6</a:t>
            </a:r>
            <a:endParaRPr sz="3000"/>
          </a:p>
        </p:txBody>
      </p:sp>
      <p:sp>
        <p:nvSpPr>
          <p:cNvPr id="14" name="Texto programas inválidos">
            <a:extLst xmlns:a="http://schemas.openxmlformats.org/drawingml/2006/main">
              <a:ext uri="{FF2B5EF4-FFF2-40B4-BE49-F238E27FC236}">
                <a16:creationId xmlns:a16="http://schemas.microsoft.com/office/drawing/2014/main" id="{00816C40-52BD-46CA-B8D0-E60F1360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97480"/>
            <a:ext cx="49377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chemeClr val="tx1"/>
                </a:solidFill>
              </a:rPr>
              <a:t>Programas inválidos</a:t>
            </a:r>
            <a:endParaRPr sz="2200"/>
          </a:p>
        </p:txBody>
      </p:sp>
      <p:sp>
        <p:nvSpPr>
          <p:cNvPr id="15" name="Linha cobertura">
            <a:extLst xmlns:a="http://schemas.openxmlformats.org/drawingml/2006/main">
              <a:ext uri="{FF2B5EF4-FFF2-40B4-BE49-F238E27FC236}">
                <a16:creationId xmlns:a16="http://schemas.microsoft.com/office/drawing/2014/main" id="{4F71FED9-8324-444D-A4FC-0C44C051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86200"/>
            <a:ext cx="6428232" cy="1234440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1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15121F">
                <a:alpha val="100000"/>
              </a:srgbClr>
            </a:outerShdw>
          </a:effectLst>
        </p:spPr>
      </p:sp>
      <p:sp>
        <p:nvSpPr>
          <p:cNvPr id="16" name="Texto cobertura">
            <a:extLst xmlns:a="http://schemas.openxmlformats.org/drawingml/2006/main">
              <a:ext uri="{FF2B5EF4-FFF2-40B4-BE49-F238E27FC236}">
                <a16:creationId xmlns:a16="http://schemas.microsoft.com/office/drawing/2014/main" id="{6B552FED-C49B-4D6D-BF1D-DFCE5A6C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86200"/>
            <a:ext cx="58978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tx1"/>
                </a:solidFill>
              </a:rPr>
              <a:t>Precedência, tipos, aninhamento e diagnósticos da interface</a:t>
            </a:r>
            <a:endParaRPr sz="2000"/>
          </a:p>
        </p:txBody>
      </p:sp>
      <p:sp>
        <p:nvSpPr>
          <p:cNvPr id="17" name="Terminal testes">
            <a:extLst xmlns:a="http://schemas.openxmlformats.org/drawingml/2006/main">
              <a:ext uri="{FF2B5EF4-FFF2-40B4-BE49-F238E27FC236}">
                <a16:creationId xmlns:a16="http://schemas.microsoft.com/office/drawing/2014/main" id="{92725602-A372-4240-93DF-D22CFE95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86400"/>
            <a:ext cx="11091672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19050">
            <a:solidFill>
              <a:schemeClr val="tx1"/>
            </a:solidFill>
            <a:prstDash val="solid"/>
          </a:ln>
        </p:spPr>
      </p:sp>
      <p:sp>
        <p:nvSpPr>
          <p:cNvPr id="18" name="Comando testes">
            <a:extLst xmlns:a="http://schemas.openxmlformats.org/drawingml/2006/main">
              <a:ext uri="{FF2B5EF4-FFF2-40B4-BE49-F238E27FC236}">
                <a16:creationId xmlns:a16="http://schemas.microsoft.com/office/drawing/2014/main" id="{9E585AA9-4118-440F-9ECC-BB785097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864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1800" b="1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python -m unittest discover -s testes -v</a:t>
            </a:r>
            <a:endParaRPr sz="1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D2481C2-C079-4CA8-B886-DA7F932210B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0972800" y="6419088"/>
            <a:ext cx="66751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988690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FE7596F-8042-49A3-A094-383664F5C975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365760"/>
            <a:ext cx="110916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>
                <a:solidFill>
                  <a:schemeClr val="bg1"/>
                </a:solidFill>
              </a:rPr>
              <a:t>Decisões e limites</a:t>
            </a:r>
            <a:endParaRPr sz="4000"/>
          </a:p>
        </p:txBody>
      </p:sp>
      <p:sp>
        <p:nvSpPr>
          <p:cNvPr id="4" name="Cabeçalho decisões">
            <a:extLst xmlns:a="http://schemas.openxmlformats.org/drawingml/2006/main">
              <a:ext uri="{FF2B5EF4-FFF2-40B4-BE49-F238E27FC236}">
                <a16:creationId xmlns:a16="http://schemas.microsoft.com/office/drawing/2014/main" id="{BE254281-B75E-4824-8088-56D89688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>
                <a:solidFill>
                  <a:schemeClr val="accent1"/>
                </a:solidFill>
                <a:latin typeface="Impact"/>
                <a:ea typeface="Impact"/>
                <a:cs typeface="Impact"/>
              </a:rPr>
              <a:t>Decisões</a:t>
            </a:r>
            <a:endParaRPr sz="2600"/>
          </a:p>
        </p:txBody>
      </p:sp>
      <p:sp>
        <p:nvSpPr>
          <p:cNvPr id="5" name="Cabeçalho limites">
            <a:extLst xmlns:a="http://schemas.openxmlformats.org/drawingml/2006/main">
              <a:ext uri="{FF2B5EF4-FFF2-40B4-BE49-F238E27FC236}">
                <a16:creationId xmlns:a16="http://schemas.microsoft.com/office/drawing/2014/main" id="{4859A60C-7E9C-4383-B5B6-41922491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371600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>
                <a:solidFill>
                  <a:schemeClr val="accent2"/>
                </a:solidFill>
                <a:latin typeface="Impact"/>
                <a:ea typeface="Impact"/>
                <a:cs typeface="Impact"/>
              </a:rPr>
              <a:t>Limites</a:t>
            </a:r>
            <a:endParaRPr sz="2600"/>
          </a:p>
        </p:txBody>
      </p:sp>
      <p:sp>
        <p:nvSpPr>
          <p:cNvPr id="6" name="Decisão 1">
            <a:extLst xmlns:a="http://schemas.openxmlformats.org/drawingml/2006/main">
              <a:ext uri="{FF2B5EF4-FFF2-40B4-BE49-F238E27FC236}">
                <a16:creationId xmlns:a16="http://schemas.microsoft.com/office/drawing/2014/main" id="{8F02E885-8F65-4A4C-BFF3-C3568694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5440680" cy="77724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chemeClr val="tx2"/>
          </a:solidFill>
        </p:spPr>
      </p:sp>
      <p:sp>
        <p:nvSpPr>
          <p:cNvPr id="7" name="Marcador decisão 1">
            <a:extLst xmlns:a="http://schemas.openxmlformats.org/drawingml/2006/main">
              <a:ext uri="{FF2B5EF4-FFF2-40B4-BE49-F238E27FC236}">
                <a16:creationId xmlns:a16="http://schemas.microsoft.com/office/drawing/2014/main" id="{1D48F8B9-F45B-4087-AB4B-35F248AB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2656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sp>
        <p:nvSpPr>
          <p:cNvPr id="8" name="Texto decisão 1">
            <a:extLst xmlns:a="http://schemas.openxmlformats.org/drawingml/2006/main">
              <a:ext uri="{FF2B5EF4-FFF2-40B4-BE49-F238E27FC236}">
                <a16:creationId xmlns:a16="http://schemas.microsoft.com/office/drawing/2014/main" id="{53F6F2D2-4A79-426A-8650-874E4325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65960"/>
            <a:ext cx="45720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bg1"/>
                </a:solidFill>
              </a:rPr>
              <a:t>Atribuição com palavra reservada: RECEBA x = e;</a:t>
            </a:r>
            <a:endParaRPr sz="1800"/>
          </a:p>
        </p:txBody>
      </p:sp>
      <p:sp>
        <p:nvSpPr>
          <p:cNvPr id="9" name="Decisão 2">
            <a:extLst xmlns:a="http://schemas.openxmlformats.org/drawingml/2006/main">
              <a:ext uri="{FF2B5EF4-FFF2-40B4-BE49-F238E27FC236}">
                <a16:creationId xmlns:a16="http://schemas.microsoft.com/office/drawing/2014/main" id="{4F62E13A-E713-4167-B71E-236ED1CD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52928"/>
            <a:ext cx="5440680" cy="77724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chemeClr val="tx2"/>
          </a:solidFill>
        </p:spPr>
      </p:sp>
      <p:sp>
        <p:nvSpPr>
          <p:cNvPr id="10" name="Marcador decisão 2">
            <a:extLst xmlns:a="http://schemas.openxmlformats.org/drawingml/2006/main">
              <a:ext uri="{FF2B5EF4-FFF2-40B4-BE49-F238E27FC236}">
                <a16:creationId xmlns:a16="http://schemas.microsoft.com/office/drawing/2014/main" id="{6A722C8F-F31F-4569-9259-58250BBA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1353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sp>
        <p:nvSpPr>
          <p:cNvPr id="11" name="Texto decisão 2">
            <a:extLst xmlns:a="http://schemas.openxmlformats.org/drawingml/2006/main">
              <a:ext uri="{FF2B5EF4-FFF2-40B4-BE49-F238E27FC236}">
                <a16:creationId xmlns:a16="http://schemas.microsoft.com/office/drawing/2014/main" id="{57AEDF84-C7CE-4BAE-ABE7-9688E6AA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852928"/>
            <a:ext cx="45720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bg1"/>
                </a:solidFill>
              </a:rPr>
              <a:t>Declarações no início, sempre com valor inicial</a:t>
            </a:r>
            <a:endParaRPr sz="1800"/>
          </a:p>
        </p:txBody>
      </p:sp>
      <p:sp>
        <p:nvSpPr>
          <p:cNvPr id="12" name="Decisão 3">
            <a:extLst xmlns:a="http://schemas.openxmlformats.org/drawingml/2006/main">
              <a:ext uri="{FF2B5EF4-FFF2-40B4-BE49-F238E27FC236}">
                <a16:creationId xmlns:a16="http://schemas.microsoft.com/office/drawing/2014/main" id="{668FBA16-1583-43BF-BE1F-3A3D58ED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9896"/>
            <a:ext cx="5440680" cy="77724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chemeClr val="tx2"/>
          </a:solidFill>
        </p:spPr>
      </p:sp>
      <p:sp>
        <p:nvSpPr>
          <p:cNvPr id="13" name="Marcador decisão 3">
            <a:extLst xmlns:a="http://schemas.openxmlformats.org/drawingml/2006/main">
              <a:ext uri="{FF2B5EF4-FFF2-40B4-BE49-F238E27FC236}">
                <a16:creationId xmlns:a16="http://schemas.microsoft.com/office/drawing/2014/main" id="{A7FC468A-9322-4131-9A1A-9BDE7197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005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sp>
        <p:nvSpPr>
          <p:cNvPr id="14" name="Texto decisão 3">
            <a:extLst xmlns:a="http://schemas.openxmlformats.org/drawingml/2006/main">
              <a:ext uri="{FF2B5EF4-FFF2-40B4-BE49-F238E27FC236}">
                <a16:creationId xmlns:a16="http://schemas.microsoft.com/office/drawing/2014/main" id="{B26152F9-9CEC-476D-A2B9-8519D508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739896"/>
            <a:ext cx="45720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bg1"/>
                </a:solidFill>
              </a:rPr>
              <a:t>ATA fecha blocos; JA_ACABOU_JESSICA fecha o programa</a:t>
            </a:r>
            <a:endParaRPr sz="1800"/>
          </a:p>
        </p:txBody>
      </p:sp>
      <p:sp>
        <p:nvSpPr>
          <p:cNvPr id="15" name="Decisão 4">
            <a:extLst xmlns:a="http://schemas.openxmlformats.org/drawingml/2006/main">
              <a:ext uri="{FF2B5EF4-FFF2-40B4-BE49-F238E27FC236}">
                <a16:creationId xmlns:a16="http://schemas.microsoft.com/office/drawing/2014/main" id="{1FED5935-1CD9-4FB2-98F8-F23205CF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26864"/>
            <a:ext cx="5440680" cy="77724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chemeClr val="tx2"/>
          </a:solidFill>
        </p:spPr>
      </p:sp>
      <p:sp>
        <p:nvSpPr>
          <p:cNvPr id="16" name="Marcador decisão 4">
            <a:extLst xmlns:a="http://schemas.openxmlformats.org/drawingml/2006/main">
              <a:ext uri="{FF2B5EF4-FFF2-40B4-BE49-F238E27FC236}">
                <a16:creationId xmlns:a16="http://schemas.microsoft.com/office/drawing/2014/main" id="{A64BBAFC-68D6-4EEB-8053-ACB829CA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8746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sp>
        <p:nvSpPr>
          <p:cNvPr id="17" name="Texto decisão 4">
            <a:extLst xmlns:a="http://schemas.openxmlformats.org/drawingml/2006/main">
              <a:ext uri="{FF2B5EF4-FFF2-40B4-BE49-F238E27FC236}">
                <a16:creationId xmlns:a16="http://schemas.microsoft.com/office/drawing/2014/main" id="{0BDED7FD-3FF2-44EE-AC65-2F2EA0D8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626864"/>
            <a:ext cx="45720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bg1"/>
                </a:solidFill>
              </a:rPr>
              <a:t>Python como destino, com verificação estática na MemeScript</a:t>
            </a:r>
            <a:endParaRPr sz="1800"/>
          </a:p>
        </p:txBody>
      </p:sp>
      <p:sp>
        <p:nvSpPr>
          <p:cNvPr id="18" name="Limite 1">
            <a:extLst xmlns:a="http://schemas.openxmlformats.org/drawingml/2006/main">
              <a:ext uri="{FF2B5EF4-FFF2-40B4-BE49-F238E27FC236}">
                <a16:creationId xmlns:a16="http://schemas.microsoft.com/office/drawing/2014/main" id="{1CE95A88-B9F1-484E-BC9C-2F7D894A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965960"/>
            <a:ext cx="5440680" cy="1664208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chemeClr val="tx2"/>
          </a:solidFill>
        </p:spPr>
      </p:sp>
      <p:sp>
        <p:nvSpPr>
          <p:cNvPr id="19" name="Marcador limite 1">
            <a:extLst xmlns:a="http://schemas.openxmlformats.org/drawingml/2006/main">
              <a:ext uri="{FF2B5EF4-FFF2-40B4-BE49-F238E27FC236}">
                <a16:creationId xmlns:a16="http://schemas.microsoft.com/office/drawing/2014/main" id="{8885DB89-1D4E-4EB3-993D-2B5D8D76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67004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</p:spPr>
      </p:sp>
      <p:sp>
        <p:nvSpPr>
          <p:cNvPr id="20" name="Texto limite 1">
            <a:extLst xmlns:a="http://schemas.openxmlformats.org/drawingml/2006/main">
              <a:ext uri="{FF2B5EF4-FFF2-40B4-BE49-F238E27FC236}">
                <a16:creationId xmlns:a16="http://schemas.microsoft.com/office/drawing/2014/main" id="{00371C05-F927-406C-8BB6-0D436294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1965960"/>
            <a:ext cx="4572000" cy="1664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chemeClr val="bg1"/>
                </a:solidFill>
              </a:rPr>
              <a:t>Sem funções, vetores ou operadores lógicos compostos</a:t>
            </a:r>
            <a:endParaRPr sz="2000"/>
          </a:p>
        </p:txBody>
      </p:sp>
      <p:sp>
        <p:nvSpPr>
          <p:cNvPr id="21" name="Limite 2">
            <a:extLst xmlns:a="http://schemas.openxmlformats.org/drawingml/2006/main">
              <a:ext uri="{FF2B5EF4-FFF2-40B4-BE49-F238E27FC236}">
                <a16:creationId xmlns:a16="http://schemas.microsoft.com/office/drawing/2014/main" id="{62D3345A-3756-48C2-9F3F-1B65FF50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739896"/>
            <a:ext cx="5440680" cy="1664208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chemeClr val="tx2"/>
          </a:solidFill>
        </p:spPr>
      </p:sp>
      <p:sp>
        <p:nvSpPr>
          <p:cNvPr id="22" name="Marcador limite 2">
            <a:extLst xmlns:a="http://schemas.openxmlformats.org/drawingml/2006/main">
              <a:ext uri="{FF2B5EF4-FFF2-40B4-BE49-F238E27FC236}">
                <a16:creationId xmlns:a16="http://schemas.microsoft.com/office/drawing/2014/main" id="{CBFB58A8-DB3A-430C-91E8-C7E9B07E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4439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</p:spPr>
      </p:sp>
      <p:sp>
        <p:nvSpPr>
          <p:cNvPr id="23" name="Texto limite 2">
            <a:extLst xmlns:a="http://schemas.openxmlformats.org/drawingml/2006/main">
              <a:ext uri="{FF2B5EF4-FFF2-40B4-BE49-F238E27FC236}">
                <a16:creationId xmlns:a16="http://schemas.microsoft.com/office/drawing/2014/main" id="{81F23BE7-979F-49A6-BAD5-E05DF816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3739896"/>
            <a:ext cx="4572000" cy="1664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chemeClr val="bg1"/>
                </a:solidFill>
              </a:rPr>
              <a:t>Erros de entrada e divisão por zero ocorrem na execução</a:t>
            </a:r>
            <a:endParaRPr sz="2000"/>
          </a:p>
        </p:txBody>
      </p:sp>
      <p:sp>
        <p:nvSpPr>
          <p:cNvPr id="24" name="Aviso IA">
            <a:extLst xmlns:a="http://schemas.openxmlformats.org/drawingml/2006/main">
              <a:ext uri="{FF2B5EF4-FFF2-40B4-BE49-F238E27FC236}">
                <a16:creationId xmlns:a16="http://schemas.microsoft.com/office/drawing/2014/main" id="{7E8B3BFD-DA44-4E90-B559-C2887947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0"/>
            <a:ext cx="11091672" cy="594360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chemeClr val="accent1"/>
          </a:solidFill>
        </p:spPr>
      </p:sp>
      <p:sp>
        <p:nvSpPr>
          <p:cNvPr id="25" name="Texto aviso IA">
            <a:extLst xmlns:a="http://schemas.openxmlformats.org/drawingml/2006/main">
              <a:ext uri="{FF2B5EF4-FFF2-40B4-BE49-F238E27FC236}">
                <a16:creationId xmlns:a16="http://schemas.microsoft.com/office/drawing/2014/main" id="{86E35E0E-F199-4E74-B4F3-86ACF508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0"/>
            <a:ext cx="11091672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chemeClr val="tx1"/>
                </a:solidFill>
              </a:rPr>
              <a:t>IA utilizada: ChatGPT no desenvolvimento e Claude na revisão final; material testado pelo grupo</a:t>
            </a:r>
            <a:endParaRPr sz="1800"/>
          </a:p>
        </p:txBody>
      </p:sp>
      <p:sp>
        <p:nvSpPr>
          <p:cNvPr id="2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0C8E1C3-5435-4976-BEC8-49A6840F7D4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0972800" y="6419088"/>
            <a:ext cx="66751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962837"/>
      </p:ext>
    </p:extLst>
  </p:cSld>
</p:sld>
</file>

<file path=ppt/theme/theme1.xml><?xml version="1.0" encoding="utf-8"?>
<a:theme xmlns:a="http://schemas.openxmlformats.org/drawingml/2006/main" name="MemeScript">
  <a:themeElements>
    <a:clrScheme name="MemeScript">
      <a:dk1>
        <a:srgbClr val="15121F"/>
      </a:dk1>
      <a:lt1>
        <a:srgbClr val="FFFFFF"/>
      </a:lt1>
      <a:dk2>
        <a:srgbClr val="3B3556"/>
      </a:dk2>
      <a:lt2>
        <a:srgbClr val="F4F1FF"/>
      </a:lt2>
      <a:accent1>
        <a:srgbClr val="FFD60A"/>
      </a:accent1>
      <a:accent2>
        <a:srgbClr val="FF4D8D"/>
      </a:accent2>
      <a:accent3>
        <a:srgbClr val="7C5CFF"/>
      </a:accent3>
      <a:accent4>
        <a:srgbClr val="2EE6A6"/>
      </a:accent4>
      <a:accent5>
        <a:srgbClr val="FF8A3D"/>
      </a:accent5>
      <a:accent6>
        <a:srgbClr val="8B87A8"/>
      </a:accent6>
      <a:hlink>
        <a:srgbClr val="7C5CFF"/>
      </a:hlink>
      <a:folHlink>
        <a:srgbClr val="8B87A8"/>
      </a:folHlink>
    </a:clrScheme>
    <a:fontScheme name="MemeScript">
      <a:majorFont>
        <a:latin typeface="Impac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emeScri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2026-10-06T23:59:09.9570000Z</dcterms:created>
  <dcterms:modified xsi:type="dcterms:W3CDTF">2026-10-06T23:59:09.9570000Z</dcterms:modified>
</coreProperties>
</file>