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2f7e51fd9c4155" /><Relationship Type="http://schemas.openxmlformats.org/officeDocument/2006/relationships/extended-properties" Target="/docProps/app.xml" Id="R09165cf0a532437a" /><Relationship Type="http://schemas.openxmlformats.org/officeDocument/2006/relationships/officeDocument" Target="/ppt/presentation.xml" Id="R970caf991dc646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09ade5ddf540a2"/>
  </p:sldMasterIdLst>
  <p:notesMasterIdLst>
    <p:notesMasterId xmlns:r="http://schemas.openxmlformats.org/officeDocument/2006/relationships" r:id="R00e92c7e51b449f8"/>
  </p:notesMasterIdLst>
  <p:sldIdLst>
    <p:sldId xmlns:r="http://schemas.openxmlformats.org/officeDocument/2006/relationships" id="256" r:id="R59653d2002de4d63"/>
    <p:sldId xmlns:r="http://schemas.openxmlformats.org/officeDocument/2006/relationships" id="257" r:id="Raceff4d3e70e471b"/>
    <p:sldId xmlns:r="http://schemas.openxmlformats.org/officeDocument/2006/relationships" id="258" r:id="Reb871a6586904da0"/>
    <p:sldId xmlns:r="http://schemas.openxmlformats.org/officeDocument/2006/relationships" id="259" r:id="R08a7731506654328"/>
    <p:sldId xmlns:r="http://schemas.openxmlformats.org/officeDocument/2006/relationships" id="260" r:id="R0fb6ac77e6ed4bb3"/>
    <p:sldId xmlns:r="http://schemas.openxmlformats.org/officeDocument/2006/relationships" id="261" r:id="Rada501a30d584335"/>
    <p:sldId xmlns:r="http://schemas.openxmlformats.org/officeDocument/2006/relationships" id="262" r:id="R89dfbb6eeaca4d33"/>
    <p:sldId xmlns:r="http://schemas.openxmlformats.org/officeDocument/2006/relationships" id="263" r:id="R9c806f763c304c31"/>
    <p:sldId xmlns:r="http://schemas.openxmlformats.org/officeDocument/2006/relationships" id="264" r:id="Radb0ae71262c41dd"/>
    <p:sldId xmlns:r="http://schemas.openxmlformats.org/officeDocument/2006/relationships" id="265" r:id="Rf00f8deba6784070"/>
    <p:sldId xmlns:r="http://schemas.openxmlformats.org/officeDocument/2006/relationships" id="266" r:id="R1851c90a4896493a"/>
    <p:sldId xmlns:r="http://schemas.openxmlformats.org/officeDocument/2006/relationships" id="267" r:id="R1012b7accedd443e"/>
    <p:sldId xmlns:r="http://schemas.openxmlformats.org/officeDocument/2006/relationships" id="268" r:id="R52f3ad9ead4b4b8a"/>
    <p:sldId xmlns:r="http://schemas.openxmlformats.org/officeDocument/2006/relationships" id="269" r:id="R050cd1eb379447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ad5ad22b7840ef" /><Relationship Type="http://schemas.openxmlformats.org/officeDocument/2006/relationships/slideMaster" Target="/ppt/slideMasters/slideMaster1.xml" Id="R4609ade5ddf540a2" /><Relationship Type="http://schemas.openxmlformats.org/officeDocument/2006/relationships/notesMaster" Target="/ppt/notesMasters/notesMaster1.xml" Id="R00e92c7e51b449f8" /><Relationship Type="http://schemas.openxmlformats.org/officeDocument/2006/relationships/presProps" Target="/ppt/presProps.xml" Id="R85d8d64b413c48f1" /><Relationship Type="http://schemas.openxmlformats.org/officeDocument/2006/relationships/tableStyles" Target="/ppt/tableStyles.xml" Id="R5989c017beaa4423" /><Relationship Type="http://schemas.openxmlformats.org/officeDocument/2006/relationships/slide" Target="/ppt/slides/slide1.xml" Id="R59653d2002de4d63" /><Relationship Type="http://schemas.openxmlformats.org/officeDocument/2006/relationships/slide" Target="/ppt/slides/slide2.xml" Id="Raceff4d3e70e471b" /><Relationship Type="http://schemas.openxmlformats.org/officeDocument/2006/relationships/slide" Target="/ppt/slides/slide3.xml" Id="Reb871a6586904da0" /><Relationship Type="http://schemas.openxmlformats.org/officeDocument/2006/relationships/slide" Target="/ppt/slides/slide4.xml" Id="R08a7731506654328" /><Relationship Type="http://schemas.openxmlformats.org/officeDocument/2006/relationships/slide" Target="/ppt/slides/slide5.xml" Id="R0fb6ac77e6ed4bb3" /><Relationship Type="http://schemas.openxmlformats.org/officeDocument/2006/relationships/slide" Target="/ppt/slides/slide6.xml" Id="Rada501a30d584335" /><Relationship Type="http://schemas.openxmlformats.org/officeDocument/2006/relationships/slide" Target="/ppt/slides/slide7.xml" Id="R89dfbb6eeaca4d33" /><Relationship Type="http://schemas.openxmlformats.org/officeDocument/2006/relationships/slide" Target="/ppt/slides/slide8.xml" Id="R9c806f763c304c31" /><Relationship Type="http://schemas.openxmlformats.org/officeDocument/2006/relationships/slide" Target="/ppt/slides/slide9.xml" Id="Radb0ae71262c41dd" /><Relationship Type="http://schemas.openxmlformats.org/officeDocument/2006/relationships/slide" Target="/ppt/slides/slide10.xml" Id="Rf00f8deba6784070" /><Relationship Type="http://schemas.openxmlformats.org/officeDocument/2006/relationships/slide" Target="/ppt/slides/slide11.xml" Id="R1851c90a4896493a" /><Relationship Type="http://schemas.openxmlformats.org/officeDocument/2006/relationships/slide" Target="/ppt/slides/slide12.xml" Id="R1012b7accedd443e" /><Relationship Type="http://schemas.openxmlformats.org/officeDocument/2006/relationships/slide" Target="/ppt/slides/slide13.xml" Id="R52f3ad9ead4b4b8a" /><Relationship Type="http://schemas.openxmlformats.org/officeDocument/2006/relationships/slide" Target="/ppt/slides/slide14.xml" Id="R050cd1eb379447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bd2953a8e64c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1e8068c5b74ce7" /><Relationship Type="http://schemas.openxmlformats.org/officeDocument/2006/relationships/notesMaster" Target="/ppt/notesMasters/notesMaster1.xml" Id="R10702a77c08841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360f85c0764e81" /><Relationship Type="http://schemas.openxmlformats.org/officeDocument/2006/relationships/notesMaster" Target="/ppt/notesMasters/notesMaster1.xml" Id="R2c8a7742f9c847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bc8d8fe4764a6d" /><Relationship Type="http://schemas.openxmlformats.org/officeDocument/2006/relationships/notesMaster" Target="/ppt/notesMasters/notesMaster1.xml" Id="R7b582178d40d4b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c7db3f1ab94e69" /><Relationship Type="http://schemas.openxmlformats.org/officeDocument/2006/relationships/notesMaster" Target="/ppt/notesMasters/notesMaster1.xml" Id="R9ca5ad21410944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beb8cfe0cc442b" /><Relationship Type="http://schemas.openxmlformats.org/officeDocument/2006/relationships/notesMaster" Target="/ppt/notesMasters/notesMaster1.xml" Id="R41a5332dac2c47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9b4924869f44cb" /><Relationship Type="http://schemas.openxmlformats.org/officeDocument/2006/relationships/notesMaster" Target="/ppt/notesMasters/notesMaster1.xml" Id="Rdd71e7dd60b049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7f6bd8c2324b57" /><Relationship Type="http://schemas.openxmlformats.org/officeDocument/2006/relationships/notesMaster" Target="/ppt/notesMasters/notesMaster1.xml" Id="R928ea87c7afa44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d2dd050ce04c2a" /><Relationship Type="http://schemas.openxmlformats.org/officeDocument/2006/relationships/notesMaster" Target="/ppt/notesMasters/notesMaster1.xml" Id="R5f405af52ab44e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534a9f11d24694" /><Relationship Type="http://schemas.openxmlformats.org/officeDocument/2006/relationships/notesMaster" Target="/ppt/notesMasters/notesMaster1.xml" Id="Rb4f37190cace41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d09c04ae14439b" /><Relationship Type="http://schemas.openxmlformats.org/officeDocument/2006/relationships/notesMaster" Target="/ppt/notesMasters/notesMaster1.xml" Id="R92613695ecec4cb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c4c15a6c73d4a2d" /><Relationship Type="http://schemas.openxmlformats.org/officeDocument/2006/relationships/notesMaster" Target="/ppt/notesMasters/notesMaster1.xml" Id="R371c0744b8c647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08dba881984538" /><Relationship Type="http://schemas.openxmlformats.org/officeDocument/2006/relationships/notesMaster" Target="/ppt/notesMasters/notesMaster1.xml" Id="Ra029684c951f464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eff0ea035b448d1" /><Relationship Type="http://schemas.openxmlformats.org/officeDocument/2006/relationships/notesMaster" Target="/ppt/notesMasters/notesMaster1.xml" Id="R2c7977919492430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e32588f760c411a" /><Relationship Type="http://schemas.openxmlformats.org/officeDocument/2006/relationships/notesMaster" Target="/ppt/notesMasters/notesMaster1.xml" Id="Rcd338130bf5543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MemeScript é nossa proposta de linguagem baseada em memes. Ela possui tipos explícitos e um transpilador para Python. Vamos mostrar a especificação, as etapas de análise e a execução de exemplos válidos e inválidos.”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“Escolhemos comandos que sugerem sua função. RECEBA atribui um valor. AMOSTRADINHO mostra um resultado. E_VERDADE_ESSE_BILETE verifica uma condição. BORA_BILL repete e DESCANSAR_NE interrompe o laço. O prefixo SABOR adapta o meme à declaração de tipos. Usamos sublinhados e grafia fixa para reconhecer cada palavra reservada como um identificador completo.”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temáticas: https://museudememes.com.br/collection/e-verdade-esse-bilete ; https://www.cnnbrasil.com.br/pop/veja-os-memes-que-bombaram-nas-redes-sociais-em-2022/ ; https://exame.com/pop/sabor-energetico-entenda-o-meme-de-toguro-que-conquistou-ate-a-cimed/ . As associações a comandos são decisões próprias.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linguagem declara inteiro, real e texto. Exigimos inicialização e um único escopo global, com todas as declarações antes dos comandos. Um inteiro pode virar real, mas um real não vira inteiro implicitamente. A divisão sempre produz real. Comparações produzem o tipo lógico interno usado nas condições.”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lexer reconhece palavras e símbolos. O parser valida a estrutura e produz a AST. A análise semântica consulta a tabela de símbolos e verifica tipos. O gerador só recebe a árvore depois da validação. A interface salva o Python apenas quando todas as fases passam.”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Arquivos correspondentes: lexer.py, parser.py, semantic.py e codegen.py. compiler.py coordena as fases.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lexer usa expressões regulares. Em RECEBA energia = 2 + 3 * 4, reconhecemos a reservada, o identificador, os operadores e os números. Cada token guarda lexema, valor, linha e coluna. Espaços e comentários são descartados. Maior casamento permite reconhecer &gt;= e == como tokens completos.”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exemplo também contém =, *, 3, 4 e ;. A tabela destaca algumas categorias. Sigma: valores escalares Unicode em UTF-8. Identificadores usam ASCII.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gramática completa está no relatório e em gramatica.ebnf. O símbolo inicial é program. A primeira parte reconhece declarações, e a seguinte reconhece comandos. Cada ATA fecha a estrutura mais interna. SO_QUE_NAO e os dois ramos pertencem ao mesmo condicional, fechado por um único ATA. Não dependemos de indentação no fonte.”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Recorte da EBNF. A gramática completa contém 17 não terminais e está em docs/gramatica.ebnf. S = program. A exigência de EOF rejeita conteúdo após ACABOU.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“Na expressão 2 + 3 * 4, a multiplicação é o filho direito da soma. A estrutura faz a multiplicação ocorrer primeiro. Em (2 + 3) * 4, a soma passa a ser um filho da multiplicação. O parser constrói essas árvores antes de gerar código, e os resultados são 14 e 20.”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Os trechos mostram um esquema resumido da AST, com literais abreviados e campos omitidos. A JSON completa tem node, value, type_name, line e column. Mostrar --ast no terminal.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“Um programa pode ter forma gramatical correta e mesmo assim usar um nome inexistente. A tabela de símbolos rejeita esse caso, redeclarações e tipos incompatíveis. O nome só entra na tabela depois de validar seu inicializador. Mantemos uma profundidade de laço para impedir DESCANSAR_NE fora de BORA_BILL.”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Exemplo de estrutura válida e incompatibilidade detectada depois do parsing. A tabela real de símbolos é um dicionário Python. O tipo lógico é interno, não declarável.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“Percorremos os nós da AST para emitir Python. Preservamos o agrupamento com parênteses e geramos a indentação conforme o aninhamento. O prefixo ms_var_ evita colisões com palavras e funções do Python. Uma variável chamada print pode existir sem sobrescrever a função print.”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Trechos de fonte e destino. O gerador visita nós e não substitui palavras. Variáveis reais recebem float na atribuição. Literais de texto usam repr.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programa pede o limite de cafés. Cada café aumenta a energia em 2 + 3 * 4, ou seja, 14. Com limite 10, a energia chega a 70 no quinto café e o break encerra o laço. O gasto é 22.5. Também exibimos uma expressão com parênteses, que produz 20.”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exemplos/02_valido_completo.meme. Entrada 10. Preço por café 4.50. Saída conferida por teste de integração com o arquivo .out.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Abram o terminal na pasta do projeto. Mostrem o exemplo básico com tokens, AST e símbolos. Depois transpilem o completo, abram o Python e executem com entrada 10. Usem os comandos do checklist abaixo. O arquivo demo.py é uma alternativa reproduzível para mostrar todos os casos rapidamente.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Executar na pasta do projeto. Linux: python3. Windows: python ou py -3. Acrescentar --tokens e --symbols à inspeção quando útil. O comando python demo.py demonstra todos os exemplos.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exemplo com @ falha no lexer. Uma declaração sem expressão falha no parser. Usar uma variável não declarada ou atribuir texto a um inteiro falha na semântica. As mensagens indicam linha e coluna. Como a geração fica depois dessas fases, um programa inválido não produz um novo arquivo Python.”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Mostrar os arquivos 03, 04 e 05 com --check. Mostrar também 07 para incompatibilidade de tipos. Um arquivo Python antigo permanece intacto, conforme teste de CLI.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entrega inclui dez arquivos de exemplo e 32 métodos de teste automatizado, alguns com múltiplos casos. Verificamos o comportamento do destino, a AST, as mensagens e a interface. A validação registrada foi feita em Linux com Python 3.12.14. A suíte pode ser executada pelo professor.”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Resultado desta versão: 32 métodos, alguns com subcasos, passaram em Linux com Python 3.12.14. Não representa benchmark. Registro: docs/resultados_validacao.txt.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“As principais decisões são o vocabulário, os tipos com escopo global e o fechamento explícito de blocos com geração por AST. Python simplifica a execução do destino, enquanto a MemeScript mantém suas próprias regras estáticas. A versão não possui funções ou vetores. Divisão por zero e entrada inadequada são erros de execução, e não de forma ou de tipos.”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 perguntarem sobre IA: “Esta versão recebeu assistência de IA na elaboração do material, código e testes. A equipe precisa revisar, adaptar e estudar a solução, conforme a autorização e as regras do professor.” Não afirmem ter obtido autorização sem confirmar isso.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equipe deve informar e justificar Python ao professor no primeiro marco e verificar as regras de autorização de IA. Completar a identificação dos demais integrantes antes da entrega.</a:t>
            </a:r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85a5d053d0473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989112e464b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83645ef573451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49289302044ad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ac17e1b5c94bf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2b352625da49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88F027C4-5F8B-45AD-84BB-8B21B47C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02A8E4D-7210-488B-841F-C576409970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EC8492D-D6BA-41EF-9111-18C35951F22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9F503F7-88EC-4210-BD16-B28F97BF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13F7AAC-8273-4A26-BA50-E2D4132A74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2471CA7-7AB5-45C6-9E85-D5CEA512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B7E6378-B075-4671-BC76-78FF01695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C2F9C0F-16FC-461E-9731-B63A46A2F1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0916A71-B2A3-401D-94A7-18DF8320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699A0D8-12C8-4B91-89C1-A5FA33D7A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7177782-C812-44FD-8A53-14D412F7D3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3468378-7F50-44CE-A788-B5EC8259D8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B9919F4-EEFC-48F0-858F-A8F96CA2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3BB8618-5DBE-4AA7-ADB9-EE68E1E2C4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B4E0AC8-EA70-4804-B577-3FA05964A3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94e36bb9f84eb1" /><Relationship Type="http://schemas.openxmlformats.org/officeDocument/2006/relationships/slideLayout" Target="/ppt/slideLayouts/slideLayout1.xml" Id="Rd5dfc0453db74634" /><Relationship Type="http://schemas.openxmlformats.org/officeDocument/2006/relationships/slideLayout" Target="/ppt/slideLayouts/slideLayout2.xml" Id="Rc93e110dceee4374" /><Relationship Type="http://schemas.openxmlformats.org/officeDocument/2006/relationships/slideLayout" Target="/ppt/slideLayouts/slideLayout3.xml" Id="R75791d97fa49467b" /><Relationship Type="http://schemas.openxmlformats.org/officeDocument/2006/relationships/slideLayout" Target="/ppt/slideLayouts/slideLayout4.xml" Id="Ra95d168fbbf04cef" /><Relationship Type="http://schemas.openxmlformats.org/officeDocument/2006/relationships/slideLayout" Target="/ppt/slideLayouts/slideLayout5.xml" Id="Re38a3d38c6b84d9c" /><Relationship Type="http://schemas.openxmlformats.org/officeDocument/2006/relationships/slideLayout" Target="/ppt/slideLayouts/slideLayout6.xml" Id="R41d459483c284d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dfc0453db74634"/>
    <p:sldLayoutId xmlns:r="http://schemas.openxmlformats.org/officeDocument/2006/relationships" id="2147483650" r:id="Rc93e110dceee4374"/>
    <p:sldLayoutId xmlns:r="http://schemas.openxmlformats.org/officeDocument/2006/relationships" id="2147483651" r:id="R75791d97fa49467b"/>
    <p:sldLayoutId xmlns:r="http://schemas.openxmlformats.org/officeDocument/2006/relationships" id="2147483652" r:id="Ra95d168fbbf04cef"/>
    <p:sldLayoutId xmlns:r="http://schemas.openxmlformats.org/officeDocument/2006/relationships" id="2147483653" r:id="Re38a3d38c6b84d9c"/>
    <p:sldLayoutId xmlns:r="http://schemas.openxmlformats.org/officeDocument/2006/relationships" id="2147483654" r:id="R41d459483c284d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3e4ea0bf994bcc" /><Relationship Type="http://schemas.openxmlformats.org/officeDocument/2006/relationships/notesSlide" Target="/ppt/notesSlides/notesSlide1.xml" Id="Rc74755f122ae47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43bbfb3f87477c" /><Relationship Type="http://schemas.openxmlformats.org/officeDocument/2006/relationships/notesSlide" Target="/ppt/notesSlides/notesSlide2.xml" Id="Re1c9aa49fe514f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91cbe595004fca" /><Relationship Type="http://schemas.openxmlformats.org/officeDocument/2006/relationships/notesSlide" Target="/ppt/notesSlides/notesSlide3.xml" Id="R84195e4bd6c147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bd66d2f0b14fa4" /><Relationship Type="http://schemas.openxmlformats.org/officeDocument/2006/relationships/notesSlide" Target="/ppt/notesSlides/notesSlide4.xml" Id="Reaa693d894ae41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ddac5741bc46eb" /><Relationship Type="http://schemas.openxmlformats.org/officeDocument/2006/relationships/notesSlide" Target="/ppt/notesSlides/notesSlide5.xml" Id="R74f8cd8899a247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ee957ed96a4009" /><Relationship Type="http://schemas.openxmlformats.org/officeDocument/2006/relationships/notesSlide" Target="/ppt/notesSlides/notesSlide6.xml" Id="R75c3dfb4e7b44b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cef0ea5abc4a64" /><Relationship Type="http://schemas.openxmlformats.org/officeDocument/2006/relationships/notesSlide" Target="/ppt/notesSlides/notesSlide7.xml" Id="Ref92ef5a5cbe42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63733c446f4649" /><Relationship Type="http://schemas.openxmlformats.org/officeDocument/2006/relationships/notesSlide" Target="/ppt/notesSlides/notesSlide8.xml" Id="R1ec80136ec4b4b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395121ba1141d2" /><Relationship Type="http://schemas.openxmlformats.org/officeDocument/2006/relationships/notesSlide" Target="/ppt/notesSlides/notesSlide9.xml" Id="R4e3b8985588c41d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4e11c790cc4243" /><Relationship Type="http://schemas.openxmlformats.org/officeDocument/2006/relationships/notesSlide" Target="/ppt/notesSlides/notesSlide10.xml" Id="Rbdd62f66ecb341c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fbe82e6d46454b" /><Relationship Type="http://schemas.openxmlformats.org/officeDocument/2006/relationships/notesSlide" Target="/ppt/notesSlides/notesSlide11.xml" Id="Rf96abef3ddc942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92057f300046b6" /><Relationship Type="http://schemas.openxmlformats.org/officeDocument/2006/relationships/notesSlide" Target="/ppt/notesSlides/notesSlide12.xml" Id="Recabe8d2fe1d41a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956b8cea274e48" /><Relationship Type="http://schemas.openxmlformats.org/officeDocument/2006/relationships/notesSlide" Target="/ppt/notesSlides/notesSlide13.xml" Id="R95c135b0a8f543c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daee9f5e59497c" /><Relationship Type="http://schemas.openxmlformats.org/officeDocument/2006/relationships/notesSlide" Target="/ppt/notesSlides/notesSlide14.xml" Id="R76a57a88869041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2E28A34C-FBAC-4592-932E-8729529B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FAFAF6"/>
                </a:solidFill>
                <a:latin typeface="DejaVu Sans"/>
                <a:ea typeface="DejaVu Sans"/>
                <a:cs typeface="DejaVu Sans"/>
              </a:defRPr>
            </a:pPr>
            <a:r>
              <a:rPr sz="7200" b="1">
                <a:solidFill>
                  <a:srgbClr val="FAFAF6"/>
                </a:solidFill>
                <a:latin typeface="DejaVu Sans"/>
                <a:ea typeface="DejaVu Sans"/>
                <a:cs typeface="DejaVu Sans"/>
              </a:rPr>
              <a:t>MemeScript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4776CFF-0BBD-4D1F-90A5-21741B7B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10001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AFAF6"/>
                </a:solidFill>
                <a:latin typeface="DejaVu Sans"/>
                <a:ea typeface="DejaVu Sans"/>
                <a:cs typeface="DejaVu Sans"/>
              </a:defRPr>
            </a:pPr>
            <a:r>
              <a:rPr sz="3150" b="0">
                <a:solidFill>
                  <a:srgbClr val="FAFAF6"/>
                </a:solidFill>
                <a:latin typeface="DejaVu Sans"/>
                <a:ea typeface="DejaVu Sans"/>
                <a:cs typeface="DejaVu Sans"/>
              </a:rPr>
              <a:t>Uma linguagem de memes</a:t>
            </a:r>
          </a:p>
          <a:p xmlns:a="http://schemas.openxmlformats.org/drawingml/2006/main">
            <a:pPr>
              <a:defRPr sz="3150" b="0">
                <a:solidFill>
                  <a:srgbClr val="FAFAF6"/>
                </a:solidFill>
                <a:latin typeface="DejaVu Sans"/>
                <a:ea typeface="DejaVu Sans"/>
                <a:cs typeface="DejaVu Sans"/>
              </a:defRPr>
            </a:pPr>
            <a:r>
              <a:rPr sz="3150" b="0">
                <a:solidFill>
                  <a:srgbClr val="FAFAF6"/>
                </a:solidFill>
                <a:latin typeface="DejaVu Sans"/>
                <a:ea typeface="DejaVu Sans"/>
                <a:cs typeface="DejaVu Sans"/>
              </a:rPr>
              <a:t>com transpilação para Python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A59C88B-3867-461F-89A3-3C4DD7B8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1038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C8F169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700" b="0">
                <a:solidFill>
                  <a:srgbClr val="C8F169"/>
                </a:solidFill>
                <a:latin typeface="DejaVu Sans Mono"/>
                <a:ea typeface="DejaVu Sans Mono"/>
                <a:cs typeface="DejaVu Sans Mono"/>
              </a:rPr>
              <a:t>RECEBA energia = 67;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16FB702-0FAA-4C86-806D-BC1627CE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09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C5D1C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C5D1CD"/>
                </a:solidFill>
                <a:latin typeface="DejaVu Sans"/>
                <a:ea typeface="DejaVu Sans"/>
                <a:cs typeface="DejaVu Sans"/>
              </a:rPr>
              <a:t>Linguagens Formais e Compiladores</a:t>
            </a:r>
          </a:p>
          <a:p xmlns:a="http://schemas.openxmlformats.org/drawingml/2006/main">
            <a:pPr>
              <a:defRPr sz="1725" b="0">
                <a:solidFill>
                  <a:srgbClr val="C5D1C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C5D1CD"/>
                </a:solidFill>
                <a:latin typeface="DejaVu Sans"/>
                <a:ea typeface="DejaVu Sans"/>
                <a:cs typeface="DejaVu Sans"/>
              </a:rPr>
              <a:t>Grupo de Pedro Rockenbach Frosi</a:t>
            </a:r>
          </a:p>
        </p:txBody>
      </p:sp>
    </p:spTree>
    <p:extLst>
      <p:ext uri="{BB962C8B-B14F-4D97-AF65-F5344CB8AC3E}">
        <p14:creationId xmlns:p14="http://schemas.microsoft.com/office/powerpoint/2010/main" val="14693901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-0">
            <a:extLst xmlns:a="http://schemas.openxmlformats.org/drawingml/2006/main">
              <a:ext uri="{FF2B5EF4-FFF2-40B4-BE49-F238E27FC236}">
                <a16:creationId xmlns:a16="http://schemas.microsoft.com/office/drawing/2014/main" id="{48247C31-34F5-4AE3-916F-AF6D8AFB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Vocabulário da linguagem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10820400" cy="4686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29250"/>
                <a:gridCol w="5391150"/>
              </a:tblGrid>
              <a:tr h="5857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AFAF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Comando</a:t>
                      </a:r>
                    </a:p>
                  </a:txBody>
                  <a:tcPr marL="152400" marR="152400" marT="114300" marB="114300" anchor="ctr">
                    <a:solidFill>
                      <a:srgbClr val="17262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AFAF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Função</a:t>
                      </a:r>
                    </a:p>
                  </a:txBody>
                  <a:tcPr marL="152400" marR="152400" marT="114300" marB="114300" anchor="ctr">
                    <a:solidFill>
                      <a:srgbClr val="17262B"/>
                    </a:solidFill>
                  </a:tcPr>
                </a:tc>
              </a:tr>
              <a:tr h="5857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RECEBA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Atribuir um valor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5857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AMOSTRADINHO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Mostrar valores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</a:tr>
              <a:tr h="5857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QUERO_CAFE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Ler uma entrada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5857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E_VERDADE_ESSE_BILETE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Verificar uma condição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</a:tr>
              <a:tr h="5857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SO_QUE_NAO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Executar a alternativa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5857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BORA_BILL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Repetir enquanto a condição for verdadeira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</a:tr>
              <a:tr h="5857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DESCANSAR_NE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Interromper o laço mais próximo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40503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D659BFE4-A0C7-4CD9-BD2A-E3233587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Tipos e escopo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562100"/>
          <a:ext xmlns:a="http://schemas.openxmlformats.org/drawingml/2006/main" cx="108204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43500"/>
                <a:gridCol w="2476500"/>
                <a:gridCol w="3200400"/>
              </a:tblGrid>
              <a:tr h="6429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AFAF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Declaração</a:t>
                      </a:r>
                    </a:p>
                  </a:txBody>
                  <a:tcPr marL="152400" marR="152400" marT="114300" marB="114300" anchor="ctr">
                    <a:solidFill>
                      <a:srgbClr val="17262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AFAF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Tipo</a:t>
                      </a:r>
                    </a:p>
                  </a:txBody>
                  <a:tcPr marL="152400" marR="152400" marT="114300" marB="114300" anchor="ctr">
                    <a:solidFill>
                      <a:srgbClr val="17262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AFAF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Exemplo</a:t>
                      </a:r>
                    </a:p>
                  </a:txBody>
                  <a:tcPr marL="152400" marR="152400" marT="114300" marB="114300" anchor="ctr">
                    <a:solidFill>
                      <a:srgbClr val="17262B"/>
                    </a:solidFill>
                  </a:tcPr>
                </a:tc>
              </a:tr>
              <a:tr h="6429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SABOR_INTEIRO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inteiro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67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SABOR_REAL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real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6.7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</a:tr>
              <a:tr h="6429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SABOR_TEXTO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texto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"Receba!"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1DCAEE7B-BCB4-40C3-9C78-98FECD8A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0820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Declarações no início do programa</a:t>
            </a:r>
          </a:p>
          <a:p xmlns:a="http://schemas.openxmlformats.org/drawingml/2006/main">
            <a:pPr>
              <a:defRPr sz="255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Um único escopo global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C19AD04F-4108-4F4D-AAA2-5472B1E7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Inteiro pode virar real. A divisão sempre produz real.</a:t>
            </a:r>
          </a:p>
        </p:txBody>
      </p:sp>
    </p:spTree>
    <p:extLst>
      <p:ext uri="{BB962C8B-B14F-4D97-AF65-F5344CB8AC3E}">
        <p14:creationId xmlns:p14="http://schemas.microsoft.com/office/powerpoint/2010/main" val="6007081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B7407F27-7ED2-4E57-9FDC-9349D754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Etapas do transpilador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8ABB32F-392E-4115-A6D0-7456C560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01  Léxico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A56D1C3-F56E-48B7-9CB4-5A985BB6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657350"/>
            <a:ext cx="6496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Texto reconhecido como tokens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46D9C56-B06F-4653-87C5-89FA3FA0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02  Parser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034E12E-C374-4C60-8869-BF9B30E2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762250"/>
            <a:ext cx="6496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Estrutura validada e AST construída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4954099-FBAC-4980-92EE-299A6E65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03  Semântica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5DCF26A3-C5FD-4E8A-B8C5-444B5DD0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867150"/>
            <a:ext cx="6496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Nomes e tipos verificados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B0C30CD9-25D2-4BC0-B2DF-A8B614F6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04  Geração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F8685A14-CA23-4C68-A68E-835096CF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972050"/>
            <a:ext cx="6496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AST traduzida para Python</a:t>
            </a:r>
          </a:p>
        </p:txBody>
      </p:sp>
    </p:spTree>
    <p:extLst>
      <p:ext uri="{BB962C8B-B14F-4D97-AF65-F5344CB8AC3E}">
        <p14:creationId xmlns:p14="http://schemas.microsoft.com/office/powerpoint/2010/main" val="10927391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94C81ECB-ED06-410D-B53C-7D3FE22A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Análise léxica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26DB510-EEE2-4C75-BF4C-DD05AD10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550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RECEBA energia = 2 + 3 * 4;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85800" y="2381250"/>
          <a:ext xmlns:a="http://schemas.openxmlformats.org/drawingml/2006/main" cx="108204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334000"/>
                <a:gridCol w="5486400"/>
              </a:tblGrid>
              <a:tr h="55626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AFAF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Categoria</a:t>
                      </a:r>
                    </a:p>
                  </a:txBody>
                  <a:tcPr marL="152400" marR="152400" marT="114300" marB="114300" anchor="ctr">
                    <a:solidFill>
                      <a:srgbClr val="17262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AFAF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Lexema de exemplo</a:t>
                      </a:r>
                    </a:p>
                  </a:txBody>
                  <a:tcPr marL="152400" marR="152400" marT="114300" marB="114300" anchor="ctr">
                    <a:solidFill>
                      <a:srgbClr val="17262B"/>
                    </a:solidFill>
                  </a:tcPr>
                </a:tc>
              </a:tr>
              <a:tr h="55626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Reservada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RECEBA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Identificador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energia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</a:tr>
              <a:tr h="55626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Literal inteiro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Operador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+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1473F026-7721-462E-97BC-8524191E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Maior casamento reconhece == como um único token</a:t>
            </a:r>
          </a:p>
        </p:txBody>
      </p:sp>
    </p:spTree>
    <p:extLst>
      <p:ext uri="{BB962C8B-B14F-4D97-AF65-F5344CB8AC3E}">
        <p14:creationId xmlns:p14="http://schemas.microsoft.com/office/powerpoint/2010/main" val="4579033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-0">
            <a:extLst xmlns:a="http://schemas.openxmlformats.org/drawingml/2006/main">
              <a:ext uri="{FF2B5EF4-FFF2-40B4-BE49-F238E27FC236}">
                <a16:creationId xmlns:a16="http://schemas.microsoft.com/office/drawing/2014/main" id="{0C0F4FD9-7E42-4902-9757-B6955A8F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Gramática e blocos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098BD0F-B7D8-48E5-861A-02FDAC8A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331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program = "ACORDA_PEDRINHO",</a:t>
            </a:r>
          </a:p>
          <a:p xmlns:a="http://schemas.openxmlformats.org/drawingml/2006/main">
            <a:pPr>
              <a:def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          { declaration },</a:t>
            </a:r>
          </a:p>
          <a:p xmlns:a="http://schemas.openxmlformats.org/drawingml/2006/main">
            <a:pPr>
              <a:def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          { statement }, "ACABOU" 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block = { statement } 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while_stmt = "BORA_BILL",</a:t>
            </a:r>
          </a:p>
          <a:p xmlns:a="http://schemas.openxmlformats.org/drawingml/2006/main">
            <a:pPr>
              <a:def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             "(", expression, ")",</a:t>
            </a:r>
          </a:p>
          <a:p xmlns:a="http://schemas.openxmlformats.org/drawingml/2006/main">
            <a:pPr>
              <a:def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             block, "ATA" ;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617EC13-8376-409A-99D0-E01885EC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ATA fecha o bloco mais interno</a:t>
            </a:r>
          </a:p>
          <a:p xmlns:a="http://schemas.openxmlformats.org/drawingml/2006/main">
            <a:pPr>
              <a:defRPr sz="2400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A indentação serve para leitura</a:t>
            </a:r>
          </a:p>
        </p:txBody>
      </p:sp>
    </p:spTree>
    <p:extLst>
      <p:ext uri="{BB962C8B-B14F-4D97-AF65-F5344CB8AC3E}">
        <p14:creationId xmlns:p14="http://schemas.microsoft.com/office/powerpoint/2010/main" val="12784123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6BA68211-FB79-4D71-8923-0242F648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Precedência e AST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DA57797-EC6D-4DD5-8CBC-6AAAFDF3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450" b="1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2 + 3 * 4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017C4CDF-C450-43AB-9EC6-91188D00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485900"/>
            <a:ext cx="5200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450" b="1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(2 + 3) * 4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2092723-CE87-4236-8CD8-842D3AF8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52387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{</a:t>
            </a:r>
          </a:p>
          <a:p xmlns:a="http://schemas.openxmlformats.org/drawingml/2006/main">
            <a:pPr>
              <a:def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  "operator": "+",</a:t>
            </a:r>
          </a:p>
          <a:p xmlns:a="http://schemas.openxmlformats.org/drawingml/2006/main">
            <a:pPr>
              <a:def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  "left": 2,</a:t>
            </a:r>
          </a:p>
          <a:p xmlns:a="http://schemas.openxmlformats.org/drawingml/2006/main">
            <a:pPr>
              <a:def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  "right": { "operator": "*" }</a:t>
            </a:r>
          </a:p>
          <a:p xmlns:a="http://schemas.openxmlformats.org/drawingml/2006/main">
            <a:pPr>
              <a:def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C09B1C39-D55E-4AD2-A8DC-E81D7E4D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19375"/>
            <a:ext cx="52006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{</a:t>
            </a:r>
          </a:p>
          <a:p xmlns:a="http://schemas.openxmlformats.org/drawingml/2006/main">
            <a:pPr>
              <a:def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  "operator": "*",</a:t>
            </a:r>
          </a:p>
          <a:p xmlns:a="http://schemas.openxmlformats.org/drawingml/2006/main">
            <a:pPr>
              <a:def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  "left": { "operator": "+" },</a:t>
            </a:r>
          </a:p>
          <a:p xmlns:a="http://schemas.openxmlformats.org/drawingml/2006/main">
            <a:pPr>
              <a:def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  "right": 4</a:t>
            </a:r>
          </a:p>
          <a:p xmlns:a="http://schemas.openxmlformats.org/drawingml/2006/main">
            <a:pPr>
              <a:def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AB292BFA-7791-4395-B2B9-BF73C40D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381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57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F219F48-96C7-4841-9A99-A0A1F5FA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76850"/>
            <a:ext cx="381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57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629930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246C2F1F-C51E-46A3-8DA1-4B9C3DF6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Verificações semânticas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926383A-ED21-45D3-A100-B4F3BEEB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Tabela de símbolos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175EC23-CDB7-4D80-87E9-BBCEF0F6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48577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400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energia : inteiro</a:t>
            </a:r>
          </a:p>
          <a:p xmlns:a="http://schemas.openxmlformats.org/drawingml/2006/main">
            <a:pPr>
              <a:defRPr sz="2400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400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preco   : real</a:t>
            </a:r>
          </a:p>
          <a:p xmlns:a="http://schemas.openxmlformats.org/drawingml/2006/main">
            <a:pPr>
              <a:defRPr sz="2400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400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pedido  : texto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1288E9D-EB87-4F3B-845B-DAFAFE44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619250"/>
            <a:ext cx="52673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Uso antes da declaração</a:t>
            </a:r>
          </a:p>
          <a:p xmlns:a="http://schemas.openxmlformats.org/drawingml/2006/main">
            <a:pPr>
              <a:defRPr sz="2325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Declaração duplicada</a:t>
            </a:r>
          </a:p>
          <a:p xmlns:a="http://schemas.openxmlformats.org/drawingml/2006/main">
            <a:pPr>
              <a:defRPr sz="2325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Tipos incompatíveis</a:t>
            </a:r>
          </a:p>
          <a:p xmlns:a="http://schemas.openxmlformats.org/drawingml/2006/main">
            <a:pPr>
              <a:defRPr sz="2325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Break fora de um laço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224353F-DF8F-4B73-B852-D87D218C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550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RECEBA energia = "muitos";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A37E1723-659C-43E7-9ED3-6A83D3A8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Erro semântico: esperado inteiro, recebido texto</a:t>
            </a:r>
          </a:p>
        </p:txBody>
      </p:sp>
    </p:spTree>
    <p:extLst>
      <p:ext uri="{BB962C8B-B14F-4D97-AF65-F5344CB8AC3E}">
        <p14:creationId xmlns:p14="http://schemas.microsoft.com/office/powerpoint/2010/main" val="15981742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617A518A-606A-406C-8AB0-5F79F8D8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Geração de Python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53635FE-8C27-4CDB-A9B4-D17E856E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504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MemeScript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37D6892-3CDE-4B85-8FC1-EE3F2ED0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2673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Python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7CD9D0F8-4ACA-4FD7-977B-57F37DA7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90775"/>
            <a:ext cx="5143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00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SABOR_INTEIRO n = 67;</a:t>
            </a:r>
          </a:p>
          <a:p xmlns:a="http://schemas.openxmlformats.org/drawingml/2006/main">
            <a:pPr>
              <a:defRPr sz="2100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00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RECEBA n = n + 1;</a:t>
            </a:r>
          </a:p>
          <a:p xmlns:a="http://schemas.openxmlformats.org/drawingml/2006/main">
            <a:pPr>
              <a:defRPr sz="2100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00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AMOSTRADINHO(n);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7DCF46DB-17C9-4896-8248-2ED53408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390775"/>
            <a:ext cx="526732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02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ms_var_n = 67</a:t>
            </a:r>
          </a:p>
          <a:p xmlns:a="http://schemas.openxmlformats.org/drawingml/2006/main">
            <a:pPr>
              <a:defRPr sz="202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02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ms_var_n = (ms_var_n + 1)</a:t>
            </a:r>
          </a:p>
          <a:p xmlns:a="http://schemas.openxmlformats.org/drawingml/2006/main">
            <a:pPr>
              <a:defRPr sz="202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02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print(ms_var_n)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0909D67-3FD9-4323-8B23-AE2E5CB9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14925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Parênteses preservam o agrupamento da AST</a:t>
            </a:r>
          </a:p>
          <a:p xmlns:a="http://schemas.openxmlformats.org/drawingml/2006/main">
            <a:pPr>
              <a:def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O prefixo ms_var_ evita colisões no destino</a:t>
            </a:r>
          </a:p>
        </p:txBody>
      </p:sp>
    </p:spTree>
    <p:extLst>
      <p:ext uri="{BB962C8B-B14F-4D97-AF65-F5344CB8AC3E}">
        <p14:creationId xmlns:p14="http://schemas.microsoft.com/office/powerpoint/2010/main" val="4579498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72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E8482487-7A9A-4B3D-8871-1015B521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AFAF6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AFAF6"/>
                </a:solidFill>
                <a:latin typeface="DejaVu Sans"/>
                <a:ea typeface="DejaVu Sans"/>
                <a:cs typeface="DejaVu Sans"/>
              </a:rPr>
              <a:t>Programa de demonstração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37BC410-7FA0-408A-A114-9425F052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AFAF6"/>
                </a:solidFill>
                <a:latin typeface="DejaVu Sans"/>
                <a:ea typeface="DejaVu Sans"/>
                <a:cs typeface="DejaVu Sans"/>
              </a:defRPr>
            </a:pPr>
            <a:r>
              <a:rPr sz="2850" b="0">
                <a:solidFill>
                  <a:srgbClr val="FAFAF6"/>
                </a:solidFill>
                <a:latin typeface="DejaVu Sans"/>
                <a:ea typeface="DejaVu Sans"/>
                <a:cs typeface="DejaVu Sans"/>
              </a:rPr>
              <a:t>Entrada: limite de 10 cafés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A8E55CB-65ED-4F0E-AC26-7E0D88F5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C8F169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600" b="1">
                <a:solidFill>
                  <a:srgbClr val="C8F169"/>
                </a:solidFill>
                <a:latin typeface="DejaVu Sans Mono"/>
                <a:ea typeface="DejaVu Sans Mono"/>
                <a:cs typeface="DejaVu Sans Mono"/>
              </a:rPr>
              <a:t>2 + 3 * 4 = 14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14198E7-650F-4CBA-9ABD-069CA6D1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08204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AFAF6"/>
                </a:solidFill>
                <a:latin typeface="DejaVu Sans"/>
                <a:ea typeface="DejaVu Sans"/>
                <a:cs typeface="DejaVu Sans"/>
              </a:defRPr>
            </a:pPr>
            <a:r>
              <a:rPr sz="3525" b="1">
                <a:solidFill>
                  <a:srgbClr val="FAFAF6"/>
                </a:solidFill>
                <a:latin typeface="DejaVu Sans"/>
                <a:ea typeface="DejaVu Sans"/>
                <a:cs typeface="DejaVu Sans"/>
              </a:rPr>
              <a:t>5 cafés</a:t>
            </a:r>
          </a:p>
          <a:p xmlns:a="http://schemas.openxmlformats.org/drawingml/2006/main">
            <a:pPr>
              <a:defRPr sz="3525" b="1">
                <a:solidFill>
                  <a:srgbClr val="FAFAF6"/>
                </a:solidFill>
                <a:latin typeface="DejaVu Sans"/>
                <a:ea typeface="DejaVu Sans"/>
                <a:cs typeface="DejaVu Sans"/>
              </a:defRPr>
            </a:pPr>
            <a:r>
              <a:rPr sz="3525" b="1">
                <a:solidFill>
                  <a:srgbClr val="FAFAF6"/>
                </a:solidFill>
                <a:latin typeface="DejaVu Sans"/>
                <a:ea typeface="DejaVu Sans"/>
                <a:cs typeface="DejaVu Sans"/>
              </a:rPr>
              <a:t>70 de energia</a:t>
            </a:r>
          </a:p>
          <a:p xmlns:a="http://schemas.openxmlformats.org/drawingml/2006/main">
            <a:pPr>
              <a:defRPr sz="3525" b="1">
                <a:solidFill>
                  <a:srgbClr val="FAFAF6"/>
                </a:solidFill>
                <a:latin typeface="DejaVu Sans"/>
                <a:ea typeface="DejaVu Sans"/>
                <a:cs typeface="DejaVu Sans"/>
              </a:defRPr>
            </a:pPr>
            <a:r>
              <a:rPr sz="3525" b="1">
                <a:solidFill>
                  <a:srgbClr val="FAFAF6"/>
                </a:solidFill>
                <a:latin typeface="DejaVu Sans"/>
                <a:ea typeface="DejaVu Sans"/>
                <a:cs typeface="DejaVu Sans"/>
              </a:rPr>
              <a:t>22.5 de gasto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1D72174-4424-41EF-9D63-D974761A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5D1C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C5D1CD"/>
                </a:solidFill>
                <a:latin typeface="DejaVu Sans"/>
                <a:ea typeface="DejaVu Sans"/>
                <a:cs typeface="DejaVu Sans"/>
              </a:rPr>
              <a:t>DESCANSAR_NE encerra o laço ao atingir energia &gt;= 67</a:t>
            </a:r>
          </a:p>
        </p:txBody>
      </p:sp>
    </p:spTree>
    <p:extLst>
      <p:ext uri="{BB962C8B-B14F-4D97-AF65-F5344CB8AC3E}">
        <p14:creationId xmlns:p14="http://schemas.microsoft.com/office/powerpoint/2010/main" val="7975922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4269AFF6-E31B-4E97-AA47-C9EFD5AA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Demonstração ao vivo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EB2547E-D37D-4360-9460-054F0306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1  Inspeção da AST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F6ECA61-A7FC-4F6A-8D61-9638D3B8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python -m memescript exemplos/01_valido_basico.meme --check --ast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05937E3-1B5B-42EF-A4DA-B97C685C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2  Transpilação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E185F98-AF0F-4485-8907-62A18E81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python -m memescript exemplos/02_valido_completo.meme -o gerados/demo.py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DF8A80ED-E948-456E-8D70-A434CAC3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8632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3  Execução com entrada 10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D5140F50-EBE0-4715-8FB6-FB71A866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025" b="0">
                <a:solidFill>
                  <a:srgbClr val="455E65"/>
                </a:solidFill>
                <a:latin typeface="DejaVu Sans Mono"/>
                <a:ea typeface="DejaVu Sans Mono"/>
                <a:cs typeface="DejaVu Sans Mono"/>
              </a:rPr>
              <a:t>python gerados/demo.py</a:t>
            </a:r>
          </a:p>
        </p:txBody>
      </p:sp>
    </p:spTree>
    <p:extLst>
      <p:ext uri="{BB962C8B-B14F-4D97-AF65-F5344CB8AC3E}">
        <p14:creationId xmlns:p14="http://schemas.microsoft.com/office/powerpoint/2010/main" val="16571931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-0">
            <a:extLst xmlns:a="http://schemas.openxmlformats.org/drawingml/2006/main">
              <a:ext uri="{FF2B5EF4-FFF2-40B4-BE49-F238E27FC236}">
                <a16:creationId xmlns:a16="http://schemas.microsoft.com/office/drawing/2014/main" id="{3F27BA45-ADDB-4F65-82F8-93E373C6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Programas inválidos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108204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810125"/>
                <a:gridCol w="4010025"/>
              </a:tblGrid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AFAF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Categoria</a:t>
                      </a:r>
                    </a:p>
                  </a:txBody>
                  <a:tcPr marL="152400" marR="152400" marT="114300" marB="114300" anchor="ctr">
                    <a:solidFill>
                      <a:srgbClr val="17262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AFAF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Exemplo de fonte</a:t>
                      </a:r>
                    </a:p>
                  </a:txBody>
                  <a:tcPr marL="152400" marR="152400" marT="114300" marB="114300" anchor="ctr">
                    <a:solidFill>
                      <a:srgbClr val="17262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AFAF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Motivo</a:t>
                      </a:r>
                    </a:p>
                  </a:txBody>
                  <a:tcPr marL="152400" marR="152400" marT="114300" marB="114300" anchor="ctr">
                    <a:solidFill>
                      <a:srgbClr val="17262B"/>
                    </a:solidFill>
                  </a:tcPr>
                </a:tc>
              </a:tr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Léxico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numero @ 2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Símbolo inválido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Sintático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SABOR_INTEIRO n = ;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Expressão ausente</a:t>
                      </a:r>
                    </a:p>
                  </a:txBody>
                  <a:tcPr marL="152400" marR="152400" marT="114300" marB="114300" anchor="ctr">
                    <a:solidFill>
                      <a:srgbClr val="EEF2EC"/>
                    </a:solidFill>
                  </a:tcPr>
                </a:tc>
              </a:tr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Semântico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RECEBA n = 67;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6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Variável não declarada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1C015E78-BE28-466B-B5CF-A6A87A75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Cada diagnóstico indica linha e coluna</a:t>
            </a:r>
          </a:p>
          <a:p xmlns:a="http://schemas.openxmlformats.org/drawingml/2006/main">
            <a:pPr>
              <a:defRPr sz="2175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Um erro interrompe a compilação antes da gravação</a:t>
            </a:r>
          </a:p>
        </p:txBody>
      </p:sp>
    </p:spTree>
    <p:extLst>
      <p:ext uri="{BB962C8B-B14F-4D97-AF65-F5344CB8AC3E}">
        <p14:creationId xmlns:p14="http://schemas.microsoft.com/office/powerpoint/2010/main" val="10880801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A588C8AC-EA86-40FC-B09C-A4262E20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Testes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D9A37F7-0734-486E-97B8-E3748E35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975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32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4717361-86B7-4CCF-A500-1F32A37A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47148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métodos de teste</a:t>
            </a:r>
          </a:p>
          <a:p xmlns:a="http://schemas.openxmlformats.org/drawingml/2006/main">
            <a:pPr>
              <a:defRPr sz="2400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executados com sucesso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195B7F3-8945-4084-BF7C-15B4CDEF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81175"/>
            <a:ext cx="5267325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Quatro programas válidos</a:t>
            </a:r>
          </a:p>
          <a:p xmlns:a="http://schemas.openxmlformats.org/drawingml/2006/main">
            <a:pPr>
              <a:def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Seis programas inválidos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Precedência, tipos, aninhamento</a:t>
            </a:r>
          </a:p>
          <a:p xmlns:a="http://schemas.openxmlformats.org/drawingml/2006/main">
            <a:pPr>
              <a:def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e diagnósticos da interface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7FF9B6F-68F3-4BE1-A1CB-F34BF206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17262B"/>
                </a:solidFill>
                <a:latin typeface="DejaVu Sans Mono"/>
                <a:ea typeface="DejaVu Sans Mono"/>
                <a:cs typeface="DejaVu Sans Mono"/>
              </a:rPr>
              <a:t>python -m unittest discover -s testes -v</a:t>
            </a:r>
          </a:p>
        </p:txBody>
      </p:sp>
    </p:spTree>
    <p:extLst>
      <p:ext uri="{BB962C8B-B14F-4D97-AF65-F5344CB8AC3E}">
        <p14:creationId xmlns:p14="http://schemas.microsoft.com/office/powerpoint/2010/main" val="185998504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EAEEEE76-E259-4DDD-8931-C3AFF8C1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Decisões e limites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B86EEE6-6CC4-40A7-A5A7-ACEEB724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Vocabulário que sugere a operação</a:t>
            </a:r>
          </a:p>
          <a:p xmlns:a="http://schemas.openxmlformats.org/drawingml/2006/main">
            <a:pPr>
              <a:defRPr sz="255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Tipos explícitos e escopo global</a:t>
            </a:r>
          </a:p>
          <a:p xmlns:a="http://schemas.openxmlformats.org/drawingml/2006/main">
            <a:pPr>
              <a:defRPr sz="2550" b="1">
                <a:solidFill>
                  <a:srgbClr val="17262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262B"/>
                </a:solidFill>
                <a:latin typeface="DejaVu Sans"/>
                <a:ea typeface="DejaVu Sans"/>
                <a:cs typeface="DejaVu Sans"/>
              </a:rPr>
              <a:t>Blocos fechados e geração por AST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BDF3A23-6302-4B04-AE37-F5BB0B58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Python como destino, com verificação estática na MemeScript</a:t>
            </a:r>
          </a:p>
          <a:p xmlns:a="http://schemas.openxmlformats.org/drawingml/2006/main">
            <a:pPr>
              <a:defRPr sz="2025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Sem funções, vetores ou operadores lógicos compostos</a:t>
            </a:r>
          </a:p>
          <a:p xmlns:a="http://schemas.openxmlformats.org/drawingml/2006/main">
            <a:pPr>
              <a:defRPr sz="2025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Erros de entrada e divisão por zero ocorrem na execução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D97E2A8-1C64-410B-9526-8BD6D09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912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55E65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455E65"/>
                </a:solidFill>
                <a:latin typeface="DejaVu Sans"/>
                <a:ea typeface="DejaVu Sans"/>
                <a:cs typeface="DejaVu Sans"/>
              </a:rPr>
              <a:t>Esta versão contou com assistência de IA na elaboração</a:t>
            </a:r>
          </a:p>
        </p:txBody>
      </p:sp>
    </p:spTree>
    <p:extLst>
      <p:ext uri="{BB962C8B-B14F-4D97-AF65-F5344CB8AC3E}">
        <p14:creationId xmlns:p14="http://schemas.microsoft.com/office/powerpoint/2010/main" val="5865897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2026-10-06T22:33:28.1870000Z</dcterms:created>
  <dcterms:modified xsi:type="dcterms:W3CDTF">2026-10-06T22:33:28.1870000Z</dcterms:modified>
</coreProperties>
</file>